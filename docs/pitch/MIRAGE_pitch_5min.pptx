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 [0:00–0:15] This AI hacker just stole 400 patient records. (pause) All of them are fake. And it told us who sent it. We're Team 7, and this is MIRAGE.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 [0:15–0:50] Attackers no longer need to encrypt to get paid. In more than three out of four ransomware attacks, they steal data first, and no backup can bring it back. Healthcare is hit hardest: in 2023, the health sector reported 309 significant cyber incidents in the EU, more than any other critical sector. Clinics hold the data attackers want most. And attackers are becoming AI agents. In a 2025 campaign, an AI did 80 to 90% of the work, at several actions per second. By the time an analyst reads the first alert, the files are gone. So we asked: what if whatever they steal is worthless? Thomas.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[0:50–1:25] Before any attack, our AI reads the clinic's file server and finds the crown jewels: patient records, contracts, API keys. For each one, it writes a fake twin: same name, same format, invented content. Then plain code checks every fake: if a single real value slipped in, the fake is rejected. Each fake carries a unique beacon, like an API key that exists nowhere else. And we hide a few traps: files no employee ever needs, like a passwords backup. Then MIRAGE waits. Leon.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LEON · [1:25–1:45] On the server, a small guard watches the traps. No AI inside: the critical second must be predictable. When a trap opens, it moves the real files into a locked vault and puts the fakes in their place. It logs every command, and if anyone kills it, the console raises an alarm. Gaia built the attacker. Let's watch it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GAIA · [1:45–1:55, before the live demo; use it instead of the demo if the live run fails] This is the analyst's console after a real run of our AI attacker. No real files lost: the agent took one file, and it was a fake. The guard swapped three files in 2.7 milliseconds. The agent followed our note and made four claims; we checked each against the logs, and its claim to be authorized is contradicted. The summary and the NIS2 warning are AI drafts, not sent until the analyst approves. Now let's watch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GAIA · [3:05–3:30] We tested the logic on four scenarios: an AI agent, a guided AI, a script and a human. All four were detected and labelled correctly. Those are hand-written test sequences, not real attacks, and we say so. What we measured live: the larger local model confessed its mission 7 times out of 10, the smaller one 2 out of 10. Measuring detection and false alarms at scale is the first thing we'd do in a pilot. Thomas. — THOMAS · [3:30–3:50] A confession can lie, so each claim is checked against the logs: confirmed, unverified or contradicted. Claim an authorized pentest while using a stolen password, and the logs contradict it. Our trap note is prompt injection, ATLAS AML.T0051, turned against the attacker. And the AI-drafted NIS2 early warning stays a draft until a human approves it. Leon.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LEON · [3:50–4:20] The swap is the only automatic action, and it deletes nothing. The intruder label triggers nothing, so a wrong label costs nothing. Everything else waits for the analyst: Contain the account, Keep watching the intruder in the decoys, Dismiss a false alarm, or Restore the real files in one click. Our honest limits: files read before a trap is touched are exposed, and we flag them as critical. A careful AI that never opens a trap is not caught by the swap. 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 [4:20–5:00] Deception is a 2.7 billion dollar market, and its pioneers were bought by SentinelOne, Proofpoint and Zscaler. They all detect intruders. None of those we reviewed protects the real files. Our customers are clinics and the medical sector: private clinics, medical labs and imaging centres. Their breaches are the most expensive of any sector, their patient data sits on shared drives, and NIS2 now covers them. We sell directly and through the providers that already run their SOC. Next: pilots with two or three clinics, and cloud storage like SharePoint and S3. We're Ana, Thomas, Leon and Gaia. Whoever breaks in steals only fakes. And if it's an AI, it tells us who sent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894060"/>
          </a:xfrm>
          <a:prstGeom prst="rect">
            <a:avLst/>
          </a:prstGeom>
          <a:noFill/>
          <a:ln/>
        </p:spPr>
        <p:txBody>
          <a:bodyPr wrap="square" lIns="0" tIns="0" rIns="0" bIns="0" rtlCol="0" anchor="t"/>
          <a:lstStyle>
            <a:lvl1pPr algn="l" indent="0" marL="0">
              <a:lnSpc>
                <a:spcPct val="115000"/>
              </a:lnSpc>
              <a:buNone/>
              <a:defRPr lang="en-US" sz="3600" dirty="0">
                <a:solidFill>
                  <a:srgbClr val="14201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78980"/>
            <a:ext cx="10566400" cy="3566220"/>
          </a:xfrm>
          <a:prstGeom prst="rect">
            <a:avLst/>
          </a:prstGeom>
          <a:noFill/>
          <a:ln/>
        </p:spPr>
        <p:txBody>
          <a:bodyPr wrap="square" lIns="0" tIns="0" rIns="0" bIns="0" rtlCol="0" anchor="t"/>
          <a:lstStyle>
            <a:lvl1pPr algn="l" indent="0" marL="0">
              <a:lnSpc>
                <a:spcPct val="140000"/>
              </a:lnSpc>
              <a:buNone/>
              <a:defRPr lang="en-US" sz="1600" dirty="0">
                <a:solidFill>
                  <a:srgbClr val="1420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894060"/>
          </a:xfrm>
          <a:prstGeom prst="rect">
            <a:avLst/>
          </a:prstGeom>
          <a:noFill/>
          <a:ln/>
        </p:spPr>
        <p:txBody>
          <a:bodyPr wrap="square" lIns="0" tIns="0" rIns="0" bIns="0" rtlCol="0" anchor="t"/>
          <a:lstStyle>
            <a:lvl1pPr algn="l" indent="0" marL="0">
              <a:lnSpc>
                <a:spcPct val="115000"/>
              </a:lnSpc>
              <a:buNone/>
              <a:defRPr lang="en-US" sz="3600" dirty="0">
                <a:solidFill>
                  <a:srgbClr val="14201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78980"/>
            <a:ext cx="10566400" cy="3566220"/>
          </a:xfrm>
          <a:prstGeom prst="rect">
            <a:avLst/>
          </a:prstGeom>
          <a:noFill/>
          <a:ln/>
        </p:spPr>
        <p:txBody>
          <a:bodyPr wrap="square" lIns="0" tIns="0" rIns="0" bIns="0" rtlCol="0" anchor="t"/>
          <a:lstStyle>
            <a:lvl1pPr algn="l" indent="0" marL="0">
              <a:lnSpc>
                <a:spcPct val="140000"/>
              </a:lnSpc>
              <a:buNone/>
              <a:defRPr lang="en-US" sz="1600" dirty="0">
                <a:solidFill>
                  <a:srgbClr val="1420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800" y="185296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BE0A0"/>
                </a:solidFill>
                <a:latin typeface="JetBrains Mono" pitchFamily="49" charset="0"/>
                <a:ea typeface="JetBrains Mono" pitchFamily="49" charset="-122"/>
                <a:cs typeface="JetBrains Mono" pitchFamily="49" charset="-120"/>
              </a:rPr>
              <a:t>SECURE HORIZONS 2026 · TRACK 02</a:t>
            </a:r>
            <a:endParaRPr lang="en-US" sz="1200" dirty="0"/>
          </a:p>
        </p:txBody>
      </p:sp>
      <p:sp>
        <p:nvSpPr>
          <p:cNvPr id="3" name="Text 1"/>
          <p:cNvSpPr/>
          <p:nvPr>
            <p:ph type="title"/>
          </p:nvPr>
        </p:nvSpPr>
        <p:spPr>
          <a:xfrm>
            <a:off x="812800" y="23710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5F0"/>
                </a:solidFill>
                <a:latin typeface="Space Grotesk" pitchFamily="34" charset="0"/>
                <a:ea typeface="Space Grotesk" pitchFamily="34" charset="-122"/>
                <a:cs typeface="Space Grotesk" pitchFamily="34" charset="-120"/>
              </a:rPr>
              <a:t>This AI hacker just stole 400 patient records.</a:t>
            </a:r>
            <a:endParaRPr lang="en-US" sz="6000" dirty="0"/>
          </a:p>
        </p:txBody>
      </p:sp>
      <p:sp>
        <p:nvSpPr>
          <p:cNvPr id="4" name="Text 2"/>
          <p:cNvSpPr/>
          <p:nvPr/>
        </p:nvSpPr>
        <p:spPr>
          <a:xfrm>
            <a:off x="812800" y="4276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7BE0A0"/>
                </a:solidFill>
                <a:latin typeface="Space Grotesk" pitchFamily="34" charset="0"/>
                <a:ea typeface="Space Grotesk" pitchFamily="34" charset="-122"/>
                <a:cs typeface="Space Grotesk" pitchFamily="34" charset="-120"/>
              </a:rPr>
              <a:t>All of them are fake. And it told us who sent it.</a:t>
            </a:r>
            <a:endParaRPr lang="en-US" sz="3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MIRAGE · Team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381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Attackers steal patient data before they encrypt, and AI makes it fast.</a:t>
            </a:r>
            <a:endParaRPr lang="en-US" sz="3600" dirty="0"/>
          </a:p>
        </p:txBody>
      </p:sp>
      <p:sp>
        <p:nvSpPr>
          <p:cNvPr id="4" name="Shape 2"/>
          <p:cNvSpPr/>
          <p:nvPr/>
        </p:nvSpPr>
        <p:spPr>
          <a:xfrm>
            <a:off x="815975" y="2746276"/>
            <a:ext cx="3380284" cy="2078881"/>
          </a:xfrm>
          <a:prstGeom prst="roundRect">
            <a:avLst>
              <a:gd name="adj" fmla="val 4735"/>
            </a:avLst>
          </a:prstGeom>
          <a:solidFill>
            <a:srgbClr val="FFFFFF"/>
          </a:solidFill>
          <a:ln w="6350">
            <a:solidFill>
              <a:srgbClr val="D6DED8"/>
            </a:solidFill>
            <a:prstDash val="solid"/>
          </a:ln>
        </p:spPr>
      </p:sp>
      <p:sp>
        <p:nvSpPr>
          <p:cNvPr id="5" name="Text 3"/>
          <p:cNvSpPr/>
          <p:nvPr/>
        </p:nvSpPr>
        <p:spPr>
          <a:xfrm>
            <a:off x="1073150" y="3003451"/>
            <a:ext cx="29519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76%+</a:t>
            </a:r>
            <a:endParaRPr lang="en-US" sz="3600" dirty="0"/>
          </a:p>
        </p:txBody>
      </p:sp>
      <p:sp>
        <p:nvSpPr>
          <p:cNvPr id="6" name="Text 4"/>
          <p:cNvSpPr/>
          <p:nvPr/>
        </p:nvSpPr>
        <p:spPr>
          <a:xfrm>
            <a:off x="1073150" y="3745111"/>
            <a:ext cx="2951912"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ransomware attacks steal data. Backups can't undo a leak.</a:t>
            </a:r>
            <a:endParaRPr lang="en-US" sz="1600" dirty="0"/>
          </a:p>
        </p:txBody>
      </p:sp>
      <p:sp>
        <p:nvSpPr>
          <p:cNvPr id="7" name="Shape 5"/>
          <p:cNvSpPr/>
          <p:nvPr/>
        </p:nvSpPr>
        <p:spPr>
          <a:xfrm>
            <a:off x="4405809" y="2746276"/>
            <a:ext cx="3380333" cy="2078881"/>
          </a:xfrm>
          <a:prstGeom prst="roundRect">
            <a:avLst>
              <a:gd name="adj" fmla="val 4735"/>
            </a:avLst>
          </a:prstGeom>
          <a:solidFill>
            <a:srgbClr val="FFFFFF"/>
          </a:solidFill>
          <a:ln w="6350">
            <a:solidFill>
              <a:srgbClr val="D6DED8"/>
            </a:solidFill>
            <a:prstDash val="solid"/>
          </a:ln>
        </p:spPr>
      </p:sp>
      <p:sp>
        <p:nvSpPr>
          <p:cNvPr id="8" name="Text 6"/>
          <p:cNvSpPr/>
          <p:nvPr/>
        </p:nvSpPr>
        <p:spPr>
          <a:xfrm>
            <a:off x="4662984" y="3003451"/>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309</a:t>
            </a:r>
            <a:endParaRPr lang="en-US" sz="3600" dirty="0"/>
          </a:p>
        </p:txBody>
      </p:sp>
      <p:sp>
        <p:nvSpPr>
          <p:cNvPr id="9" name="Text 7"/>
          <p:cNvSpPr/>
          <p:nvPr/>
        </p:nvSpPr>
        <p:spPr>
          <a:xfrm>
            <a:off x="4662984" y="374511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significant cyber incidents in EU healthcare in 2023: more than any other critical sector.</a:t>
            </a:r>
            <a:endParaRPr lang="en-US" sz="1600" dirty="0"/>
          </a:p>
        </p:txBody>
      </p:sp>
      <p:sp>
        <p:nvSpPr>
          <p:cNvPr id="10" name="Shape 8"/>
          <p:cNvSpPr/>
          <p:nvPr/>
        </p:nvSpPr>
        <p:spPr>
          <a:xfrm>
            <a:off x="7995692" y="2746276"/>
            <a:ext cx="3380333" cy="2078881"/>
          </a:xfrm>
          <a:prstGeom prst="roundRect">
            <a:avLst>
              <a:gd name="adj" fmla="val 4735"/>
            </a:avLst>
          </a:prstGeom>
          <a:solidFill>
            <a:srgbClr val="FFFFFF"/>
          </a:solidFill>
          <a:ln w="6350">
            <a:solidFill>
              <a:srgbClr val="D6DED8"/>
            </a:solidFill>
            <a:prstDash val="solid"/>
          </a:ln>
        </p:spPr>
      </p:sp>
      <p:sp>
        <p:nvSpPr>
          <p:cNvPr id="11" name="Text 9"/>
          <p:cNvSpPr/>
          <p:nvPr/>
        </p:nvSpPr>
        <p:spPr>
          <a:xfrm>
            <a:off x="8252867" y="3003451"/>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80–90%</a:t>
            </a:r>
            <a:endParaRPr lang="en-US" sz="3600" dirty="0"/>
          </a:p>
        </p:txBody>
      </p:sp>
      <p:sp>
        <p:nvSpPr>
          <p:cNvPr id="12" name="Text 10"/>
          <p:cNvSpPr/>
          <p:nvPr/>
        </p:nvSpPr>
        <p:spPr>
          <a:xfrm>
            <a:off x="8252867" y="374511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a 2025 espionage campaign run by an AI agent, several actions per second.</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Coveware Q3 2025 · European Commission, health-sector cyber action plan (Jan 2025) · Anthropic, GTG-1002 report (Nov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THE SOLUTION</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MIRAGE: whoever breaks in steals only fakes.</a:t>
            </a:r>
            <a:endParaRPr lang="en-US" sz="3600" dirty="0"/>
          </a:p>
        </p:txBody>
      </p:sp>
      <p:sp>
        <p:nvSpPr>
          <p:cNvPr id="4" name="Shape 2"/>
          <p:cNvSpPr/>
          <p:nvPr/>
        </p:nvSpPr>
        <p:spPr>
          <a:xfrm>
            <a:off x="815975" y="2141786"/>
            <a:ext cx="1982440" cy="2088902"/>
          </a:xfrm>
          <a:prstGeom prst="roundRect">
            <a:avLst>
              <a:gd name="adj" fmla="val 4965"/>
            </a:avLst>
          </a:prstGeom>
          <a:solidFill>
            <a:srgbClr val="FFFFFF"/>
          </a:solidFill>
          <a:ln w="6350">
            <a:solidFill>
              <a:srgbClr val="D6DED8"/>
            </a:solidFill>
            <a:prstDash val="solid"/>
          </a:ln>
        </p:spPr>
      </p:sp>
      <p:sp>
        <p:nvSpPr>
          <p:cNvPr id="5" name="Text 3"/>
          <p:cNvSpPr/>
          <p:nvPr/>
        </p:nvSpPr>
        <p:spPr>
          <a:xfrm>
            <a:off x="1022350" y="2348161"/>
            <a:ext cx="16204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01 · before</a:t>
            </a:r>
            <a:endParaRPr lang="en-US" sz="1200" dirty="0"/>
          </a:p>
        </p:txBody>
      </p:sp>
      <p:sp>
        <p:nvSpPr>
          <p:cNvPr id="6" name="Text 4"/>
          <p:cNvSpPr/>
          <p:nvPr/>
        </p:nvSpPr>
        <p:spPr>
          <a:xfrm>
            <a:off x="1022350" y="2637681"/>
            <a:ext cx="16204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Prepare</a:t>
            </a:r>
            <a:endParaRPr lang="en-US" sz="1600" dirty="0"/>
          </a:p>
        </p:txBody>
      </p:sp>
      <p:sp>
        <p:nvSpPr>
          <p:cNvPr id="7" name="Text 5"/>
          <p:cNvSpPr/>
          <p:nvPr/>
        </p:nvSpPr>
        <p:spPr>
          <a:xfrm>
            <a:off x="1022350" y="2957711"/>
            <a:ext cx="162049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AI writes a fake twin of each crown-jewel file. Mines are placed.</a:t>
            </a:r>
            <a:endParaRPr lang="en-US" sz="1200" dirty="0"/>
          </a:p>
        </p:txBody>
      </p:sp>
      <p:sp>
        <p:nvSpPr>
          <p:cNvPr id="8" name="Shape 6"/>
          <p:cNvSpPr/>
          <p:nvPr/>
        </p:nvSpPr>
        <p:spPr>
          <a:xfrm>
            <a:off x="2957165" y="2141786"/>
            <a:ext cx="1982490" cy="2088902"/>
          </a:xfrm>
          <a:prstGeom prst="roundRect">
            <a:avLst>
              <a:gd name="adj" fmla="val 4965"/>
            </a:avLst>
          </a:prstGeom>
          <a:solidFill>
            <a:srgbClr val="FFFFFF"/>
          </a:solidFill>
          <a:ln w="6350">
            <a:solidFill>
              <a:srgbClr val="D6DED8"/>
            </a:solidFill>
            <a:prstDash val="solid"/>
          </a:ln>
        </p:spPr>
      </p:sp>
      <p:sp>
        <p:nvSpPr>
          <p:cNvPr id="9" name="Text 7"/>
          <p:cNvSpPr/>
          <p:nvPr/>
        </p:nvSpPr>
        <p:spPr>
          <a:xfrm>
            <a:off x="3163540" y="2348161"/>
            <a:ext cx="1620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02 · seconds</a:t>
            </a:r>
            <a:endParaRPr lang="en-US" sz="1200" dirty="0"/>
          </a:p>
        </p:txBody>
      </p:sp>
      <p:sp>
        <p:nvSpPr>
          <p:cNvPr id="10" name="Text 8"/>
          <p:cNvSpPr/>
          <p:nvPr/>
        </p:nvSpPr>
        <p:spPr>
          <a:xfrm>
            <a:off x="3163540" y="2637681"/>
            <a:ext cx="1620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Detect</a:t>
            </a:r>
            <a:endParaRPr lang="en-US" sz="1600" dirty="0"/>
          </a:p>
        </p:txBody>
      </p:sp>
      <p:sp>
        <p:nvSpPr>
          <p:cNvPr id="11" name="Text 9"/>
          <p:cNvSpPr/>
          <p:nvPr/>
        </p:nvSpPr>
        <p:spPr>
          <a:xfrm>
            <a:off x="3163540" y="2957711"/>
            <a:ext cx="16205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No employee opens a mine. Opening one means an intruder.</a:t>
            </a:r>
            <a:endParaRPr lang="en-US" sz="1200" dirty="0"/>
          </a:p>
        </p:txBody>
      </p:sp>
      <p:sp>
        <p:nvSpPr>
          <p:cNvPr id="12" name="Shape 10"/>
          <p:cNvSpPr/>
          <p:nvPr/>
        </p:nvSpPr>
        <p:spPr>
          <a:xfrm>
            <a:off x="5101580" y="2144961"/>
            <a:ext cx="1988790" cy="2082552"/>
          </a:xfrm>
          <a:prstGeom prst="roundRect">
            <a:avLst>
              <a:gd name="adj" fmla="val 4789"/>
            </a:avLst>
          </a:prstGeom>
          <a:solidFill>
            <a:srgbClr val="E3F5EA"/>
          </a:solidFill>
          <a:ln w="12700">
            <a:solidFill>
              <a:srgbClr val="1E7A4F"/>
            </a:solidFill>
            <a:prstDash val="solid"/>
          </a:ln>
        </p:spPr>
      </p:sp>
      <p:sp>
        <p:nvSpPr>
          <p:cNvPr id="13" name="Text 11"/>
          <p:cNvSpPr/>
          <p:nvPr/>
        </p:nvSpPr>
        <p:spPr>
          <a:xfrm>
            <a:off x="5311130" y="2354511"/>
            <a:ext cx="16204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03 · automatic</a:t>
            </a:r>
            <a:endParaRPr lang="en-US" sz="1200" dirty="0"/>
          </a:p>
        </p:txBody>
      </p:sp>
      <p:sp>
        <p:nvSpPr>
          <p:cNvPr id="14" name="Text 12"/>
          <p:cNvSpPr/>
          <p:nvPr/>
        </p:nvSpPr>
        <p:spPr>
          <a:xfrm>
            <a:off x="5311130" y="2644031"/>
            <a:ext cx="16204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Swap</a:t>
            </a:r>
            <a:endParaRPr lang="en-US" sz="1600" dirty="0"/>
          </a:p>
        </p:txBody>
      </p:sp>
      <p:sp>
        <p:nvSpPr>
          <p:cNvPr id="15" name="Text 13"/>
          <p:cNvSpPr/>
          <p:nvPr/>
        </p:nvSpPr>
        <p:spPr>
          <a:xfrm>
            <a:off x="5311130" y="2964061"/>
            <a:ext cx="162049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Real files go to a locked vault; fakes take their place. Reversible.</a:t>
            </a:r>
            <a:endParaRPr lang="en-US" sz="1200" dirty="0"/>
          </a:p>
        </p:txBody>
      </p:sp>
      <p:sp>
        <p:nvSpPr>
          <p:cNvPr id="16" name="Shape 14"/>
          <p:cNvSpPr/>
          <p:nvPr/>
        </p:nvSpPr>
        <p:spPr>
          <a:xfrm>
            <a:off x="7252295" y="2141786"/>
            <a:ext cx="1982490" cy="2088902"/>
          </a:xfrm>
          <a:prstGeom prst="roundRect">
            <a:avLst>
              <a:gd name="adj" fmla="val 4965"/>
            </a:avLst>
          </a:prstGeom>
          <a:solidFill>
            <a:srgbClr val="FFFFFF"/>
          </a:solidFill>
          <a:ln w="6350">
            <a:solidFill>
              <a:srgbClr val="D6DED8"/>
            </a:solidFill>
            <a:prstDash val="solid"/>
          </a:ln>
        </p:spPr>
      </p:sp>
      <p:sp>
        <p:nvSpPr>
          <p:cNvPr id="17" name="Text 15"/>
          <p:cNvSpPr/>
          <p:nvPr/>
        </p:nvSpPr>
        <p:spPr>
          <a:xfrm>
            <a:off x="7458670" y="2348161"/>
            <a:ext cx="1620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04 · bonus</a:t>
            </a:r>
            <a:endParaRPr lang="en-US" sz="1200" dirty="0"/>
          </a:p>
        </p:txBody>
      </p:sp>
      <p:sp>
        <p:nvSpPr>
          <p:cNvPr id="18" name="Text 16"/>
          <p:cNvSpPr/>
          <p:nvPr/>
        </p:nvSpPr>
        <p:spPr>
          <a:xfrm>
            <a:off x="7458670" y="2637681"/>
            <a:ext cx="1620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Identify</a:t>
            </a:r>
            <a:endParaRPr lang="en-US" sz="1600" dirty="0"/>
          </a:p>
        </p:txBody>
      </p:sp>
      <p:sp>
        <p:nvSpPr>
          <p:cNvPr id="19" name="Text 17"/>
          <p:cNvSpPr/>
          <p:nvPr/>
        </p:nvSpPr>
        <p:spPr>
          <a:xfrm>
            <a:off x="7458670" y="2957711"/>
            <a:ext cx="162054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An AI intruder follows the note in the mine and reveals its mission.</a:t>
            </a:r>
            <a:endParaRPr lang="en-US" sz="1200" dirty="0"/>
          </a:p>
        </p:txBody>
      </p:sp>
      <p:sp>
        <p:nvSpPr>
          <p:cNvPr id="20" name="Shape 18"/>
          <p:cNvSpPr/>
          <p:nvPr/>
        </p:nvSpPr>
        <p:spPr>
          <a:xfrm>
            <a:off x="9393535" y="2141786"/>
            <a:ext cx="1982490" cy="2088902"/>
          </a:xfrm>
          <a:prstGeom prst="roundRect">
            <a:avLst>
              <a:gd name="adj" fmla="val 4965"/>
            </a:avLst>
          </a:prstGeom>
          <a:solidFill>
            <a:srgbClr val="FFFFFF"/>
          </a:solidFill>
          <a:ln w="6350">
            <a:solidFill>
              <a:srgbClr val="D6DED8"/>
            </a:solidFill>
            <a:prstDash val="solid"/>
          </a:ln>
        </p:spPr>
      </p:sp>
      <p:sp>
        <p:nvSpPr>
          <p:cNvPr id="21" name="Text 19"/>
          <p:cNvSpPr/>
          <p:nvPr/>
        </p:nvSpPr>
        <p:spPr>
          <a:xfrm>
            <a:off x="9599910" y="2348161"/>
            <a:ext cx="1620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05 · human</a:t>
            </a:r>
            <a:endParaRPr lang="en-US" sz="1200" dirty="0"/>
          </a:p>
        </p:txBody>
      </p:sp>
      <p:sp>
        <p:nvSpPr>
          <p:cNvPr id="22" name="Text 20"/>
          <p:cNvSpPr/>
          <p:nvPr/>
        </p:nvSpPr>
        <p:spPr>
          <a:xfrm>
            <a:off x="9599910" y="2637681"/>
            <a:ext cx="1620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Decide</a:t>
            </a:r>
            <a:endParaRPr lang="en-US" sz="1600" dirty="0"/>
          </a:p>
        </p:txBody>
      </p:sp>
      <p:sp>
        <p:nvSpPr>
          <p:cNvPr id="23" name="Text 21"/>
          <p:cNvSpPr/>
          <p:nvPr/>
        </p:nvSpPr>
        <p:spPr>
          <a:xfrm>
            <a:off x="9599910" y="2957711"/>
            <a:ext cx="162054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One incident card. The analyst decides: Contain, Keep watching, Dismiss or Restore.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HOW IT IS BUILT</a:t>
            </a:r>
            <a:endParaRPr lang="en-US" sz="1200" dirty="0"/>
          </a:p>
        </p:txBody>
      </p:sp>
      <p:sp>
        <p:nvSpPr>
          <p:cNvPr id="3" name="Text 1"/>
          <p:cNvSpPr/>
          <p:nvPr>
            <p:ph type="title"/>
          </p:nvPr>
        </p:nvSpPr>
        <p:spPr>
          <a:xfrm>
            <a:off x="812800" y="12801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AI prepares in advance. Plain code acts in the critical second.</a:t>
            </a:r>
            <a:endParaRPr lang="en-US" sz="3600" dirty="0"/>
          </a:p>
        </p:txBody>
      </p:sp>
      <p:sp>
        <p:nvSpPr>
          <p:cNvPr id="4" name="Shape 2"/>
          <p:cNvSpPr/>
          <p:nvPr/>
        </p:nvSpPr>
        <p:spPr>
          <a:xfrm>
            <a:off x="815975" y="2543076"/>
            <a:ext cx="2517775" cy="2101602"/>
          </a:xfrm>
          <a:prstGeom prst="roundRect">
            <a:avLst>
              <a:gd name="adj" fmla="val 4683"/>
            </a:avLst>
          </a:prstGeom>
          <a:solidFill>
            <a:srgbClr val="FFFFFF"/>
          </a:solidFill>
          <a:ln w="6350">
            <a:solidFill>
              <a:srgbClr val="D6DED8"/>
            </a:solidFill>
            <a:prstDash val="solid"/>
          </a:ln>
        </p:spPr>
      </p:sp>
      <p:sp>
        <p:nvSpPr>
          <p:cNvPr id="5" name="Text 3"/>
          <p:cNvSpPr/>
          <p:nvPr/>
        </p:nvSpPr>
        <p:spPr>
          <a:xfrm>
            <a:off x="1022350" y="2749451"/>
            <a:ext cx="2168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Setup tool · runs once</a:t>
            </a:r>
            <a:endParaRPr lang="en-US" sz="1200" dirty="0"/>
          </a:p>
        </p:txBody>
      </p:sp>
      <p:sp>
        <p:nvSpPr>
          <p:cNvPr id="6" name="Text 4"/>
          <p:cNvSpPr/>
          <p:nvPr/>
        </p:nvSpPr>
        <p:spPr>
          <a:xfrm>
            <a:off x="1022350" y="3038971"/>
            <a:ext cx="21681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prepare</a:t>
            </a:r>
            <a:endParaRPr lang="en-US" sz="1600" dirty="0"/>
          </a:p>
        </p:txBody>
      </p:sp>
      <p:sp>
        <p:nvSpPr>
          <p:cNvPr id="7" name="Text 5"/>
          <p:cNvSpPr/>
          <p:nvPr/>
        </p:nvSpPr>
        <p:spPr>
          <a:xfrm>
            <a:off x="1022350" y="3359001"/>
            <a:ext cx="21681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AI labels files and forges fake twins with beacons. Code rejects any fake that leaks a real value. Places the mines.</a:t>
            </a:r>
            <a:endParaRPr lang="en-US" sz="1200" dirty="0"/>
          </a:p>
        </p:txBody>
      </p:sp>
      <p:sp>
        <p:nvSpPr>
          <p:cNvPr id="8" name="Shape 6"/>
          <p:cNvSpPr/>
          <p:nvPr/>
        </p:nvSpPr>
        <p:spPr>
          <a:xfrm>
            <a:off x="3495675" y="2546251"/>
            <a:ext cx="2524125" cy="2095252"/>
          </a:xfrm>
          <a:prstGeom prst="roundRect">
            <a:avLst>
              <a:gd name="adj" fmla="val 4546"/>
            </a:avLst>
          </a:prstGeom>
          <a:solidFill>
            <a:srgbClr val="E3F5EA"/>
          </a:solidFill>
          <a:ln w="12700">
            <a:solidFill>
              <a:srgbClr val="1E7A4F"/>
            </a:solidFill>
            <a:prstDash val="solid"/>
          </a:ln>
        </p:spPr>
      </p:sp>
      <p:sp>
        <p:nvSpPr>
          <p:cNvPr id="9" name="Text 7"/>
          <p:cNvSpPr/>
          <p:nvPr/>
        </p:nvSpPr>
        <p:spPr>
          <a:xfrm>
            <a:off x="3705225" y="2755801"/>
            <a:ext cx="21681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On the file server · no AI</a:t>
            </a:r>
            <a:endParaRPr lang="en-US" sz="1200" dirty="0"/>
          </a:p>
        </p:txBody>
      </p:sp>
      <p:sp>
        <p:nvSpPr>
          <p:cNvPr id="10" name="Text 8"/>
          <p:cNvSpPr/>
          <p:nvPr/>
        </p:nvSpPr>
        <p:spPr>
          <a:xfrm>
            <a:off x="3705225" y="3258641"/>
            <a:ext cx="21681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guard</a:t>
            </a:r>
            <a:endParaRPr lang="en-US" sz="1600" dirty="0"/>
          </a:p>
        </p:txBody>
      </p:sp>
      <p:sp>
        <p:nvSpPr>
          <p:cNvPr id="11" name="Text 9"/>
          <p:cNvSpPr/>
          <p:nvPr/>
        </p:nvSpPr>
        <p:spPr>
          <a:xfrm>
            <a:off x="3705225" y="3578671"/>
            <a:ext cx="21681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Watches the mines, runs the swap, logs every command. Carries out Contain and Restore.</a:t>
            </a:r>
            <a:endParaRPr lang="en-US" sz="1200" dirty="0"/>
          </a:p>
        </p:txBody>
      </p:sp>
      <p:sp>
        <p:nvSpPr>
          <p:cNvPr id="12" name="Shape 10"/>
          <p:cNvSpPr/>
          <p:nvPr/>
        </p:nvSpPr>
        <p:spPr>
          <a:xfrm>
            <a:off x="6181725" y="2543076"/>
            <a:ext cx="2517775" cy="2101602"/>
          </a:xfrm>
          <a:prstGeom prst="roundRect">
            <a:avLst>
              <a:gd name="adj" fmla="val 4683"/>
            </a:avLst>
          </a:prstGeom>
          <a:solidFill>
            <a:srgbClr val="FFFFFF"/>
          </a:solidFill>
          <a:ln w="6350">
            <a:solidFill>
              <a:srgbClr val="D6DED8"/>
            </a:solidFill>
            <a:prstDash val="solid"/>
          </a:ln>
        </p:spPr>
      </p:sp>
      <p:sp>
        <p:nvSpPr>
          <p:cNvPr id="13" name="Text 11"/>
          <p:cNvSpPr/>
          <p:nvPr/>
        </p:nvSpPr>
        <p:spPr>
          <a:xfrm>
            <a:off x="6388100" y="2749451"/>
            <a:ext cx="2168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Backend</a:t>
            </a:r>
            <a:endParaRPr lang="en-US" sz="1200" dirty="0"/>
          </a:p>
        </p:txBody>
      </p:sp>
      <p:sp>
        <p:nvSpPr>
          <p:cNvPr id="14" name="Text 12"/>
          <p:cNvSpPr/>
          <p:nvPr/>
        </p:nvSpPr>
        <p:spPr>
          <a:xfrm>
            <a:off x="6388100" y="3038971"/>
            <a:ext cx="21681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core</a:t>
            </a:r>
            <a:endParaRPr lang="en-US" sz="1600" dirty="0"/>
          </a:p>
        </p:txBody>
      </p:sp>
      <p:sp>
        <p:nvSpPr>
          <p:cNvPr id="15" name="Text 13"/>
          <p:cNvSpPr/>
          <p:nvPr/>
        </p:nvSpPr>
        <p:spPr>
          <a:xfrm>
            <a:off x="6388100" y="3359001"/>
            <a:ext cx="21681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Groups events into one incident, labels the intruder, checks the confession, catches stolen keys.</a:t>
            </a:r>
            <a:endParaRPr lang="en-US" sz="1200" dirty="0"/>
          </a:p>
        </p:txBody>
      </p:sp>
      <p:sp>
        <p:nvSpPr>
          <p:cNvPr id="16" name="Shape 14"/>
          <p:cNvSpPr/>
          <p:nvPr/>
        </p:nvSpPr>
        <p:spPr>
          <a:xfrm>
            <a:off x="8858250" y="2543076"/>
            <a:ext cx="2517775" cy="2101602"/>
          </a:xfrm>
          <a:prstGeom prst="roundRect">
            <a:avLst>
              <a:gd name="adj" fmla="val 4683"/>
            </a:avLst>
          </a:prstGeom>
          <a:solidFill>
            <a:srgbClr val="FFFFFF"/>
          </a:solidFill>
          <a:ln w="6350">
            <a:solidFill>
              <a:srgbClr val="D6DED8"/>
            </a:solidFill>
            <a:prstDash val="solid"/>
          </a:ln>
        </p:spPr>
      </p:sp>
      <p:sp>
        <p:nvSpPr>
          <p:cNvPr id="17" name="Text 15"/>
          <p:cNvSpPr/>
          <p:nvPr/>
        </p:nvSpPr>
        <p:spPr>
          <a:xfrm>
            <a:off x="9064625" y="2749451"/>
            <a:ext cx="2168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For the analyst</a:t>
            </a:r>
            <a:endParaRPr lang="en-US" sz="1200" dirty="0"/>
          </a:p>
        </p:txBody>
      </p:sp>
      <p:sp>
        <p:nvSpPr>
          <p:cNvPr id="18" name="Text 16"/>
          <p:cNvSpPr/>
          <p:nvPr/>
        </p:nvSpPr>
        <p:spPr>
          <a:xfrm>
            <a:off x="9064625" y="3038971"/>
            <a:ext cx="21681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dashboard</a:t>
            </a:r>
            <a:endParaRPr lang="en-US" sz="1600" dirty="0"/>
          </a:p>
        </p:txBody>
      </p:sp>
      <p:sp>
        <p:nvSpPr>
          <p:cNvPr id="19" name="Text 17"/>
          <p:cNvSpPr/>
          <p:nvPr/>
        </p:nvSpPr>
        <p:spPr>
          <a:xfrm>
            <a:off x="9064625" y="3359001"/>
            <a:ext cx="21681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One incident card: who, what was taken, fake vs real. Contain, Keep watching, Dismiss, Restore.</a:t>
            </a:r>
            <a:endParaRPr lang="en-US" sz="1200" dirty="0"/>
          </a:p>
        </p:txBody>
      </p:sp>
      <p:sp>
        <p:nvSpPr>
          <p:cNvPr id="20" name="Text 18"/>
          <p:cNvSpPr/>
          <p:nvPr/>
        </p:nvSpPr>
        <p:spPr>
          <a:xfrm>
            <a:off x="812800" y="490185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4"/>
                </a:solidFill>
                <a:latin typeface="IBM Plex Sans" pitchFamily="34" charset="0"/>
                <a:ea typeface="IBM Plex Sans" pitchFamily="34" charset="-122"/>
                <a:cs typeface="IBM Plex Sans" pitchFamily="34" charset="-120"/>
              </a:rPr>
              <a:t>Docker Compose on one laptop · JSON events ready for any SIEM · runs fully offline with a local model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800" y="609600"/>
            <a:ext cx="10883392" cy="234355"/>
          </a:xfrm>
          <a:prstGeom prst="rect">
            <a:avLst/>
          </a:prstGeom>
          <a:noFill/>
          <a:ln/>
        </p:spPr>
        <p:txBody>
          <a:bodyPr wrap="square" lIns="0" tIns="0" rIns="0" bIns="0" rtlCol="0" anchor="t">
            <a:normAutofit/>
          </a:bodyPr>
          <a:lstStyle/>
          <a:p>
            <a:pPr algn="l" indent="0" marL="0">
              <a:lnSpc>
                <a:spcPts val="1675"/>
              </a:lnSpc>
              <a:buNone/>
            </a:pPr>
            <a:r>
              <a:rPr lang="en-US" sz="1196" spc="200" kern="0" dirty="0">
                <a:solidFill>
                  <a:srgbClr val="7BE0A0"/>
                </a:solidFill>
                <a:latin typeface="JetBrains Mono" pitchFamily="49" charset="0"/>
                <a:ea typeface="JetBrains Mono" pitchFamily="49" charset="-122"/>
                <a:cs typeface="JetBrains Mono" pitchFamily="49" charset="-120"/>
              </a:rPr>
              <a:t>THE ANALYST'S CONSOLE</a:t>
            </a:r>
            <a:endParaRPr lang="en-US" sz="1196" dirty="0"/>
          </a:p>
        </p:txBody>
      </p:sp>
      <p:sp>
        <p:nvSpPr>
          <p:cNvPr id="3" name="Text 1"/>
          <p:cNvSpPr/>
          <p:nvPr>
            <p:ph type="title"/>
          </p:nvPr>
        </p:nvSpPr>
        <p:spPr>
          <a:xfrm>
            <a:off x="812800" y="996355"/>
            <a:ext cx="10883392" cy="463302"/>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F2F5F0"/>
                </a:solidFill>
                <a:latin typeface="Space Grotesk" pitchFamily="34" charset="0"/>
                <a:ea typeface="Space Grotesk" pitchFamily="34" charset="-122"/>
                <a:cs typeface="Space Grotesk" pitchFamily="34" charset="-120"/>
              </a:rPr>
              <a:t>One card, from a live AI attack.</a:t>
            </a:r>
            <a:endParaRPr lang="en-US" sz="3150" dirty="0"/>
          </a:p>
        </p:txBody>
      </p:sp>
      <p:pic>
        <p:nvPicPr>
          <p:cNvPr id="4" name="Image 0" descr="MIRAGE incident console after a live AI attack: no real files lost, swap in 2.7 ms, claims checked against the logs, AI draft pending approval">    </p:cNvPr>
          <p:cNvPicPr>
            <a:picLocks noChangeAspect="1"/>
          </p:cNvPicPr>
          <p:nvPr/>
        </p:nvPicPr>
        <p:blipFill>
          <a:blip r:embed="rId1"/>
          <a:srcRect l="0" r="0" t="5" b="5"/>
          <a:stretch/>
        </p:blipFill>
        <p:spPr>
          <a:xfrm>
            <a:off x="819150" y="1618407"/>
            <a:ext cx="4959350" cy="4305300"/>
          </a:xfrm>
          <a:prstGeom prst="roundRect">
            <a:avLst>
              <a:gd name="adj" fmla="val 1622"/>
            </a:avLst>
          </a:prstGeom>
        </p:spPr>
      </p:pic>
      <p:sp>
        <p:nvSpPr>
          <p:cNvPr id="5" name="Shape 2"/>
          <p:cNvSpPr/>
          <p:nvPr/>
        </p:nvSpPr>
        <p:spPr>
          <a:xfrm>
            <a:off x="815975" y="1615232"/>
            <a:ext cx="4965700" cy="4311650"/>
          </a:xfrm>
          <a:prstGeom prst="roundRect">
            <a:avLst>
              <a:gd name="adj" fmla="val 1694"/>
            </a:avLst>
          </a:prstGeom>
          <a:noFill/>
          <a:ln w="6350">
            <a:solidFill>
              <a:srgbClr val="2C3D36"/>
            </a:solidFill>
            <a:prstDash val="solid"/>
          </a:ln>
        </p:spPr>
      </p:sp>
      <p:sp>
        <p:nvSpPr>
          <p:cNvPr id="6" name="Shape 3"/>
          <p:cNvSpPr/>
          <p:nvPr/>
        </p:nvSpPr>
        <p:spPr>
          <a:xfrm>
            <a:off x="6153150" y="1612057"/>
            <a:ext cx="0" cy="578445"/>
          </a:xfrm>
          <a:prstGeom prst="line">
            <a:avLst/>
          </a:prstGeom>
          <a:noFill/>
          <a:ln w="25400">
            <a:solidFill>
              <a:srgbClr val="7BE0A0"/>
            </a:solidFill>
            <a:prstDash val="solid"/>
          </a:ln>
        </p:spPr>
      </p:sp>
      <p:sp>
        <p:nvSpPr>
          <p:cNvPr id="7" name="Text 4"/>
          <p:cNvSpPr/>
          <p:nvPr/>
        </p:nvSpPr>
        <p:spPr>
          <a:xfrm>
            <a:off x="6318250" y="1637457"/>
            <a:ext cx="521277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7BE0A0"/>
                </a:solidFill>
                <a:latin typeface="Space Grotesk" pitchFamily="34" charset="0"/>
                <a:ea typeface="Space Grotesk" pitchFamily="34" charset="-122"/>
                <a:cs typeface="Space Grotesk" pitchFamily="34" charset="-120"/>
              </a:rPr>
              <a:t>0 real files lost</a:t>
            </a:r>
            <a:endParaRPr lang="en-US" sz="2000" dirty="0"/>
          </a:p>
        </p:txBody>
      </p:sp>
      <p:sp>
        <p:nvSpPr>
          <p:cNvPr id="8" name="Text 5"/>
          <p:cNvSpPr/>
          <p:nvPr/>
        </p:nvSpPr>
        <p:spPr>
          <a:xfrm>
            <a:off x="6318250" y="1942257"/>
            <a:ext cx="521277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8"/>
                </a:solidFill>
                <a:latin typeface="IBM Plex Sans" pitchFamily="34" charset="0"/>
                <a:ea typeface="IBM Plex Sans" pitchFamily="34" charset="-122"/>
                <a:cs typeface="IBM Plex Sans" pitchFamily="34" charset="-120"/>
              </a:rPr>
              <a:t>The intruder took 1 file: a fake credentials file (.env).</a:t>
            </a:r>
            <a:endParaRPr lang="en-US" sz="1300" dirty="0"/>
          </a:p>
        </p:txBody>
      </p:sp>
      <p:sp>
        <p:nvSpPr>
          <p:cNvPr id="9" name="Shape 6"/>
          <p:cNvSpPr/>
          <p:nvPr/>
        </p:nvSpPr>
        <p:spPr>
          <a:xfrm>
            <a:off x="6153150" y="2355602"/>
            <a:ext cx="0" cy="578445"/>
          </a:xfrm>
          <a:prstGeom prst="line">
            <a:avLst/>
          </a:prstGeom>
          <a:noFill/>
          <a:ln w="25400">
            <a:solidFill>
              <a:srgbClr val="7BE0A0"/>
            </a:solidFill>
            <a:prstDash val="solid"/>
          </a:ln>
        </p:spPr>
      </p:sp>
      <p:sp>
        <p:nvSpPr>
          <p:cNvPr id="10" name="Text 7"/>
          <p:cNvSpPr/>
          <p:nvPr/>
        </p:nvSpPr>
        <p:spPr>
          <a:xfrm>
            <a:off x="6318250" y="2381002"/>
            <a:ext cx="521277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7BE0A0"/>
                </a:solidFill>
                <a:latin typeface="Space Grotesk" pitchFamily="34" charset="0"/>
                <a:ea typeface="Space Grotesk" pitchFamily="34" charset="-122"/>
                <a:cs typeface="Space Grotesk" pitchFamily="34" charset="-120"/>
              </a:rPr>
              <a:t>2.7 ms</a:t>
            </a:r>
            <a:endParaRPr lang="en-US" sz="2000" dirty="0"/>
          </a:p>
        </p:txBody>
      </p:sp>
      <p:sp>
        <p:nvSpPr>
          <p:cNvPr id="11" name="Text 8"/>
          <p:cNvSpPr/>
          <p:nvPr/>
        </p:nvSpPr>
        <p:spPr>
          <a:xfrm>
            <a:off x="6318250" y="2685802"/>
            <a:ext cx="521277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8"/>
                </a:solidFill>
                <a:latin typeface="IBM Plex Sans" pitchFamily="34" charset="0"/>
                <a:ea typeface="IBM Plex Sans" pitchFamily="34" charset="-122"/>
                <a:cs typeface="IBM Plex Sans" pitchFamily="34" charset="-120"/>
              </a:rPr>
              <a:t>3 protected files swapped for fakes, timed by the guard in this run.</a:t>
            </a:r>
            <a:endParaRPr lang="en-US" sz="1300" dirty="0"/>
          </a:p>
        </p:txBody>
      </p:sp>
      <p:sp>
        <p:nvSpPr>
          <p:cNvPr id="12" name="Shape 9"/>
          <p:cNvSpPr/>
          <p:nvPr/>
        </p:nvSpPr>
        <p:spPr>
          <a:xfrm>
            <a:off x="6153150" y="3099147"/>
            <a:ext cx="0" cy="801291"/>
          </a:xfrm>
          <a:prstGeom prst="line">
            <a:avLst/>
          </a:prstGeom>
          <a:noFill/>
          <a:ln w="25400">
            <a:solidFill>
              <a:srgbClr val="7BE0A0"/>
            </a:solidFill>
            <a:prstDash val="solid"/>
          </a:ln>
        </p:spPr>
      </p:sp>
      <p:sp>
        <p:nvSpPr>
          <p:cNvPr id="13" name="Text 10"/>
          <p:cNvSpPr/>
          <p:nvPr/>
        </p:nvSpPr>
        <p:spPr>
          <a:xfrm>
            <a:off x="6318250" y="3124547"/>
            <a:ext cx="521277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7BE0A0"/>
                </a:solidFill>
                <a:latin typeface="Space Grotesk" pitchFamily="34" charset="0"/>
                <a:ea typeface="Space Grotesk" pitchFamily="34" charset="-122"/>
                <a:cs typeface="Space Grotesk" pitchFamily="34" charset="-120"/>
              </a:rPr>
              <a:t>1 contradicted</a:t>
            </a:r>
            <a:endParaRPr lang="en-US" sz="2000" dirty="0"/>
          </a:p>
        </p:txBody>
      </p:sp>
      <p:sp>
        <p:nvSpPr>
          <p:cNvPr id="14" name="Text 11"/>
          <p:cNvSpPr/>
          <p:nvPr/>
        </p:nvSpPr>
        <p:spPr>
          <a:xfrm>
            <a:off x="6318250" y="3429347"/>
            <a:ext cx="521277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8"/>
                </a:solidFill>
                <a:latin typeface="IBM Plex Sans" pitchFamily="34" charset="0"/>
                <a:ea typeface="IBM Plex Sans" pitchFamily="34" charset="-122"/>
                <a:cs typeface="IBM Plex Sans" pitchFamily="34" charset="-120"/>
              </a:rPr>
              <a:t>4 claims checked against the logs. “Authorized”: contradicted, no pentest registered.</a:t>
            </a:r>
            <a:endParaRPr lang="en-US" sz="1300" dirty="0"/>
          </a:p>
        </p:txBody>
      </p:sp>
      <p:sp>
        <p:nvSpPr>
          <p:cNvPr id="15" name="Shape 12"/>
          <p:cNvSpPr/>
          <p:nvPr/>
        </p:nvSpPr>
        <p:spPr>
          <a:xfrm>
            <a:off x="6153150" y="4065538"/>
            <a:ext cx="0" cy="801291"/>
          </a:xfrm>
          <a:prstGeom prst="line">
            <a:avLst/>
          </a:prstGeom>
          <a:noFill/>
          <a:ln w="25400">
            <a:solidFill>
              <a:srgbClr val="7BE0A0"/>
            </a:solidFill>
            <a:prstDash val="solid"/>
          </a:ln>
        </p:spPr>
      </p:sp>
      <p:sp>
        <p:nvSpPr>
          <p:cNvPr id="16" name="Text 13"/>
          <p:cNvSpPr/>
          <p:nvPr/>
        </p:nvSpPr>
        <p:spPr>
          <a:xfrm>
            <a:off x="6318250" y="4090938"/>
            <a:ext cx="521277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7BE0A0"/>
                </a:solidFill>
                <a:latin typeface="Space Grotesk" pitchFamily="34" charset="0"/>
                <a:ea typeface="Space Grotesk" pitchFamily="34" charset="-122"/>
                <a:cs typeface="Space Grotesk" pitchFamily="34" charset="-120"/>
              </a:rPr>
              <a:t>Not sent</a:t>
            </a:r>
            <a:endParaRPr lang="en-US" sz="2000" dirty="0"/>
          </a:p>
        </p:txBody>
      </p:sp>
      <p:sp>
        <p:nvSpPr>
          <p:cNvPr id="17" name="Text 14"/>
          <p:cNvSpPr/>
          <p:nvPr/>
        </p:nvSpPr>
        <p:spPr>
          <a:xfrm>
            <a:off x="6318250" y="4395738"/>
            <a:ext cx="521277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8"/>
                </a:solidFill>
                <a:latin typeface="IBM Plex Sans" pitchFamily="34" charset="0"/>
                <a:ea typeface="IBM Plex Sans" pitchFamily="34" charset="-122"/>
                <a:cs typeface="IBM Plex Sans" pitchFamily="34" charset="-120"/>
              </a:rPr>
              <a:t>AI drafts of the summary and NIS2 early warning wait for the analyst’s approval.</a:t>
            </a:r>
            <a:endParaRPr lang="en-US" sz="1300" dirty="0"/>
          </a:p>
        </p:txBody>
      </p:sp>
      <p:sp>
        <p:nvSpPr>
          <p:cNvPr id="18" name="Shape 15"/>
          <p:cNvSpPr/>
          <p:nvPr/>
        </p:nvSpPr>
        <p:spPr>
          <a:xfrm>
            <a:off x="6153150" y="5031929"/>
            <a:ext cx="0" cy="578445"/>
          </a:xfrm>
          <a:prstGeom prst="line">
            <a:avLst/>
          </a:prstGeom>
          <a:noFill/>
          <a:ln w="25400">
            <a:solidFill>
              <a:srgbClr val="7BE0A0"/>
            </a:solidFill>
            <a:prstDash val="solid"/>
          </a:ln>
        </p:spPr>
      </p:sp>
      <p:sp>
        <p:nvSpPr>
          <p:cNvPr id="19" name="Text 16"/>
          <p:cNvSpPr/>
          <p:nvPr/>
        </p:nvSpPr>
        <p:spPr>
          <a:xfrm>
            <a:off x="6318250" y="5057329"/>
            <a:ext cx="521277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7BE0A0"/>
                </a:solidFill>
                <a:latin typeface="Space Grotesk" pitchFamily="34" charset="0"/>
                <a:ea typeface="Space Grotesk" pitchFamily="34" charset="-122"/>
                <a:cs typeface="Space Grotesk" pitchFamily="34" charset="-120"/>
              </a:rPr>
              <a:t>12 events, 1 card</a:t>
            </a:r>
            <a:endParaRPr lang="en-US" sz="2000" dirty="0"/>
          </a:p>
        </p:txBody>
      </p:sp>
      <p:sp>
        <p:nvSpPr>
          <p:cNvPr id="20" name="Text 17"/>
          <p:cNvSpPr/>
          <p:nvPr/>
        </p:nvSpPr>
        <p:spPr>
          <a:xfrm>
            <a:off x="6318250" y="5362129"/>
            <a:ext cx="521277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8"/>
                </a:solidFill>
                <a:latin typeface="IBM Plex Sans" pitchFamily="34" charset="0"/>
                <a:ea typeface="IBM Plex Sans" pitchFamily="34" charset="-122"/>
                <a:cs typeface="IBM Plex Sans" pitchFamily="34" charset="-120"/>
              </a:rPr>
              <a:t>The full timeline, tagged with ATT&amp;CK, sits under the card.</a:t>
            </a:r>
            <a:endParaRPr lang="en-US" sz="1300" dirty="0"/>
          </a:p>
        </p:txBody>
      </p:sp>
      <p:sp>
        <p:nvSpPr>
          <p:cNvPr id="21" name="Text 18"/>
          <p:cNvSpPr/>
          <p:nvPr/>
        </p:nvSpPr>
        <p:spPr>
          <a:xfrm>
            <a:off x="812800" y="6256040"/>
            <a:ext cx="10883392"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DB3A8"/>
                </a:solidFill>
                <a:latin typeface="JetBrains Mono" pitchFamily="49" charset="0"/>
                <a:ea typeface="JetBrains Mono" pitchFamily="49" charset="-122"/>
                <a:cs typeface="JetBrains Mono" pitchFamily="49" charset="-120"/>
              </a:rPr>
              <a:t>Screenshot from one live run · Lumen Health is fictional, all data synthetic</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800" y="812800"/>
            <a:ext cx="10883392" cy="209302"/>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7BE0A0"/>
                </a:solidFill>
                <a:latin typeface="JetBrains Mono" pitchFamily="49" charset="0"/>
                <a:ea typeface="JetBrains Mono" pitchFamily="49" charset="-122"/>
                <a:cs typeface="JetBrains Mono" pitchFamily="49" charset="-120"/>
              </a:rPr>
              <a:t>WHAT WE TESTED, AND HOW</a:t>
            </a:r>
            <a:endParaRPr lang="en-US" sz="1050" dirty="0"/>
          </a:p>
        </p:txBody>
      </p:sp>
      <p:sp>
        <p:nvSpPr>
          <p:cNvPr id="3" name="Text 1"/>
          <p:cNvSpPr/>
          <p:nvPr>
            <p:ph type="title"/>
          </p:nvPr>
        </p:nvSpPr>
        <p:spPr>
          <a:xfrm>
            <a:off x="812800" y="1174502"/>
            <a:ext cx="10883392" cy="892373"/>
          </a:xfrm>
          <a:prstGeom prst="rect">
            <a:avLst/>
          </a:prstGeom>
          <a:noFill/>
          <a:ln/>
        </p:spPr>
        <p:txBody>
          <a:bodyPr wrap="square" lIns="0" tIns="0" rIns="0" bIns="0" rtlCol="0" anchor="t">
            <a:normAutofit/>
          </a:bodyPr>
          <a:lstStyle/>
          <a:p>
            <a:pPr algn="l" indent="0" marL="0">
              <a:lnSpc>
                <a:spcPts val="3428"/>
              </a:lnSpc>
              <a:buNone/>
            </a:pPr>
            <a:r>
              <a:rPr lang="en-US" sz="3116" b="1" i="0" dirty="0">
                <a:solidFill>
                  <a:srgbClr val="F2F5F0"/>
                </a:solidFill>
                <a:latin typeface="Space Grotesk" pitchFamily="34" charset="0"/>
                <a:ea typeface="Space Grotesk" pitchFamily="34" charset="-122"/>
                <a:cs typeface="Space Grotesk" pitchFamily="34" charset="-120"/>
              </a:rPr>
              <a:t>Measured live: a real AI agent attacked our test server 10 times.</a:t>
            </a:r>
            <a:endParaRPr lang="en-US" sz="3116" dirty="0"/>
          </a:p>
        </p:txBody>
      </p:sp>
      <p:sp>
        <p:nvSpPr>
          <p:cNvPr id="4" name="Shape 2"/>
          <p:cNvSpPr/>
          <p:nvPr/>
        </p:nvSpPr>
        <p:spPr>
          <a:xfrm>
            <a:off x="815975" y="2222450"/>
            <a:ext cx="3414167" cy="1561654"/>
          </a:xfrm>
          <a:prstGeom prst="roundRect">
            <a:avLst>
              <a:gd name="adj" fmla="val 6303"/>
            </a:avLst>
          </a:prstGeom>
          <a:solidFill>
            <a:srgbClr val="18221E"/>
          </a:solidFill>
          <a:ln w="6350">
            <a:solidFill>
              <a:srgbClr val="2C3D36"/>
            </a:solidFill>
            <a:prstDash val="solid"/>
          </a:ln>
        </p:spPr>
      </p:sp>
      <p:sp>
        <p:nvSpPr>
          <p:cNvPr id="5" name="Text 3"/>
          <p:cNvSpPr/>
          <p:nvPr/>
        </p:nvSpPr>
        <p:spPr>
          <a:xfrm>
            <a:off x="996950" y="2403425"/>
            <a:ext cx="3143783" cy="543967"/>
          </a:xfrm>
          <a:prstGeom prst="rect">
            <a:avLst/>
          </a:prstGeom>
          <a:noFill/>
          <a:ln/>
        </p:spPr>
        <p:txBody>
          <a:bodyPr wrap="square" lIns="0" tIns="0" rIns="0" bIns="0" rtlCol="0" anchor="t">
            <a:normAutofit/>
          </a:bodyPr>
          <a:lstStyle/>
          <a:p>
            <a:pPr algn="l" indent="0" marL="0">
              <a:lnSpc>
                <a:spcPts val="4111"/>
              </a:lnSpc>
              <a:buNone/>
            </a:pPr>
            <a:r>
              <a:rPr lang="en-US" sz="2936" b="1" dirty="0">
                <a:solidFill>
                  <a:srgbClr val="7BE0A0"/>
                </a:solidFill>
                <a:latin typeface="Space Grotesk" pitchFamily="34" charset="0"/>
                <a:ea typeface="Space Grotesk" pitchFamily="34" charset="-122"/>
                <a:cs typeface="Space Grotesk" pitchFamily="34" charset="-120"/>
              </a:rPr>
              <a:t>10 / 10</a:t>
            </a:r>
            <a:endParaRPr lang="en-US" sz="2936" dirty="0"/>
          </a:p>
        </p:txBody>
      </p:sp>
      <p:sp>
        <p:nvSpPr>
          <p:cNvPr id="6" name="Text 4"/>
          <p:cNvSpPr/>
          <p:nvPr/>
        </p:nvSpPr>
        <p:spPr>
          <a:xfrm>
            <a:off x="996950" y="2998192"/>
            <a:ext cx="3143783" cy="630337"/>
          </a:xfrm>
          <a:prstGeom prst="rect">
            <a:avLst/>
          </a:prstGeom>
          <a:noFill/>
          <a:ln/>
        </p:spPr>
        <p:txBody>
          <a:bodyPr wrap="square" lIns="0" tIns="0" rIns="0" bIns="0" rtlCol="0" anchor="t">
            <a:normAutofit/>
          </a:bodyPr>
          <a:lstStyle/>
          <a:p>
            <a:pPr algn="l" indent="0" marL="0">
              <a:lnSpc>
                <a:spcPts val="1617"/>
              </a:lnSpc>
              <a:buNone/>
            </a:pPr>
            <a:r>
              <a:rPr lang="en-US" sz="1155" dirty="0">
                <a:solidFill>
                  <a:srgbClr val="BFD3C8"/>
                </a:solidFill>
                <a:latin typeface="IBM Plex Sans" pitchFamily="34" charset="0"/>
                <a:ea typeface="IBM Plex Sans" pitchFamily="34" charset="-122"/>
                <a:cs typeface="IBM Plex Sans" pitchFamily="34" charset="-120"/>
              </a:rPr>
              <a:t>live AI attacks caught by a trap, with 0 real files lost (qwen3.5:35b, local)</a:t>
            </a:r>
            <a:endParaRPr lang="en-US" sz="1155" dirty="0"/>
          </a:p>
        </p:txBody>
      </p:sp>
      <p:sp>
        <p:nvSpPr>
          <p:cNvPr id="7" name="Shape 5"/>
          <p:cNvSpPr/>
          <p:nvPr/>
        </p:nvSpPr>
        <p:spPr>
          <a:xfrm>
            <a:off x="4388892" y="2222450"/>
            <a:ext cx="3414167" cy="1561654"/>
          </a:xfrm>
          <a:prstGeom prst="roundRect">
            <a:avLst>
              <a:gd name="adj" fmla="val 6303"/>
            </a:avLst>
          </a:prstGeom>
          <a:solidFill>
            <a:srgbClr val="18221E"/>
          </a:solidFill>
          <a:ln w="6350">
            <a:solidFill>
              <a:srgbClr val="2C3D36"/>
            </a:solidFill>
            <a:prstDash val="solid"/>
          </a:ln>
        </p:spPr>
      </p:sp>
      <p:sp>
        <p:nvSpPr>
          <p:cNvPr id="8" name="Text 6"/>
          <p:cNvSpPr/>
          <p:nvPr/>
        </p:nvSpPr>
        <p:spPr>
          <a:xfrm>
            <a:off x="4569867" y="2403425"/>
            <a:ext cx="3143783" cy="657423"/>
          </a:xfrm>
          <a:prstGeom prst="rect">
            <a:avLst/>
          </a:prstGeom>
          <a:noFill/>
          <a:ln/>
        </p:spPr>
        <p:txBody>
          <a:bodyPr wrap="square" lIns="0" tIns="0" rIns="0" bIns="0" rtlCol="0" anchor="t">
            <a:normAutofit/>
          </a:bodyPr>
          <a:lstStyle/>
          <a:p>
            <a:pPr algn="l" indent="0" marL="0">
              <a:lnSpc>
                <a:spcPts val="5024"/>
              </a:lnSpc>
              <a:buNone/>
            </a:pPr>
            <a:r>
              <a:rPr lang="en-US" sz="3589" b="1" dirty="0">
                <a:solidFill>
                  <a:srgbClr val="7BE0A0"/>
                </a:solidFill>
                <a:latin typeface="Space Grotesk" pitchFamily="34" charset="0"/>
                <a:ea typeface="Space Grotesk" pitchFamily="34" charset="-122"/>
                <a:cs typeface="Space Grotesk" pitchFamily="34" charset="-120"/>
              </a:rPr>
              <a:t>2.2 ms</a:t>
            </a:r>
            <a:endParaRPr lang="en-US" sz="3589" dirty="0"/>
          </a:p>
        </p:txBody>
      </p:sp>
      <p:sp>
        <p:nvSpPr>
          <p:cNvPr id="9" name="Text 7"/>
          <p:cNvSpPr/>
          <p:nvPr/>
        </p:nvSpPr>
        <p:spPr>
          <a:xfrm>
            <a:off x="4569867" y="3111649"/>
            <a:ext cx="3143783" cy="516880"/>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BFD3C8"/>
                </a:solidFill>
                <a:latin typeface="IBM Plex Sans" pitchFamily="34" charset="0"/>
                <a:ea typeface="IBM Plex Sans" pitchFamily="34" charset="-122"/>
                <a:cs typeface="IBM Plex Sans" pitchFamily="34" charset="-120"/>
              </a:rPr>
              <a:t>median swap time read from the guard over the 10 runs (0.4–12 ms)</a:t>
            </a:r>
            <a:endParaRPr lang="en-US" sz="1383" dirty="0"/>
          </a:p>
        </p:txBody>
      </p:sp>
      <p:sp>
        <p:nvSpPr>
          <p:cNvPr id="10" name="Shape 8"/>
          <p:cNvSpPr/>
          <p:nvPr/>
        </p:nvSpPr>
        <p:spPr>
          <a:xfrm>
            <a:off x="7961809" y="2222450"/>
            <a:ext cx="3414216" cy="1561654"/>
          </a:xfrm>
          <a:prstGeom prst="roundRect">
            <a:avLst>
              <a:gd name="adj" fmla="val 6303"/>
            </a:avLst>
          </a:prstGeom>
          <a:solidFill>
            <a:srgbClr val="18221E"/>
          </a:solidFill>
          <a:ln w="6350">
            <a:solidFill>
              <a:srgbClr val="2C3D36"/>
            </a:solidFill>
            <a:prstDash val="solid"/>
          </a:ln>
        </p:spPr>
      </p:sp>
      <p:sp>
        <p:nvSpPr>
          <p:cNvPr id="11" name="Text 9"/>
          <p:cNvSpPr/>
          <p:nvPr/>
        </p:nvSpPr>
        <p:spPr>
          <a:xfrm>
            <a:off x="8142784" y="2403425"/>
            <a:ext cx="3143834" cy="657423"/>
          </a:xfrm>
          <a:prstGeom prst="rect">
            <a:avLst/>
          </a:prstGeom>
          <a:noFill/>
          <a:ln/>
        </p:spPr>
        <p:txBody>
          <a:bodyPr wrap="square" lIns="0" tIns="0" rIns="0" bIns="0" rtlCol="0" anchor="t">
            <a:normAutofit/>
          </a:bodyPr>
          <a:lstStyle/>
          <a:p>
            <a:pPr algn="l" indent="0" marL="0">
              <a:lnSpc>
                <a:spcPts val="5024"/>
              </a:lnSpc>
              <a:buNone/>
            </a:pPr>
            <a:r>
              <a:rPr lang="en-US" sz="3589" b="1" dirty="0">
                <a:solidFill>
                  <a:srgbClr val="7BE0A0"/>
                </a:solidFill>
                <a:latin typeface="Space Grotesk" pitchFamily="34" charset="0"/>
                <a:ea typeface="Space Grotesk" pitchFamily="34" charset="-122"/>
                <a:cs typeface="Space Grotesk" pitchFamily="34" charset="-120"/>
              </a:rPr>
              <a:t>10 / 10</a:t>
            </a:r>
            <a:endParaRPr lang="en-US" sz="3589" dirty="0"/>
          </a:p>
        </p:txBody>
      </p:sp>
      <p:sp>
        <p:nvSpPr>
          <p:cNvPr id="12" name="Text 10"/>
          <p:cNvSpPr/>
          <p:nvPr/>
        </p:nvSpPr>
        <p:spPr>
          <a:xfrm>
            <a:off x="8142784" y="3111649"/>
            <a:ext cx="3143834" cy="516880"/>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BFD3C8"/>
                </a:solidFill>
                <a:latin typeface="IBM Plex Sans" pitchFamily="34" charset="0"/>
                <a:ea typeface="IBM Plex Sans" pitchFamily="34" charset="-122"/>
                <a:cs typeface="IBM Plex Sans" pitchFamily="34" charset="-120"/>
              </a:rPr>
              <a:t>live runs where the AI confessed its mission (smaller qwen2.5:7b: 2/10 earlier)</a:t>
            </a:r>
            <a:endParaRPr lang="en-US" sz="1383" dirty="0"/>
          </a:p>
        </p:txBody>
      </p:sp>
      <p:sp>
        <p:nvSpPr>
          <p:cNvPr id="13" name="Shape 11"/>
          <p:cNvSpPr/>
          <p:nvPr/>
        </p:nvSpPr>
        <p:spPr>
          <a:xfrm>
            <a:off x="815975" y="3942854"/>
            <a:ext cx="3414167" cy="1561654"/>
          </a:xfrm>
          <a:prstGeom prst="roundRect">
            <a:avLst>
              <a:gd name="adj" fmla="val 6303"/>
            </a:avLst>
          </a:prstGeom>
          <a:solidFill>
            <a:srgbClr val="18221E"/>
          </a:solidFill>
          <a:ln w="6350">
            <a:solidFill>
              <a:srgbClr val="2C3D36"/>
            </a:solidFill>
            <a:prstDash val="solid"/>
          </a:ln>
        </p:spPr>
      </p:sp>
      <p:sp>
        <p:nvSpPr>
          <p:cNvPr id="14" name="Text 12"/>
          <p:cNvSpPr/>
          <p:nvPr/>
        </p:nvSpPr>
        <p:spPr>
          <a:xfrm>
            <a:off x="996950" y="4123829"/>
            <a:ext cx="3143783" cy="543967"/>
          </a:xfrm>
          <a:prstGeom prst="rect">
            <a:avLst/>
          </a:prstGeom>
          <a:noFill/>
          <a:ln/>
        </p:spPr>
        <p:txBody>
          <a:bodyPr wrap="square" lIns="0" tIns="0" rIns="0" bIns="0" rtlCol="0" anchor="t">
            <a:normAutofit/>
          </a:bodyPr>
          <a:lstStyle/>
          <a:p>
            <a:pPr algn="l" indent="0" marL="0">
              <a:lnSpc>
                <a:spcPts val="4111"/>
              </a:lnSpc>
              <a:buNone/>
            </a:pPr>
            <a:r>
              <a:rPr lang="en-US" sz="2936" b="1" dirty="0">
                <a:solidFill>
                  <a:srgbClr val="7BE0A0"/>
                </a:solidFill>
                <a:latin typeface="Space Grotesk" pitchFamily="34" charset="0"/>
                <a:ea typeface="Space Grotesk" pitchFamily="34" charset="-122"/>
                <a:cs typeface="Space Grotesk" pitchFamily="34" charset="-120"/>
              </a:rPr>
              <a:t>0</a:t>
            </a:r>
            <a:endParaRPr lang="en-US" sz="2936" dirty="0"/>
          </a:p>
        </p:txBody>
      </p:sp>
      <p:sp>
        <p:nvSpPr>
          <p:cNvPr id="15" name="Text 13"/>
          <p:cNvSpPr/>
          <p:nvPr/>
        </p:nvSpPr>
        <p:spPr>
          <a:xfrm>
            <a:off x="996950" y="4718596"/>
            <a:ext cx="3143783" cy="630337"/>
          </a:xfrm>
          <a:prstGeom prst="rect">
            <a:avLst/>
          </a:prstGeom>
          <a:noFill/>
          <a:ln/>
        </p:spPr>
        <p:txBody>
          <a:bodyPr wrap="square" lIns="0" tIns="0" rIns="0" bIns="0" rtlCol="0" anchor="t">
            <a:normAutofit/>
          </a:bodyPr>
          <a:lstStyle/>
          <a:p>
            <a:pPr algn="l" indent="0" marL="0">
              <a:lnSpc>
                <a:spcPts val="1586"/>
              </a:lnSpc>
              <a:buNone/>
            </a:pPr>
            <a:r>
              <a:rPr lang="en-US" sz="1133" dirty="0">
                <a:solidFill>
                  <a:srgbClr val="BFD3C8"/>
                </a:solidFill>
                <a:latin typeface="IBM Plex Sans" pitchFamily="34" charset="0"/>
                <a:ea typeface="IBM Plex Sans" pitchFamily="34" charset="-122"/>
                <a:cs typeface="IBM Plex Sans" pitchFamily="34" charset="-120"/>
              </a:rPr>
              <a:t>false alarms in 8 min of live normal work: staff + 4 backup runs touching the crown jewels</a:t>
            </a:r>
            <a:endParaRPr lang="en-US" sz="1133" dirty="0"/>
          </a:p>
        </p:txBody>
      </p:sp>
      <p:sp>
        <p:nvSpPr>
          <p:cNvPr id="16" name="Shape 14"/>
          <p:cNvSpPr/>
          <p:nvPr/>
        </p:nvSpPr>
        <p:spPr>
          <a:xfrm>
            <a:off x="4388892" y="3942854"/>
            <a:ext cx="3414167" cy="1561654"/>
          </a:xfrm>
          <a:prstGeom prst="roundRect">
            <a:avLst>
              <a:gd name="adj" fmla="val 6303"/>
            </a:avLst>
          </a:prstGeom>
          <a:solidFill>
            <a:srgbClr val="18221E"/>
          </a:solidFill>
          <a:ln w="6350">
            <a:solidFill>
              <a:srgbClr val="2C3D36"/>
            </a:solidFill>
            <a:prstDash val="solid"/>
          </a:ln>
        </p:spPr>
      </p:sp>
      <p:sp>
        <p:nvSpPr>
          <p:cNvPr id="17" name="Text 15"/>
          <p:cNvSpPr/>
          <p:nvPr/>
        </p:nvSpPr>
        <p:spPr>
          <a:xfrm>
            <a:off x="4569867" y="4123829"/>
            <a:ext cx="3143783" cy="657423"/>
          </a:xfrm>
          <a:prstGeom prst="rect">
            <a:avLst/>
          </a:prstGeom>
          <a:noFill/>
          <a:ln/>
        </p:spPr>
        <p:txBody>
          <a:bodyPr wrap="square" lIns="0" tIns="0" rIns="0" bIns="0" rtlCol="0" anchor="t">
            <a:normAutofit/>
          </a:bodyPr>
          <a:lstStyle/>
          <a:p>
            <a:pPr algn="l" indent="0" marL="0">
              <a:lnSpc>
                <a:spcPts val="5024"/>
              </a:lnSpc>
              <a:buNone/>
            </a:pPr>
            <a:r>
              <a:rPr lang="en-US" sz="3589" b="1" dirty="0">
                <a:solidFill>
                  <a:srgbClr val="7BE0A0"/>
                </a:solidFill>
                <a:latin typeface="Space Grotesk" pitchFamily="34" charset="0"/>
                <a:ea typeface="Space Grotesk" pitchFamily="34" charset="-122"/>
                <a:cs typeface="Space Grotesk" pitchFamily="34" charset="-120"/>
              </a:rPr>
              <a:t>3 tags</a:t>
            </a:r>
            <a:endParaRPr lang="en-US" sz="3589" dirty="0"/>
          </a:p>
        </p:txBody>
      </p:sp>
      <p:sp>
        <p:nvSpPr>
          <p:cNvPr id="18" name="Text 16"/>
          <p:cNvSpPr/>
          <p:nvPr/>
        </p:nvSpPr>
        <p:spPr>
          <a:xfrm>
            <a:off x="4569867" y="4832052"/>
            <a:ext cx="3143783" cy="516880"/>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BFD3C8"/>
                </a:solidFill>
                <a:latin typeface="IBM Plex Sans" pitchFamily="34" charset="0"/>
                <a:ea typeface="IBM Plex Sans" pitchFamily="34" charset="-122"/>
                <a:cs typeface="IBM Plex Sans" pitchFamily="34" charset="-120"/>
              </a:rPr>
              <a:t>every claim checked against the logs: confirmed, unverified, contradicted</a:t>
            </a:r>
            <a:endParaRPr lang="en-US" sz="1383" dirty="0"/>
          </a:p>
        </p:txBody>
      </p:sp>
      <p:sp>
        <p:nvSpPr>
          <p:cNvPr id="19" name="Shape 17"/>
          <p:cNvSpPr/>
          <p:nvPr/>
        </p:nvSpPr>
        <p:spPr>
          <a:xfrm>
            <a:off x="7961809" y="3942854"/>
            <a:ext cx="3414216" cy="1561654"/>
          </a:xfrm>
          <a:prstGeom prst="roundRect">
            <a:avLst>
              <a:gd name="adj" fmla="val 6303"/>
            </a:avLst>
          </a:prstGeom>
          <a:solidFill>
            <a:srgbClr val="18221E"/>
          </a:solidFill>
          <a:ln w="6350">
            <a:solidFill>
              <a:srgbClr val="2C3D36"/>
            </a:solidFill>
            <a:prstDash val="solid"/>
          </a:ln>
        </p:spPr>
      </p:sp>
      <p:sp>
        <p:nvSpPr>
          <p:cNvPr id="20" name="Text 18"/>
          <p:cNvSpPr/>
          <p:nvPr/>
        </p:nvSpPr>
        <p:spPr>
          <a:xfrm>
            <a:off x="8142784" y="4123829"/>
            <a:ext cx="3143834" cy="657423"/>
          </a:xfrm>
          <a:prstGeom prst="rect">
            <a:avLst/>
          </a:prstGeom>
          <a:noFill/>
          <a:ln/>
        </p:spPr>
        <p:txBody>
          <a:bodyPr wrap="square" lIns="0" tIns="0" rIns="0" bIns="0" rtlCol="0" anchor="t">
            <a:normAutofit/>
          </a:bodyPr>
          <a:lstStyle/>
          <a:p>
            <a:pPr algn="l" indent="0" marL="0">
              <a:lnSpc>
                <a:spcPts val="5024"/>
              </a:lnSpc>
              <a:buNone/>
            </a:pPr>
            <a:r>
              <a:rPr lang="en-US" sz="3589" b="1" dirty="0">
                <a:solidFill>
                  <a:srgbClr val="7BE0A0"/>
                </a:solidFill>
                <a:latin typeface="Space Grotesk" pitchFamily="34" charset="0"/>
                <a:ea typeface="Space Grotesk" pitchFamily="34" charset="-122"/>
                <a:cs typeface="Space Grotesk" pitchFamily="34" charset="-120"/>
              </a:rPr>
              <a:t>Next</a:t>
            </a:r>
            <a:endParaRPr lang="en-US" sz="3589" dirty="0"/>
          </a:p>
        </p:txBody>
      </p:sp>
      <p:sp>
        <p:nvSpPr>
          <p:cNvPr id="21" name="Text 19"/>
          <p:cNvSpPr/>
          <p:nvPr/>
        </p:nvSpPr>
        <p:spPr>
          <a:xfrm>
            <a:off x="8142784" y="4832052"/>
            <a:ext cx="3143834" cy="516880"/>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BFD3C8"/>
                </a:solidFill>
                <a:latin typeface="IBM Plex Sans" pitchFamily="34" charset="0"/>
                <a:ea typeface="IBM Plex Sans" pitchFamily="34" charset="-122"/>
                <a:cs typeface="IBM Plex Sans" pitchFamily="34" charset="-120"/>
              </a:rPr>
              <a:t>false-alarm rate at scale and more attacker models, measured during pilots</a:t>
            </a:r>
            <a:endParaRPr lang="en-US" sz="1383" dirty="0"/>
          </a:p>
        </p:txBody>
      </p:sp>
      <p:sp>
        <p:nvSpPr>
          <p:cNvPr id="22" name="Text 20"/>
          <p:cNvSpPr/>
          <p:nvPr/>
        </p:nvSpPr>
        <p:spPr>
          <a:xfrm>
            <a:off x="812800" y="5685482"/>
            <a:ext cx="10883392" cy="181918"/>
          </a:xfrm>
          <a:prstGeom prst="rect">
            <a:avLst/>
          </a:prstGeom>
          <a:noFill/>
          <a:ln/>
        </p:spPr>
        <p:txBody>
          <a:bodyPr wrap="square" lIns="0" tIns="0" rIns="0" bIns="0" rtlCol="0" anchor="t">
            <a:normAutofit/>
          </a:bodyPr>
          <a:lstStyle/>
          <a:p>
            <a:pPr algn="l" indent="0" marL="0">
              <a:lnSpc>
                <a:spcPts val="1274"/>
              </a:lnSpc>
              <a:buNone/>
            </a:pPr>
            <a:r>
              <a:rPr lang="en-US" sz="980" dirty="0">
                <a:solidFill>
                  <a:srgbClr val="7BE0A0"/>
                </a:solidFill>
                <a:latin typeface="JetBrains Mono" pitchFamily="49" charset="0"/>
                <a:ea typeface="JetBrains Mono" pitchFamily="49" charset="-122"/>
                <a:cs typeface="JetBrains Mono" pitchFamily="49" charset="-120"/>
              </a:rPr>
              <a:t>ATT&amp;CK T1059 · T1083 · T1005 · T1552.001 · T1078 · ATLAS AML.T0051 · OWASP ASI01, used defensively</a:t>
            </a:r>
            <a:endParaRPr lang="en-US" sz="98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Live runs: local Ollama model, clean reset before each run (docs/live_bench_results.csv) · Synthetic data only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HUMAN CONTROL AND LIMITS</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Automatic only where it is safe and reversible.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11"/>
          <a:ext cx="10553700" cy="2290713"/>
        </p:xfrm>
        <a:graphic>
          <a:graphicData uri="http://schemas.openxmlformats.org/drawingml/2006/table">
            <a:tbl>
              <a:tblPr/>
              <a:tblGrid>
                <a:gridCol w="3482721"/>
                <a:gridCol w="3588258"/>
                <a:gridCol w="3482721"/>
              </a:tblGrid>
              <a:tr h="386011">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Automatic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Waits for the analyst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3"/>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Not covered yet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3"/>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r>
              <a:tr h="634901">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Swap real files for fakes (nothing deleted)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Contain, or Keep watching in the decoys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Files read before a trap: flagged Critical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Log and tag every command; label the intruder (triggers 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Dismiss a false alarm, or Restore in one click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 careful AI that never opens a trap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"Guard silent" heartbeat alarm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Approve the AI drafts: summary, NIS2 early warning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Cloud storage (SharePoint, S3): on the roadmap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MARKET, BUSINESS AND TEAM</a:t>
            </a:r>
            <a:endParaRPr lang="en-US" sz="1200" dirty="0"/>
          </a:p>
        </p:txBody>
      </p:sp>
      <p:sp>
        <p:nvSpPr>
          <p:cNvPr id="3" name="Text 1"/>
          <p:cNvSpPr/>
          <p:nvPr>
            <p:ph type="title"/>
          </p:nvPr>
        </p:nvSpPr>
        <p:spPr>
          <a:xfrm>
            <a:off x="812800" y="1254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B"/>
                </a:solidFill>
                <a:latin typeface="Space Grotesk" pitchFamily="34" charset="0"/>
                <a:ea typeface="Space Grotesk" pitchFamily="34" charset="-122"/>
                <a:cs typeface="Space Grotesk" pitchFamily="34" charset="-120"/>
              </a:rPr>
              <a:t>Deception detects intruders. MIRAGE protects the data.</a:t>
            </a:r>
            <a:endParaRPr lang="en-US" sz="3200" dirty="0"/>
          </a:p>
        </p:txBody>
      </p:sp>
      <p:sp>
        <p:nvSpPr>
          <p:cNvPr id="4" name="Shape 2"/>
          <p:cNvSpPr/>
          <p:nvPr/>
        </p:nvSpPr>
        <p:spPr>
          <a:xfrm>
            <a:off x="815975" y="2380555"/>
            <a:ext cx="3397250" cy="1814661"/>
          </a:xfrm>
          <a:prstGeom prst="roundRect">
            <a:avLst>
              <a:gd name="adj" fmla="val 5424"/>
            </a:avLst>
          </a:prstGeom>
          <a:solidFill>
            <a:srgbClr val="FFFFFF"/>
          </a:solidFill>
          <a:ln w="6350">
            <a:solidFill>
              <a:srgbClr val="D6DED8"/>
            </a:solidFill>
            <a:prstDash val="solid"/>
          </a:ln>
        </p:spPr>
      </p:sp>
      <p:sp>
        <p:nvSpPr>
          <p:cNvPr id="5" name="Text 3"/>
          <p:cNvSpPr/>
          <p:nvPr/>
        </p:nvSpPr>
        <p:spPr>
          <a:xfrm>
            <a:off x="996950" y="2561530"/>
            <a:ext cx="31263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E7A4F"/>
                </a:solidFill>
                <a:latin typeface="Space Grotesk" pitchFamily="34" charset="0"/>
                <a:ea typeface="Space Grotesk" pitchFamily="34" charset="-122"/>
                <a:cs typeface="Space Grotesk" pitchFamily="34" charset="-120"/>
              </a:rPr>
              <a:t>USD 2.7 B</a:t>
            </a:r>
            <a:endParaRPr lang="en-US" sz="2800" dirty="0"/>
          </a:p>
        </p:txBody>
      </p:sp>
      <p:sp>
        <p:nvSpPr>
          <p:cNvPr id="6" name="Text 4"/>
          <p:cNvSpPr/>
          <p:nvPr/>
        </p:nvSpPr>
        <p:spPr>
          <a:xfrm>
            <a:off x="996950" y="3122861"/>
            <a:ext cx="3126359"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44"/>
                </a:solidFill>
                <a:latin typeface="IBM Plex Sans" pitchFamily="34" charset="0"/>
                <a:ea typeface="IBM Plex Sans" pitchFamily="34" charset="-122"/>
                <a:cs typeface="IBM Plex Sans" pitchFamily="34" charset="-120"/>
              </a:rPr>
              <a:t>deception market (2025), ~11% a year. Pioneers bought by SentinelOne, Proofpoint, Zscaler: they detect, real files stay exposed.</a:t>
            </a:r>
            <a:endParaRPr lang="en-US" sz="1300" dirty="0"/>
          </a:p>
        </p:txBody>
      </p:sp>
      <p:sp>
        <p:nvSpPr>
          <p:cNvPr id="7" name="Shape 5"/>
          <p:cNvSpPr/>
          <p:nvPr/>
        </p:nvSpPr>
        <p:spPr>
          <a:xfrm>
            <a:off x="4397375" y="2380555"/>
            <a:ext cx="3397250" cy="1814661"/>
          </a:xfrm>
          <a:prstGeom prst="roundRect">
            <a:avLst>
              <a:gd name="adj" fmla="val 5424"/>
            </a:avLst>
          </a:prstGeom>
          <a:solidFill>
            <a:srgbClr val="FFFFFF"/>
          </a:solidFill>
          <a:ln w="6350">
            <a:solidFill>
              <a:srgbClr val="D6DED8"/>
            </a:solidFill>
            <a:prstDash val="solid"/>
          </a:ln>
        </p:spPr>
      </p:sp>
      <p:sp>
        <p:nvSpPr>
          <p:cNvPr id="8" name="Text 6"/>
          <p:cNvSpPr/>
          <p:nvPr/>
        </p:nvSpPr>
        <p:spPr>
          <a:xfrm>
            <a:off x="4578350" y="2561530"/>
            <a:ext cx="31263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E7A4F"/>
                </a:solidFill>
                <a:latin typeface="Space Grotesk" pitchFamily="34" charset="0"/>
                <a:ea typeface="Space Grotesk" pitchFamily="34" charset="-122"/>
                <a:cs typeface="Space Grotesk" pitchFamily="34" charset="-120"/>
              </a:rPr>
              <a:t>Clinics</a:t>
            </a:r>
            <a:endParaRPr lang="en-US" sz="2800" dirty="0"/>
          </a:p>
        </p:txBody>
      </p:sp>
      <p:sp>
        <p:nvSpPr>
          <p:cNvPr id="9" name="Text 7"/>
          <p:cNvSpPr/>
          <p:nvPr/>
        </p:nvSpPr>
        <p:spPr>
          <a:xfrm>
            <a:off x="4578350" y="3122861"/>
            <a:ext cx="3126359"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44"/>
                </a:solidFill>
                <a:latin typeface="IBM Plex Sans" pitchFamily="34" charset="0"/>
                <a:ea typeface="IBM Plex Sans" pitchFamily="34" charset="-122"/>
                <a:cs typeface="IBM Plex Sans" pitchFamily="34" charset="-120"/>
              </a:rPr>
              <a:t>Private clinics, medical labs, imaging centres: costliest breaches (USD 7.42 M), now in NIS2 scope. Sold direct and via their SOC provider.</a:t>
            </a:r>
            <a:endParaRPr lang="en-US" sz="1300" dirty="0"/>
          </a:p>
        </p:txBody>
      </p:sp>
      <p:sp>
        <p:nvSpPr>
          <p:cNvPr id="10" name="Shape 8"/>
          <p:cNvSpPr/>
          <p:nvPr/>
        </p:nvSpPr>
        <p:spPr>
          <a:xfrm>
            <a:off x="7978775" y="2380555"/>
            <a:ext cx="3397250" cy="1814661"/>
          </a:xfrm>
          <a:prstGeom prst="roundRect">
            <a:avLst>
              <a:gd name="adj" fmla="val 5424"/>
            </a:avLst>
          </a:prstGeom>
          <a:solidFill>
            <a:srgbClr val="FFFFFF"/>
          </a:solidFill>
          <a:ln w="6350">
            <a:solidFill>
              <a:srgbClr val="D6DED8"/>
            </a:solidFill>
            <a:prstDash val="solid"/>
          </a:ln>
        </p:spPr>
      </p:sp>
      <p:sp>
        <p:nvSpPr>
          <p:cNvPr id="11" name="Text 9"/>
          <p:cNvSpPr/>
          <p:nvPr/>
        </p:nvSpPr>
        <p:spPr>
          <a:xfrm>
            <a:off x="8159750" y="2561530"/>
            <a:ext cx="31263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E7A4F"/>
                </a:solidFill>
                <a:latin typeface="Space Grotesk" pitchFamily="34" charset="0"/>
                <a:ea typeface="Space Grotesk" pitchFamily="34" charset="-122"/>
                <a:cs typeface="Space Grotesk" pitchFamily="34" charset="-120"/>
              </a:rPr>
              <a:t>~€6,000</a:t>
            </a:r>
            <a:endParaRPr lang="en-US" sz="2800" dirty="0"/>
          </a:p>
        </p:txBody>
      </p:sp>
      <p:sp>
        <p:nvSpPr>
          <p:cNvPr id="12" name="Text 10"/>
          <p:cNvSpPr/>
          <p:nvPr/>
        </p:nvSpPr>
        <p:spPr>
          <a:xfrm>
            <a:off x="8159750" y="3122861"/>
            <a:ext cx="3126359"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44"/>
                </a:solidFill>
                <a:latin typeface="IBM Plex Sans" pitchFamily="34" charset="0"/>
                <a:ea typeface="IBM Plex Sans" pitchFamily="34" charset="-122"/>
                <a:cs typeface="IBM Plex Sans" pitchFamily="34" charset="-120"/>
              </a:rPr>
              <a:t>per year per clinic: our pricing hypothesis, below Thinkst Canary (~USD 9,900). Next: 2–3 clinic pilots.</a:t>
            </a:r>
            <a:endParaRPr lang="en-US" sz="1300" dirty="0"/>
          </a:p>
        </p:txBody>
      </p:sp>
      <p:sp>
        <p:nvSpPr>
          <p:cNvPr id="13" name="Text 11"/>
          <p:cNvSpPr/>
          <p:nvPr/>
        </p:nvSpPr>
        <p:spPr>
          <a:xfrm>
            <a:off x="812800" y="4435872"/>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TEAM 7</a:t>
            </a:r>
            <a:endParaRPr lang="en-US" sz="1200" dirty="0"/>
          </a:p>
        </p:txBody>
      </p:sp>
      <p:sp>
        <p:nvSpPr>
          <p:cNvPr id="14" name="Text 12"/>
          <p:cNvSpPr/>
          <p:nvPr/>
        </p:nvSpPr>
        <p:spPr>
          <a:xfrm>
            <a:off x="1513880" y="4426992"/>
            <a:ext cx="83393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01B"/>
                </a:solidFill>
                <a:latin typeface="IBM Plex Sans" pitchFamily="34" charset="0"/>
                <a:ea typeface="IBM Plex Sans" pitchFamily="34" charset="-122"/>
                <a:cs typeface="IBM Plex Sans" pitchFamily="34" charset="-120"/>
              </a:rPr>
              <a:t>Ana</a:t>
            </a:r>
            <a:r>
              <a:rPr lang="en-US" sz="1300" dirty="0">
                <a:solidFill>
                  <a:srgbClr val="14201B"/>
                </a:solidFill>
                <a:latin typeface="IBM Plex Sans" pitchFamily="34" charset="0"/>
                <a:ea typeface="IBM Plex Sans" pitchFamily="34" charset="-122"/>
                <a:cs typeface="IBM Plex Sans" pitchFamily="34" charset="-120"/>
              </a:rPr>
              <a:t> dashboard &amp; pitch · </a:t>
            </a:r>
            <a:r>
              <a:rPr lang="en-US" sz="1300" b="1" dirty="0">
                <a:solidFill>
                  <a:srgbClr val="14201B"/>
                </a:solidFill>
                <a:latin typeface="IBM Plex Sans" pitchFamily="34" charset="0"/>
                <a:ea typeface="IBM Plex Sans" pitchFamily="34" charset="-122"/>
                <a:cs typeface="IBM Plex Sans" pitchFamily="34" charset="-120"/>
              </a:rPr>
              <a:t>Thomas</a:t>
            </a:r>
            <a:r>
              <a:rPr lang="en-US" sz="1300" dirty="0">
                <a:solidFill>
                  <a:srgbClr val="14201B"/>
                </a:solidFill>
                <a:latin typeface="IBM Plex Sans" pitchFamily="34" charset="0"/>
                <a:ea typeface="IBM Plex Sans" pitchFamily="34" charset="-122"/>
                <a:cs typeface="IBM Plex Sans" pitchFamily="34" charset="-120"/>
              </a:rPr>
              <a:t> AI fakes &amp; checks · </a:t>
            </a:r>
            <a:r>
              <a:rPr lang="en-US" sz="1300" b="1" dirty="0">
                <a:solidFill>
                  <a:srgbClr val="14201B"/>
                </a:solidFill>
                <a:latin typeface="IBM Plex Sans" pitchFamily="34" charset="0"/>
                <a:ea typeface="IBM Plex Sans" pitchFamily="34" charset="-122"/>
                <a:cs typeface="IBM Plex Sans" pitchFamily="34" charset="-120"/>
              </a:rPr>
              <a:t>Leon</a:t>
            </a:r>
            <a:r>
              <a:rPr lang="en-US" sz="1300" dirty="0">
                <a:solidFill>
                  <a:srgbClr val="14201B"/>
                </a:solidFill>
                <a:latin typeface="IBM Plex Sans" pitchFamily="34" charset="0"/>
                <a:ea typeface="IBM Plex Sans" pitchFamily="34" charset="-122"/>
                <a:cs typeface="IBM Plex Sans" pitchFamily="34" charset="-120"/>
              </a:rPr>
              <a:t> guard &amp; vault · </a:t>
            </a:r>
            <a:r>
              <a:rPr lang="en-US" sz="1300" b="1" dirty="0">
                <a:solidFill>
                  <a:srgbClr val="14201B"/>
                </a:solidFill>
                <a:latin typeface="IBM Plex Sans" pitchFamily="34" charset="0"/>
                <a:ea typeface="IBM Plex Sans" pitchFamily="34" charset="-122"/>
                <a:cs typeface="IBM Plex Sans" pitchFamily="34" charset="-120"/>
              </a:rPr>
              <a:t>Gaia</a:t>
            </a:r>
            <a:r>
              <a:rPr lang="en-US" sz="1300" dirty="0">
                <a:solidFill>
                  <a:srgbClr val="14201B"/>
                </a:solidFill>
                <a:latin typeface="IBM Plex Sans" pitchFamily="34" charset="0"/>
                <a:ea typeface="IBM Plex Sans" pitchFamily="34" charset="-122"/>
                <a:cs typeface="IBM Plex Sans" pitchFamily="34" charset="-120"/>
              </a:rPr>
              <a:t> attacker &amp; core</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IMARC 2025 · IBM Cost of a Data Breach 2025 · company announcements 2021–2022 · Vendr · pricing is a team hypothesis</a:t>
            </a:r>
            <a:endParaRPr lang="en-US" sz="1200" dirty="0"/>
          </a:p>
        </p:txBody>
      </p:sp>
    </p:spTree>
  </p:cSld>
  <p:clrMapOvr>
    <a:masterClrMapping/>
  </p:clrMapOvr>
</p:sld>
</file>

<file path=ppt/theme/theme1.xml><?xml version="1.0" encoding="utf-8"?>
<a:theme xmlns:a="http://schemas.openxmlformats.org/drawingml/2006/main" name="MIRAGE_pitch_5min">
  <a:themeElements>
    <a:clrScheme name="MIRAGE_pitch_5min">
      <a:dk1>
        <a:srgbClr val="14201B"/>
      </a:dk1>
      <a:lt1>
        <a:srgbClr val="F4F6F2"/>
      </a:lt1>
      <a:dk2>
        <a:srgbClr val="4C5651"/>
      </a:dk2>
      <a:lt2>
        <a:srgbClr val="DEE1DD"/>
      </a:lt2>
      <a:accent1>
        <a:srgbClr val="1E7A4F"/>
      </a:accent1>
      <a:accent2>
        <a:srgbClr val="7BE0A0"/>
      </a:accent2>
      <a:accent3>
        <a:srgbClr val="3E4A44"/>
      </a:accent3>
      <a:accent4>
        <a:srgbClr val="BFD3C8"/>
      </a:accent4>
      <a:accent5>
        <a:srgbClr val="9DB3A8"/>
      </a:accent5>
      <a:accent6>
        <a:srgbClr val="5F6B65"/>
      </a:accent6>
      <a:hlink>
        <a:srgbClr val="0563C1"/>
      </a:hlink>
      <a:folHlink>
        <a:srgbClr val="954F72"/>
      </a:folHlink>
    </a:clrScheme>
    <a:fontScheme name="MIRAGE_pitch_5mi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MIRAGE_pitch_5min</dc:title>
  <dc:subject/>
  <dc:creator/>
  <cp:lastModifiedBy/>
  <cp:revision>1</cp:revision>
  <dcterms:created xsi:type="dcterms:W3CDTF">2026-10-11T10:21:54Z</dcterms:created>
  <dcterms:modified xsi:type="dcterms:W3CDTF">2026-10-11T10:21:54Z</dcterms:modified>
</cp:coreProperties>
</file>