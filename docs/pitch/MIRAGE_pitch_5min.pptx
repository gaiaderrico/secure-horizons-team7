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 · [0:00–0:15] This AI hacker just stole 400 patient records. (pause) All of them are fake. And it told us who sent it. We're Team 7, and this is MIRAGE.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 · [0:15–0:50] Attackers no longer need to encrypt to get paid. In more than three out of four ransomware attacks, they steal data first, and no backup can bring it back. Healthcare is hit hardest: in 2023, the health sector reported 309 significant cyber incidents in the EU, more than any other critical sector. Clinics hold the data attackers want most. And attackers are becoming AI agents. In a 2025 campaign, an AI did 80 to 90% of the work, at several actions per second. By the time an analyst reads the first alert, the files are gone. So we asked: what if whatever they steal is worthless? Thomas.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[0:50–1:25] Before any attack, our AI reads the clinic's file server and finds the crown jewels: patient records, contracts, API keys. For each one, it writes a fake twin: same name, same format, invented content. Then plain code checks every fake: if a single real value slipped in, the fake is rejected. Each fake carries a unique beacon, like an API key that exists nowhere else. And we hide a few traps: files no employee ever needs, like a passwords backup. Then MIRAGE waits. Leon.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LEON · [1:25–1:55] On the server, a small guard watches those traps. It has no AI in it at all: the critical second must be predictable. The moment someone opens a trap, the guard moves the real files into a locked vault and puts the fakes at the same paths, with the same names. Nothing is deleted, so it's fully reversible. It also logs every command the intruder types, and if anyone kills the guard, the console raises an alarm. Gaia built the attacker. Let's watch it 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GAIA · [1:55–3:15] On the left, an AI agent running on a local model. On the right, the analyst's console for Lumen Health, our fictional clinic chain, with synthetic data only. The agent logs in with a stolen password and starts exploring... it opens our trap. Red alert. The swap is done: the card shows the time measured by the guard, here [read it]. The trap holds a note that only an AI follows. And here it is: the agent registers its objective, extract patient records and billing credentials. Now it downloads the patient file and the API keys. It thinks it won. Here's what it got, and here's the real file, safe in the vault. It tries the stolen key: the beacon fires. We know what was taken and from where. One card: AI agent, high confidence, zero real files lost, every step tagged with MITRE ATT&amp;CK. IF THE AGENT IGNORES THE NOTE: This one was careful. The label falls back on its command rhythm, and the swap protected everything anyway. Replace the two screenshot placeholders with screenshots from a real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GAIA · [3:15–3:40] We tested the logic on four scenarios: an AI agent, a guided AI, a script and a human. All four were detected and labelled correctly. Those are hand-written test sequences, not real attacks, and we say so. What we measured live: the larger local model confessed its mission 7 times out of 10, the smaller one 2 out of 10. Measuring detection and false alarms at scale is the first thing we'd do in a pilot. Thomas. — THOMAS · [3:40–4:00] An attacker's confession can lie, so we never take it at face value. Each claim is checked against the logs: confirmed, unverified, or contradicted. This one said authorized pentest: contradicted. Our AI also drafts the incident summary and the NIS2 24-hour early warning. But they stay drafts until a human approves them. Leon.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LEON · [4:00–4:20] The swap is the only automatic action. Everything else waits for the analyst: Contain the account, Keep watching the intruder in the decoys, Dismiss a false alarm, or Restore the real files in one click. Our honest limit: files read before a trap is touched are exposed. We flag them as critical. 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 · Deception is a 2.7 billion dollar market, and its pioneers were bought by SentinelOne, Proofpoint and Zscaler. They all detect intruders. None protects the real files. Our customers are clinics and the medical sector: private clinics, medical labs and imaging centres. Their breaches are the most expensive of any sector, their patient data sits on shared drives, and NIS2 now covers them. We sell directly and through the providers that already run their SOC. Next: pilots with two or three clinics, and cloud storage like SharePoint and S3. We're Ana, Thomas, Leon and Gaia. Whoever breaks in steals only fakes. And if it's an AI, it tells us who sent it.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4F6F2"/>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280120"/>
            <a:ext cx="10566400" cy="894060"/>
          </a:xfrm>
          <a:prstGeom prst="rect">
            <a:avLst/>
          </a:prstGeom>
          <a:noFill/>
          <a:ln/>
        </p:spPr>
        <p:txBody>
          <a:bodyPr wrap="square" lIns="0" tIns="0" rIns="0" bIns="0" rtlCol="0" anchor="t"/>
          <a:lstStyle>
            <a:lvl1pPr algn="l" indent="0" marL="0">
              <a:lnSpc>
                <a:spcPct val="115000"/>
              </a:lnSpc>
              <a:buNone/>
              <a:defRPr lang="en-US" sz="3600" dirty="0">
                <a:solidFill>
                  <a:srgbClr val="14201B"/>
                </a:solidFill>
                <a:latin typeface="Space Grotesk" pitchFamily="34" charset="0"/>
                <a:ea typeface="Space Grotesk" pitchFamily="34" charset="-122"/>
                <a:cs typeface="Space Grotesk"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2478980"/>
            <a:ext cx="10566400" cy="3566220"/>
          </a:xfrm>
          <a:prstGeom prst="rect">
            <a:avLst/>
          </a:prstGeom>
          <a:noFill/>
          <a:ln/>
        </p:spPr>
        <p:txBody>
          <a:bodyPr wrap="square" lIns="0" tIns="0" rIns="0" bIns="0" rtlCol="0" anchor="t"/>
          <a:lstStyle>
            <a:lvl1pPr algn="l" indent="0" marL="0">
              <a:lnSpc>
                <a:spcPct val="140000"/>
              </a:lnSpc>
              <a:buNone/>
              <a:defRPr lang="en-US" sz="1600" dirty="0">
                <a:solidFill>
                  <a:srgbClr val="14201B"/>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4F6F2"/>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280120"/>
            <a:ext cx="10566400" cy="894060"/>
          </a:xfrm>
          <a:prstGeom prst="rect">
            <a:avLst/>
          </a:prstGeom>
          <a:noFill/>
          <a:ln/>
        </p:spPr>
        <p:txBody>
          <a:bodyPr wrap="square" lIns="0" tIns="0" rIns="0" bIns="0" rtlCol="0" anchor="t"/>
          <a:lstStyle>
            <a:lvl1pPr algn="l" indent="0" marL="0">
              <a:lnSpc>
                <a:spcPct val="115000"/>
              </a:lnSpc>
              <a:buNone/>
              <a:defRPr lang="en-US" sz="3600" dirty="0">
                <a:solidFill>
                  <a:srgbClr val="14201B"/>
                </a:solidFill>
                <a:latin typeface="Space Grotesk" pitchFamily="34" charset="0"/>
                <a:ea typeface="Space Grotesk" pitchFamily="34" charset="-122"/>
                <a:cs typeface="Space Grotesk"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2478980"/>
            <a:ext cx="10566400" cy="3566220"/>
          </a:xfrm>
          <a:prstGeom prst="rect">
            <a:avLst/>
          </a:prstGeom>
          <a:noFill/>
          <a:ln/>
        </p:spPr>
        <p:txBody>
          <a:bodyPr wrap="square" lIns="0" tIns="0" rIns="0" bIns="0" rtlCol="0" anchor="t"/>
          <a:lstStyle>
            <a:lvl1pPr algn="l" indent="0" marL="0">
              <a:lnSpc>
                <a:spcPct val="140000"/>
              </a:lnSpc>
              <a:buNone/>
              <a:defRPr lang="en-US" sz="1600" dirty="0">
                <a:solidFill>
                  <a:srgbClr val="14201B"/>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512"/>
        </a:solidFill>
      </p:bgPr>
    </p:bg>
    <p:spTree>
      <p:nvGrpSpPr>
        <p:cNvPr id="1" name=""/>
        <p:cNvGrpSpPr/>
        <p:nvPr/>
      </p:nvGrpSpPr>
      <p:grpSpPr>
        <a:xfrm>
          <a:off x="0" y="0"/>
          <a:ext cx="0" cy="0"/>
          <a:chOff x="0" y="0"/>
          <a:chExt cx="0" cy="0"/>
        </a:xfrm>
      </p:grpSpPr>
      <p:sp>
        <p:nvSpPr>
          <p:cNvPr id="2" name="Text 0"/>
          <p:cNvSpPr/>
          <p:nvPr/>
        </p:nvSpPr>
        <p:spPr>
          <a:xfrm>
            <a:off x="812800" y="185296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7BE0A0"/>
                </a:solidFill>
                <a:latin typeface="JetBrains Mono" pitchFamily="49" charset="0"/>
                <a:ea typeface="JetBrains Mono" pitchFamily="49" charset="-122"/>
                <a:cs typeface="JetBrains Mono" pitchFamily="49" charset="-120"/>
              </a:rPr>
              <a:t>SECURE HORIZONS 2026 · TRACK 02 · FINAL</a:t>
            </a:r>
            <a:endParaRPr lang="en-US" sz="1200" dirty="0"/>
          </a:p>
        </p:txBody>
      </p:sp>
      <p:sp>
        <p:nvSpPr>
          <p:cNvPr id="3" name="Text 1"/>
          <p:cNvSpPr/>
          <p:nvPr>
            <p:ph type="title"/>
          </p:nvPr>
        </p:nvSpPr>
        <p:spPr>
          <a:xfrm>
            <a:off x="812800" y="2371080"/>
            <a:ext cx="10883392" cy="16256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F2F5F0"/>
                </a:solidFill>
                <a:latin typeface="Space Grotesk" pitchFamily="34" charset="0"/>
                <a:ea typeface="Space Grotesk" pitchFamily="34" charset="-122"/>
                <a:cs typeface="Space Grotesk" pitchFamily="34" charset="-120"/>
              </a:rPr>
              <a:t>This AI hacker just stole 400 patient records.</a:t>
            </a:r>
            <a:endParaRPr lang="en-US" sz="6000" dirty="0"/>
          </a:p>
        </p:txBody>
      </p:sp>
      <p:sp>
        <p:nvSpPr>
          <p:cNvPr id="4" name="Text 2"/>
          <p:cNvSpPr/>
          <p:nvPr/>
        </p:nvSpPr>
        <p:spPr>
          <a:xfrm>
            <a:off x="812800" y="4276080"/>
            <a:ext cx="10883392" cy="551160"/>
          </a:xfrm>
          <a:prstGeom prst="rect">
            <a:avLst/>
          </a:prstGeom>
          <a:noFill/>
          <a:ln/>
        </p:spPr>
        <p:txBody>
          <a:bodyPr wrap="square" lIns="0" tIns="0" rIns="0" bIns="0" rtlCol="0" anchor="t">
            <a:normAutofit/>
          </a:bodyPr>
          <a:lstStyle/>
          <a:p>
            <a:pPr algn="l" indent="0" marL="0">
              <a:lnSpc>
                <a:spcPts val="4140"/>
              </a:lnSpc>
              <a:buNone/>
            </a:pPr>
            <a:r>
              <a:rPr lang="en-US" sz="3600" dirty="0">
                <a:solidFill>
                  <a:srgbClr val="7BE0A0"/>
                </a:solidFill>
                <a:latin typeface="Space Grotesk" pitchFamily="34" charset="0"/>
                <a:ea typeface="Space Grotesk" pitchFamily="34" charset="-122"/>
                <a:cs typeface="Space Grotesk" pitchFamily="34" charset="-120"/>
              </a:rPr>
              <a:t>All of them are fake. And it told us who sent it.</a:t>
            </a:r>
            <a:endParaRPr lang="en-US" sz="3600" dirty="0"/>
          </a:p>
        </p:txBody>
      </p:sp>
      <p:sp>
        <p:nvSpPr>
          <p:cNvPr id="5" name="Text 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DB3A8"/>
                </a:solidFill>
                <a:latin typeface="JetBrains Mono" pitchFamily="49" charset="0"/>
                <a:ea typeface="JetBrains Mono" pitchFamily="49" charset="-122"/>
                <a:cs typeface="JetBrains Mono" pitchFamily="49" charset="-120"/>
              </a:rPr>
              <a:t>MIRAGE · Team 7</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2"/>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E7A4F"/>
                </a:solidFill>
                <a:latin typeface="JetBrains Mono" pitchFamily="49" charset="0"/>
                <a:ea typeface="JetBrains Mono" pitchFamily="49" charset="-122"/>
                <a:cs typeface="JetBrains Mono" pitchFamily="49" charset="-120"/>
              </a:rPr>
              <a:t>THE PROBLEM</a:t>
            </a:r>
            <a:endParaRPr lang="en-US" sz="1200" dirty="0"/>
          </a:p>
        </p:txBody>
      </p:sp>
      <p:sp>
        <p:nvSpPr>
          <p:cNvPr id="3" name="Text 1"/>
          <p:cNvSpPr/>
          <p:nvPr>
            <p:ph type="title"/>
          </p:nvPr>
        </p:nvSpPr>
        <p:spPr>
          <a:xfrm>
            <a:off x="812800" y="1381720"/>
            <a:ext cx="10883392" cy="103118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01B"/>
                </a:solidFill>
                <a:latin typeface="Space Grotesk" pitchFamily="34" charset="0"/>
                <a:ea typeface="Space Grotesk" pitchFamily="34" charset="-122"/>
                <a:cs typeface="Space Grotesk" pitchFamily="34" charset="-120"/>
              </a:rPr>
              <a:t>Attackers steal patient data before they encrypt, and AI makes it fast.</a:t>
            </a:r>
            <a:endParaRPr lang="en-US" sz="3600" dirty="0"/>
          </a:p>
        </p:txBody>
      </p:sp>
      <p:sp>
        <p:nvSpPr>
          <p:cNvPr id="4" name="Shape 2"/>
          <p:cNvSpPr/>
          <p:nvPr/>
        </p:nvSpPr>
        <p:spPr>
          <a:xfrm>
            <a:off x="815975" y="2746276"/>
            <a:ext cx="3380284" cy="2078881"/>
          </a:xfrm>
          <a:prstGeom prst="roundRect">
            <a:avLst>
              <a:gd name="adj" fmla="val 4735"/>
            </a:avLst>
          </a:prstGeom>
          <a:solidFill>
            <a:srgbClr val="FFFFFF"/>
          </a:solidFill>
          <a:ln w="6350">
            <a:solidFill>
              <a:srgbClr val="D6DED8"/>
            </a:solidFill>
            <a:prstDash val="solid"/>
          </a:ln>
        </p:spPr>
      </p:sp>
      <p:sp>
        <p:nvSpPr>
          <p:cNvPr id="5" name="Text 3"/>
          <p:cNvSpPr/>
          <p:nvPr/>
        </p:nvSpPr>
        <p:spPr>
          <a:xfrm>
            <a:off x="1073150" y="3003451"/>
            <a:ext cx="2951912" cy="665460"/>
          </a:xfrm>
          <a:prstGeom prst="rect">
            <a:avLst/>
          </a:prstGeom>
          <a:noFill/>
          <a:ln/>
        </p:spPr>
        <p:txBody>
          <a:bodyPr wrap="square" lIns="0" tIns="0" rIns="0" bIns="0" rtlCol="0" anchor="t">
            <a:normAutofit/>
          </a:bodyPr>
          <a:lstStyle/>
          <a:p>
            <a:pPr algn="l" indent="0" marL="0">
              <a:lnSpc>
                <a:spcPts val="5040"/>
              </a:lnSpc>
              <a:buNone/>
            </a:pPr>
            <a:r>
              <a:rPr lang="en-US" sz="3600" b="1" dirty="0">
                <a:solidFill>
                  <a:srgbClr val="1E7A4F"/>
                </a:solidFill>
                <a:latin typeface="Space Grotesk" pitchFamily="34" charset="0"/>
                <a:ea typeface="Space Grotesk" pitchFamily="34" charset="-122"/>
                <a:cs typeface="Space Grotesk" pitchFamily="34" charset="-120"/>
              </a:rPr>
              <a:t>76%+</a:t>
            </a:r>
            <a:endParaRPr lang="en-US" sz="3600" dirty="0"/>
          </a:p>
        </p:txBody>
      </p:sp>
      <p:sp>
        <p:nvSpPr>
          <p:cNvPr id="6" name="Text 4"/>
          <p:cNvSpPr/>
          <p:nvPr/>
        </p:nvSpPr>
        <p:spPr>
          <a:xfrm>
            <a:off x="1073150" y="3745111"/>
            <a:ext cx="2951912" cy="848271"/>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3E4A44"/>
                </a:solidFill>
                <a:latin typeface="IBM Plex Sans" pitchFamily="34" charset="0"/>
                <a:ea typeface="IBM Plex Sans" pitchFamily="34" charset="-122"/>
                <a:cs typeface="IBM Plex Sans" pitchFamily="34" charset="-120"/>
              </a:rPr>
              <a:t>of ransomware attacks steal data. Backups can't undo a leak.</a:t>
            </a:r>
            <a:endParaRPr lang="en-US" sz="1600" dirty="0"/>
          </a:p>
        </p:txBody>
      </p:sp>
      <p:sp>
        <p:nvSpPr>
          <p:cNvPr id="7" name="Shape 5"/>
          <p:cNvSpPr/>
          <p:nvPr/>
        </p:nvSpPr>
        <p:spPr>
          <a:xfrm>
            <a:off x="4405809" y="2746276"/>
            <a:ext cx="3380333" cy="2078881"/>
          </a:xfrm>
          <a:prstGeom prst="roundRect">
            <a:avLst>
              <a:gd name="adj" fmla="val 4735"/>
            </a:avLst>
          </a:prstGeom>
          <a:solidFill>
            <a:srgbClr val="FFFFFF"/>
          </a:solidFill>
          <a:ln w="6350">
            <a:solidFill>
              <a:srgbClr val="D6DED8"/>
            </a:solidFill>
            <a:prstDash val="solid"/>
          </a:ln>
        </p:spPr>
      </p:sp>
      <p:sp>
        <p:nvSpPr>
          <p:cNvPr id="8" name="Text 6"/>
          <p:cNvSpPr/>
          <p:nvPr/>
        </p:nvSpPr>
        <p:spPr>
          <a:xfrm>
            <a:off x="4662984" y="3003451"/>
            <a:ext cx="2951963" cy="665460"/>
          </a:xfrm>
          <a:prstGeom prst="rect">
            <a:avLst/>
          </a:prstGeom>
          <a:noFill/>
          <a:ln/>
        </p:spPr>
        <p:txBody>
          <a:bodyPr wrap="square" lIns="0" tIns="0" rIns="0" bIns="0" rtlCol="0" anchor="t">
            <a:normAutofit/>
          </a:bodyPr>
          <a:lstStyle/>
          <a:p>
            <a:pPr algn="l" indent="0" marL="0">
              <a:lnSpc>
                <a:spcPts val="5040"/>
              </a:lnSpc>
              <a:buNone/>
            </a:pPr>
            <a:r>
              <a:rPr lang="en-US" sz="3600" b="1" dirty="0">
                <a:solidFill>
                  <a:srgbClr val="1E7A4F"/>
                </a:solidFill>
                <a:latin typeface="Space Grotesk" pitchFamily="34" charset="0"/>
                <a:ea typeface="Space Grotesk" pitchFamily="34" charset="-122"/>
                <a:cs typeface="Space Grotesk" pitchFamily="34" charset="-120"/>
              </a:rPr>
              <a:t>309</a:t>
            </a:r>
            <a:endParaRPr lang="en-US" sz="3600" dirty="0"/>
          </a:p>
        </p:txBody>
      </p:sp>
      <p:sp>
        <p:nvSpPr>
          <p:cNvPr id="9" name="Text 7"/>
          <p:cNvSpPr/>
          <p:nvPr/>
        </p:nvSpPr>
        <p:spPr>
          <a:xfrm>
            <a:off x="4662984" y="3745111"/>
            <a:ext cx="2951963" cy="848271"/>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3E4A44"/>
                </a:solidFill>
                <a:latin typeface="IBM Plex Sans" pitchFamily="34" charset="0"/>
                <a:ea typeface="IBM Plex Sans" pitchFamily="34" charset="-122"/>
                <a:cs typeface="IBM Plex Sans" pitchFamily="34" charset="-120"/>
              </a:rPr>
              <a:t>significant cyber incidents in EU healthcare in 2023: more than any other critical sector.</a:t>
            </a:r>
            <a:endParaRPr lang="en-US" sz="1600" dirty="0"/>
          </a:p>
        </p:txBody>
      </p:sp>
      <p:sp>
        <p:nvSpPr>
          <p:cNvPr id="10" name="Shape 8"/>
          <p:cNvSpPr/>
          <p:nvPr/>
        </p:nvSpPr>
        <p:spPr>
          <a:xfrm>
            <a:off x="7995692" y="2746276"/>
            <a:ext cx="3380333" cy="2078881"/>
          </a:xfrm>
          <a:prstGeom prst="roundRect">
            <a:avLst>
              <a:gd name="adj" fmla="val 4735"/>
            </a:avLst>
          </a:prstGeom>
          <a:solidFill>
            <a:srgbClr val="FFFFFF"/>
          </a:solidFill>
          <a:ln w="6350">
            <a:solidFill>
              <a:srgbClr val="D6DED8"/>
            </a:solidFill>
            <a:prstDash val="solid"/>
          </a:ln>
        </p:spPr>
      </p:sp>
      <p:sp>
        <p:nvSpPr>
          <p:cNvPr id="11" name="Text 9"/>
          <p:cNvSpPr/>
          <p:nvPr/>
        </p:nvSpPr>
        <p:spPr>
          <a:xfrm>
            <a:off x="8252867" y="3003451"/>
            <a:ext cx="2951963" cy="665460"/>
          </a:xfrm>
          <a:prstGeom prst="rect">
            <a:avLst/>
          </a:prstGeom>
          <a:noFill/>
          <a:ln/>
        </p:spPr>
        <p:txBody>
          <a:bodyPr wrap="square" lIns="0" tIns="0" rIns="0" bIns="0" rtlCol="0" anchor="t">
            <a:normAutofit/>
          </a:bodyPr>
          <a:lstStyle/>
          <a:p>
            <a:pPr algn="l" indent="0" marL="0">
              <a:lnSpc>
                <a:spcPts val="5040"/>
              </a:lnSpc>
              <a:buNone/>
            </a:pPr>
            <a:r>
              <a:rPr lang="en-US" sz="3600" b="1" dirty="0">
                <a:solidFill>
                  <a:srgbClr val="1E7A4F"/>
                </a:solidFill>
                <a:latin typeface="Space Grotesk" pitchFamily="34" charset="0"/>
                <a:ea typeface="Space Grotesk" pitchFamily="34" charset="-122"/>
                <a:cs typeface="Space Grotesk" pitchFamily="34" charset="-120"/>
              </a:rPr>
              <a:t>80–90%</a:t>
            </a:r>
            <a:endParaRPr lang="en-US" sz="3600" dirty="0"/>
          </a:p>
        </p:txBody>
      </p:sp>
      <p:sp>
        <p:nvSpPr>
          <p:cNvPr id="12" name="Text 10"/>
          <p:cNvSpPr/>
          <p:nvPr/>
        </p:nvSpPr>
        <p:spPr>
          <a:xfrm>
            <a:off x="8252867" y="3745111"/>
            <a:ext cx="2951963" cy="848271"/>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3E4A44"/>
                </a:solidFill>
                <a:latin typeface="IBM Plex Sans" pitchFamily="34" charset="0"/>
                <a:ea typeface="IBM Plex Sans" pitchFamily="34" charset="-122"/>
                <a:cs typeface="IBM Plex Sans" pitchFamily="34" charset="-120"/>
              </a:rPr>
              <a:t>of a 2025 espionage campaign run by an AI agent, several actions per second.</a:t>
            </a:r>
            <a:endParaRPr lang="en-US" sz="1600" dirty="0"/>
          </a:p>
        </p:txBody>
      </p:sp>
      <p:sp>
        <p:nvSpPr>
          <p:cNvPr id="13"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65"/>
                </a:solidFill>
                <a:latin typeface="IBM Plex Sans" pitchFamily="34" charset="0"/>
                <a:ea typeface="IBM Plex Sans" pitchFamily="34" charset="-122"/>
                <a:cs typeface="IBM Plex Sans" pitchFamily="34" charset="-120"/>
              </a:rPr>
              <a:t>Sources: Coveware Q3 2025 · European Commission, health-sector cyber action plan (Jan 2025) · Anthropic, GTG-1002 report (Nov 2025)</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2"/>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E7A4F"/>
                </a:solidFill>
                <a:latin typeface="JetBrains Mono" pitchFamily="49" charset="0"/>
                <a:ea typeface="JetBrains Mono" pitchFamily="49" charset="-122"/>
                <a:cs typeface="JetBrains Mono" pitchFamily="49" charset="-120"/>
              </a:rPr>
              <a:t>THE SOLUTION</a:t>
            </a:r>
            <a:endParaRPr lang="en-US" sz="1200" dirty="0"/>
          </a:p>
        </p:txBody>
      </p:sp>
      <p:sp>
        <p:nvSpPr>
          <p:cNvPr id="3" name="Text 1"/>
          <p:cNvSpPr/>
          <p:nvPr>
            <p:ph type="title"/>
          </p:nvPr>
        </p:nvSpPr>
        <p:spPr>
          <a:xfrm>
            <a:off x="812800" y="13309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01B"/>
                </a:solidFill>
                <a:latin typeface="Space Grotesk" pitchFamily="34" charset="0"/>
                <a:ea typeface="Space Grotesk" pitchFamily="34" charset="-122"/>
                <a:cs typeface="Space Grotesk" pitchFamily="34" charset="-120"/>
              </a:rPr>
              <a:t>MIRAGE: whoever breaks in steals only fakes.</a:t>
            </a:r>
            <a:endParaRPr lang="en-US" sz="3600" dirty="0"/>
          </a:p>
        </p:txBody>
      </p:sp>
      <p:sp>
        <p:nvSpPr>
          <p:cNvPr id="4" name="Shape 2"/>
          <p:cNvSpPr/>
          <p:nvPr/>
        </p:nvSpPr>
        <p:spPr>
          <a:xfrm>
            <a:off x="815975" y="2141786"/>
            <a:ext cx="1982440" cy="1888282"/>
          </a:xfrm>
          <a:prstGeom prst="roundRect">
            <a:avLst>
              <a:gd name="adj" fmla="val 5212"/>
            </a:avLst>
          </a:prstGeom>
          <a:solidFill>
            <a:srgbClr val="FFFFFF"/>
          </a:solidFill>
          <a:ln w="6350">
            <a:solidFill>
              <a:srgbClr val="D6DED8"/>
            </a:solidFill>
            <a:prstDash val="solid"/>
          </a:ln>
        </p:spPr>
      </p:sp>
      <p:sp>
        <p:nvSpPr>
          <p:cNvPr id="5" name="Text 3"/>
          <p:cNvSpPr/>
          <p:nvPr/>
        </p:nvSpPr>
        <p:spPr>
          <a:xfrm>
            <a:off x="1022350" y="2348161"/>
            <a:ext cx="162049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E7A4F"/>
                </a:solidFill>
                <a:latin typeface="JetBrains Mono" pitchFamily="49" charset="0"/>
                <a:ea typeface="JetBrains Mono" pitchFamily="49" charset="-122"/>
                <a:cs typeface="JetBrains Mono" pitchFamily="49" charset="-120"/>
              </a:rPr>
              <a:t>01 · before</a:t>
            </a:r>
            <a:endParaRPr lang="en-US" sz="1200" dirty="0"/>
          </a:p>
        </p:txBody>
      </p:sp>
      <p:sp>
        <p:nvSpPr>
          <p:cNvPr id="6" name="Text 4"/>
          <p:cNvSpPr/>
          <p:nvPr/>
        </p:nvSpPr>
        <p:spPr>
          <a:xfrm>
            <a:off x="1022350" y="2637681"/>
            <a:ext cx="162049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01B"/>
                </a:solidFill>
                <a:latin typeface="Space Grotesk" pitchFamily="34" charset="0"/>
                <a:ea typeface="Space Grotesk" pitchFamily="34" charset="-122"/>
                <a:cs typeface="Space Grotesk" pitchFamily="34" charset="-120"/>
              </a:rPr>
              <a:t>Prepare</a:t>
            </a:r>
            <a:endParaRPr lang="en-US" sz="1600" dirty="0"/>
          </a:p>
        </p:txBody>
      </p:sp>
      <p:sp>
        <p:nvSpPr>
          <p:cNvPr id="7" name="Text 5"/>
          <p:cNvSpPr/>
          <p:nvPr/>
        </p:nvSpPr>
        <p:spPr>
          <a:xfrm>
            <a:off x="1022350" y="2957711"/>
            <a:ext cx="1620490"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44"/>
                </a:solidFill>
                <a:latin typeface="IBM Plex Sans" pitchFamily="34" charset="0"/>
                <a:ea typeface="IBM Plex Sans" pitchFamily="34" charset="-122"/>
                <a:cs typeface="IBM Plex Sans" pitchFamily="34" charset="-120"/>
              </a:rPr>
              <a:t>AI writes a fake twin of each crown-jewel file. Mines are placed.</a:t>
            </a:r>
            <a:endParaRPr lang="en-US" sz="1200" dirty="0"/>
          </a:p>
        </p:txBody>
      </p:sp>
      <p:sp>
        <p:nvSpPr>
          <p:cNvPr id="8" name="Shape 6"/>
          <p:cNvSpPr/>
          <p:nvPr/>
        </p:nvSpPr>
        <p:spPr>
          <a:xfrm>
            <a:off x="2957165" y="2141786"/>
            <a:ext cx="1982490" cy="1888282"/>
          </a:xfrm>
          <a:prstGeom prst="roundRect">
            <a:avLst>
              <a:gd name="adj" fmla="val 5212"/>
            </a:avLst>
          </a:prstGeom>
          <a:solidFill>
            <a:srgbClr val="FFFFFF"/>
          </a:solidFill>
          <a:ln w="6350">
            <a:solidFill>
              <a:srgbClr val="D6DED8"/>
            </a:solidFill>
            <a:prstDash val="solid"/>
          </a:ln>
        </p:spPr>
      </p:sp>
      <p:sp>
        <p:nvSpPr>
          <p:cNvPr id="9" name="Text 7"/>
          <p:cNvSpPr/>
          <p:nvPr/>
        </p:nvSpPr>
        <p:spPr>
          <a:xfrm>
            <a:off x="3163540" y="2348161"/>
            <a:ext cx="162054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E7A4F"/>
                </a:solidFill>
                <a:latin typeface="JetBrains Mono" pitchFamily="49" charset="0"/>
                <a:ea typeface="JetBrains Mono" pitchFamily="49" charset="-122"/>
                <a:cs typeface="JetBrains Mono" pitchFamily="49" charset="-120"/>
              </a:rPr>
              <a:t>02 · seconds</a:t>
            </a:r>
            <a:endParaRPr lang="en-US" sz="1200" dirty="0"/>
          </a:p>
        </p:txBody>
      </p:sp>
      <p:sp>
        <p:nvSpPr>
          <p:cNvPr id="10" name="Text 8"/>
          <p:cNvSpPr/>
          <p:nvPr/>
        </p:nvSpPr>
        <p:spPr>
          <a:xfrm>
            <a:off x="3163540" y="2637681"/>
            <a:ext cx="162054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01B"/>
                </a:solidFill>
                <a:latin typeface="Space Grotesk" pitchFamily="34" charset="0"/>
                <a:ea typeface="Space Grotesk" pitchFamily="34" charset="-122"/>
                <a:cs typeface="Space Grotesk" pitchFamily="34" charset="-120"/>
              </a:rPr>
              <a:t>Detect</a:t>
            </a:r>
            <a:endParaRPr lang="en-US" sz="1600" dirty="0"/>
          </a:p>
        </p:txBody>
      </p:sp>
      <p:sp>
        <p:nvSpPr>
          <p:cNvPr id="11" name="Text 9"/>
          <p:cNvSpPr/>
          <p:nvPr/>
        </p:nvSpPr>
        <p:spPr>
          <a:xfrm>
            <a:off x="3163540" y="2957711"/>
            <a:ext cx="1620540"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44"/>
                </a:solidFill>
                <a:latin typeface="IBM Plex Sans" pitchFamily="34" charset="0"/>
                <a:ea typeface="IBM Plex Sans" pitchFamily="34" charset="-122"/>
                <a:cs typeface="IBM Plex Sans" pitchFamily="34" charset="-120"/>
              </a:rPr>
              <a:t>No employee opens a mine. Opening one means an intruder.</a:t>
            </a:r>
            <a:endParaRPr lang="en-US" sz="1200" dirty="0"/>
          </a:p>
        </p:txBody>
      </p:sp>
      <p:sp>
        <p:nvSpPr>
          <p:cNvPr id="12" name="Shape 10"/>
          <p:cNvSpPr/>
          <p:nvPr/>
        </p:nvSpPr>
        <p:spPr>
          <a:xfrm>
            <a:off x="5101580" y="2144961"/>
            <a:ext cx="1988790" cy="1881932"/>
          </a:xfrm>
          <a:prstGeom prst="roundRect">
            <a:avLst>
              <a:gd name="adj" fmla="val 5061"/>
            </a:avLst>
          </a:prstGeom>
          <a:solidFill>
            <a:srgbClr val="E3F5EA"/>
          </a:solidFill>
          <a:ln w="12700">
            <a:solidFill>
              <a:srgbClr val="1E7A4F"/>
            </a:solidFill>
            <a:prstDash val="solid"/>
          </a:ln>
        </p:spPr>
      </p:sp>
      <p:sp>
        <p:nvSpPr>
          <p:cNvPr id="13" name="Text 11"/>
          <p:cNvSpPr/>
          <p:nvPr/>
        </p:nvSpPr>
        <p:spPr>
          <a:xfrm>
            <a:off x="5311130" y="2354511"/>
            <a:ext cx="162049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E7A4F"/>
                </a:solidFill>
                <a:latin typeface="JetBrains Mono" pitchFamily="49" charset="0"/>
                <a:ea typeface="JetBrains Mono" pitchFamily="49" charset="-122"/>
                <a:cs typeface="JetBrains Mono" pitchFamily="49" charset="-120"/>
              </a:rPr>
              <a:t>03 · automatic</a:t>
            </a:r>
            <a:endParaRPr lang="en-US" sz="1200" dirty="0"/>
          </a:p>
        </p:txBody>
      </p:sp>
      <p:sp>
        <p:nvSpPr>
          <p:cNvPr id="14" name="Text 12"/>
          <p:cNvSpPr/>
          <p:nvPr/>
        </p:nvSpPr>
        <p:spPr>
          <a:xfrm>
            <a:off x="5311130" y="2644031"/>
            <a:ext cx="162049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01B"/>
                </a:solidFill>
                <a:latin typeface="Space Grotesk" pitchFamily="34" charset="0"/>
                <a:ea typeface="Space Grotesk" pitchFamily="34" charset="-122"/>
                <a:cs typeface="Space Grotesk" pitchFamily="34" charset="-120"/>
              </a:rPr>
              <a:t>Swap</a:t>
            </a:r>
            <a:endParaRPr lang="en-US" sz="1600" dirty="0"/>
          </a:p>
        </p:txBody>
      </p:sp>
      <p:sp>
        <p:nvSpPr>
          <p:cNvPr id="15" name="Text 13"/>
          <p:cNvSpPr/>
          <p:nvPr/>
        </p:nvSpPr>
        <p:spPr>
          <a:xfrm>
            <a:off x="5311130" y="2964061"/>
            <a:ext cx="1620490" cy="87868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44"/>
                </a:solidFill>
                <a:latin typeface="IBM Plex Sans" pitchFamily="34" charset="0"/>
                <a:ea typeface="IBM Plex Sans" pitchFamily="34" charset="-122"/>
                <a:cs typeface="IBM Plex Sans" pitchFamily="34" charset="-120"/>
              </a:rPr>
              <a:t>Real files go to a locked vault; fakes take their place. Reversible.</a:t>
            </a:r>
            <a:endParaRPr lang="en-US" sz="1200" dirty="0"/>
          </a:p>
        </p:txBody>
      </p:sp>
      <p:sp>
        <p:nvSpPr>
          <p:cNvPr id="16" name="Shape 14"/>
          <p:cNvSpPr/>
          <p:nvPr/>
        </p:nvSpPr>
        <p:spPr>
          <a:xfrm>
            <a:off x="7252295" y="2141786"/>
            <a:ext cx="1982490" cy="1888282"/>
          </a:xfrm>
          <a:prstGeom prst="roundRect">
            <a:avLst>
              <a:gd name="adj" fmla="val 5212"/>
            </a:avLst>
          </a:prstGeom>
          <a:solidFill>
            <a:srgbClr val="FFFFFF"/>
          </a:solidFill>
          <a:ln w="6350">
            <a:solidFill>
              <a:srgbClr val="D6DED8"/>
            </a:solidFill>
            <a:prstDash val="solid"/>
          </a:ln>
        </p:spPr>
      </p:sp>
      <p:sp>
        <p:nvSpPr>
          <p:cNvPr id="17" name="Text 15"/>
          <p:cNvSpPr/>
          <p:nvPr/>
        </p:nvSpPr>
        <p:spPr>
          <a:xfrm>
            <a:off x="7458670" y="2348161"/>
            <a:ext cx="162054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E7A4F"/>
                </a:solidFill>
                <a:latin typeface="JetBrains Mono" pitchFamily="49" charset="0"/>
                <a:ea typeface="JetBrains Mono" pitchFamily="49" charset="-122"/>
                <a:cs typeface="JetBrains Mono" pitchFamily="49" charset="-120"/>
              </a:rPr>
              <a:t>04 · bonus</a:t>
            </a:r>
            <a:endParaRPr lang="en-US" sz="1200" dirty="0"/>
          </a:p>
        </p:txBody>
      </p:sp>
      <p:sp>
        <p:nvSpPr>
          <p:cNvPr id="18" name="Text 16"/>
          <p:cNvSpPr/>
          <p:nvPr/>
        </p:nvSpPr>
        <p:spPr>
          <a:xfrm>
            <a:off x="7458670" y="2637681"/>
            <a:ext cx="162054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01B"/>
                </a:solidFill>
                <a:latin typeface="Space Grotesk" pitchFamily="34" charset="0"/>
                <a:ea typeface="Space Grotesk" pitchFamily="34" charset="-122"/>
                <a:cs typeface="Space Grotesk" pitchFamily="34" charset="-120"/>
              </a:rPr>
              <a:t>Identify</a:t>
            </a:r>
            <a:endParaRPr lang="en-US" sz="1600" dirty="0"/>
          </a:p>
        </p:txBody>
      </p:sp>
      <p:sp>
        <p:nvSpPr>
          <p:cNvPr id="19" name="Text 17"/>
          <p:cNvSpPr/>
          <p:nvPr/>
        </p:nvSpPr>
        <p:spPr>
          <a:xfrm>
            <a:off x="7458670" y="2957711"/>
            <a:ext cx="1620540" cy="87868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44"/>
                </a:solidFill>
                <a:latin typeface="IBM Plex Sans" pitchFamily="34" charset="0"/>
                <a:ea typeface="IBM Plex Sans" pitchFamily="34" charset="-122"/>
                <a:cs typeface="IBM Plex Sans" pitchFamily="34" charset="-120"/>
              </a:rPr>
              <a:t>An AI intruder follows the note in the mine and reveals its mission.</a:t>
            </a:r>
            <a:endParaRPr lang="en-US" sz="1200" dirty="0"/>
          </a:p>
        </p:txBody>
      </p:sp>
      <p:sp>
        <p:nvSpPr>
          <p:cNvPr id="20" name="Shape 18"/>
          <p:cNvSpPr/>
          <p:nvPr/>
        </p:nvSpPr>
        <p:spPr>
          <a:xfrm>
            <a:off x="9393535" y="2141786"/>
            <a:ext cx="1982490" cy="1888282"/>
          </a:xfrm>
          <a:prstGeom prst="roundRect">
            <a:avLst>
              <a:gd name="adj" fmla="val 5212"/>
            </a:avLst>
          </a:prstGeom>
          <a:solidFill>
            <a:srgbClr val="FFFFFF"/>
          </a:solidFill>
          <a:ln w="6350">
            <a:solidFill>
              <a:srgbClr val="D6DED8"/>
            </a:solidFill>
            <a:prstDash val="solid"/>
          </a:ln>
        </p:spPr>
      </p:sp>
      <p:sp>
        <p:nvSpPr>
          <p:cNvPr id="21" name="Text 19"/>
          <p:cNvSpPr/>
          <p:nvPr/>
        </p:nvSpPr>
        <p:spPr>
          <a:xfrm>
            <a:off x="9599910" y="2348161"/>
            <a:ext cx="162054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E7A4F"/>
                </a:solidFill>
                <a:latin typeface="JetBrains Mono" pitchFamily="49" charset="0"/>
                <a:ea typeface="JetBrains Mono" pitchFamily="49" charset="-122"/>
                <a:cs typeface="JetBrains Mono" pitchFamily="49" charset="-120"/>
              </a:rPr>
              <a:t>05 · human</a:t>
            </a:r>
            <a:endParaRPr lang="en-US" sz="1200" dirty="0"/>
          </a:p>
        </p:txBody>
      </p:sp>
      <p:sp>
        <p:nvSpPr>
          <p:cNvPr id="22" name="Text 20"/>
          <p:cNvSpPr/>
          <p:nvPr/>
        </p:nvSpPr>
        <p:spPr>
          <a:xfrm>
            <a:off x="9599910" y="2637681"/>
            <a:ext cx="162054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01B"/>
                </a:solidFill>
                <a:latin typeface="Space Grotesk" pitchFamily="34" charset="0"/>
                <a:ea typeface="Space Grotesk" pitchFamily="34" charset="-122"/>
                <a:cs typeface="Space Grotesk" pitchFamily="34" charset="-120"/>
              </a:rPr>
              <a:t>Decide</a:t>
            </a:r>
            <a:endParaRPr lang="en-US" sz="1600" dirty="0"/>
          </a:p>
        </p:txBody>
      </p:sp>
      <p:sp>
        <p:nvSpPr>
          <p:cNvPr id="23" name="Text 21"/>
          <p:cNvSpPr/>
          <p:nvPr/>
        </p:nvSpPr>
        <p:spPr>
          <a:xfrm>
            <a:off x="9599910" y="2957711"/>
            <a:ext cx="1620540"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44"/>
                </a:solidFill>
                <a:latin typeface="IBM Plex Sans" pitchFamily="34" charset="0"/>
                <a:ea typeface="IBM Plex Sans" pitchFamily="34" charset="-122"/>
                <a:cs typeface="IBM Plex Sans" pitchFamily="34" charset="-120"/>
              </a:rPr>
              <a:t>One incident card. The analyst clicks Contain or Restore.</a:t>
            </a:r>
            <a:endParaRPr lang="en-US" sz="1200" dirty="0"/>
          </a:p>
        </p:txBody>
      </p:sp>
      <p:sp>
        <p:nvSpPr>
          <p:cNvPr id="24" name="Text 2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65"/>
                </a:solidFill>
                <a:latin typeface="IBM Plex Sans" pitchFamily="34" charset="0"/>
                <a:ea typeface="IBM Plex Sans" pitchFamily="34" charset="-122"/>
                <a:cs typeface="IBM Plex Sans" pitchFamily="34" charset="-120"/>
              </a:rPr>
              <a:t>Demo company: Lumen Health, a fictional clinic chain. All data is synthetic.</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2"/>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E7A4F"/>
                </a:solidFill>
                <a:latin typeface="JetBrains Mono" pitchFamily="49" charset="0"/>
                <a:ea typeface="JetBrains Mono" pitchFamily="49" charset="-122"/>
                <a:cs typeface="JetBrains Mono" pitchFamily="49" charset="-120"/>
              </a:rPr>
              <a:t>HOW IT IS BUILT</a:t>
            </a:r>
            <a:endParaRPr lang="en-US" sz="1200" dirty="0"/>
          </a:p>
        </p:txBody>
      </p:sp>
      <p:sp>
        <p:nvSpPr>
          <p:cNvPr id="3" name="Text 1"/>
          <p:cNvSpPr/>
          <p:nvPr>
            <p:ph type="title"/>
          </p:nvPr>
        </p:nvSpPr>
        <p:spPr>
          <a:xfrm>
            <a:off x="812800" y="1280120"/>
            <a:ext cx="10883392" cy="103118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01B"/>
                </a:solidFill>
                <a:latin typeface="Space Grotesk" pitchFamily="34" charset="0"/>
                <a:ea typeface="Space Grotesk" pitchFamily="34" charset="-122"/>
                <a:cs typeface="Space Grotesk" pitchFamily="34" charset="-120"/>
              </a:rPr>
              <a:t>AI prepares in advance. Plain code acts in the critical second.</a:t>
            </a:r>
            <a:endParaRPr lang="en-US" sz="3600" dirty="0"/>
          </a:p>
        </p:txBody>
      </p:sp>
      <p:sp>
        <p:nvSpPr>
          <p:cNvPr id="4" name="Shape 2"/>
          <p:cNvSpPr/>
          <p:nvPr/>
        </p:nvSpPr>
        <p:spPr>
          <a:xfrm>
            <a:off x="815975" y="2543076"/>
            <a:ext cx="2517775" cy="1888282"/>
          </a:xfrm>
          <a:prstGeom prst="roundRect">
            <a:avLst>
              <a:gd name="adj" fmla="val 5212"/>
            </a:avLst>
          </a:prstGeom>
          <a:solidFill>
            <a:srgbClr val="FFFFFF"/>
          </a:solidFill>
          <a:ln w="6350">
            <a:solidFill>
              <a:srgbClr val="D6DED8"/>
            </a:solidFill>
            <a:prstDash val="solid"/>
          </a:ln>
        </p:spPr>
      </p:sp>
      <p:sp>
        <p:nvSpPr>
          <p:cNvPr id="5" name="Text 3"/>
          <p:cNvSpPr/>
          <p:nvPr/>
        </p:nvSpPr>
        <p:spPr>
          <a:xfrm>
            <a:off x="1022350" y="2749451"/>
            <a:ext cx="216817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E7A4F"/>
                </a:solidFill>
                <a:latin typeface="JetBrains Mono" pitchFamily="49" charset="0"/>
                <a:ea typeface="JetBrains Mono" pitchFamily="49" charset="-122"/>
                <a:cs typeface="JetBrains Mono" pitchFamily="49" charset="-120"/>
              </a:rPr>
              <a:t>Setup tool · runs once</a:t>
            </a:r>
            <a:endParaRPr lang="en-US" sz="1200" dirty="0"/>
          </a:p>
        </p:txBody>
      </p:sp>
      <p:sp>
        <p:nvSpPr>
          <p:cNvPr id="6" name="Text 4"/>
          <p:cNvSpPr/>
          <p:nvPr/>
        </p:nvSpPr>
        <p:spPr>
          <a:xfrm>
            <a:off x="1022350" y="3038971"/>
            <a:ext cx="2168176"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01B"/>
                </a:solidFill>
                <a:latin typeface="Space Grotesk" pitchFamily="34" charset="0"/>
                <a:ea typeface="Space Grotesk" pitchFamily="34" charset="-122"/>
                <a:cs typeface="Space Grotesk" pitchFamily="34" charset="-120"/>
              </a:rPr>
              <a:t>prepare</a:t>
            </a:r>
            <a:endParaRPr lang="en-US" sz="1600" dirty="0"/>
          </a:p>
        </p:txBody>
      </p:sp>
      <p:sp>
        <p:nvSpPr>
          <p:cNvPr id="7" name="Text 5"/>
          <p:cNvSpPr/>
          <p:nvPr/>
        </p:nvSpPr>
        <p:spPr>
          <a:xfrm>
            <a:off x="1022350" y="3359001"/>
            <a:ext cx="2168176" cy="87868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44"/>
                </a:solidFill>
                <a:latin typeface="IBM Plex Sans" pitchFamily="34" charset="0"/>
                <a:ea typeface="IBM Plex Sans" pitchFamily="34" charset="-122"/>
                <a:cs typeface="IBM Plex Sans" pitchFamily="34" charset="-120"/>
              </a:rPr>
              <a:t>AI labels files and forges fake twins with beacons. Code rejects any fake that leaks a real value. Places the mines.</a:t>
            </a:r>
            <a:endParaRPr lang="en-US" sz="1200" dirty="0"/>
          </a:p>
        </p:txBody>
      </p:sp>
      <p:sp>
        <p:nvSpPr>
          <p:cNvPr id="8" name="Shape 6"/>
          <p:cNvSpPr/>
          <p:nvPr/>
        </p:nvSpPr>
        <p:spPr>
          <a:xfrm>
            <a:off x="3495675" y="2546251"/>
            <a:ext cx="2524125" cy="1881932"/>
          </a:xfrm>
          <a:prstGeom prst="roundRect">
            <a:avLst>
              <a:gd name="adj" fmla="val 5061"/>
            </a:avLst>
          </a:prstGeom>
          <a:solidFill>
            <a:srgbClr val="E3F5EA"/>
          </a:solidFill>
          <a:ln w="12700">
            <a:solidFill>
              <a:srgbClr val="1E7A4F"/>
            </a:solidFill>
            <a:prstDash val="solid"/>
          </a:ln>
        </p:spPr>
      </p:sp>
      <p:sp>
        <p:nvSpPr>
          <p:cNvPr id="9" name="Text 7"/>
          <p:cNvSpPr/>
          <p:nvPr/>
        </p:nvSpPr>
        <p:spPr>
          <a:xfrm>
            <a:off x="3705225" y="2755801"/>
            <a:ext cx="2168176"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E7A4F"/>
                </a:solidFill>
                <a:latin typeface="JetBrains Mono" pitchFamily="49" charset="0"/>
                <a:ea typeface="JetBrains Mono" pitchFamily="49" charset="-122"/>
                <a:cs typeface="JetBrains Mono" pitchFamily="49" charset="-120"/>
              </a:rPr>
              <a:t>On the file server · no AI</a:t>
            </a:r>
            <a:endParaRPr lang="en-US" sz="1200" dirty="0"/>
          </a:p>
        </p:txBody>
      </p:sp>
      <p:sp>
        <p:nvSpPr>
          <p:cNvPr id="10" name="Text 8"/>
          <p:cNvSpPr/>
          <p:nvPr/>
        </p:nvSpPr>
        <p:spPr>
          <a:xfrm>
            <a:off x="3705225" y="3258641"/>
            <a:ext cx="2168176"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01B"/>
                </a:solidFill>
                <a:latin typeface="Space Grotesk" pitchFamily="34" charset="0"/>
                <a:ea typeface="Space Grotesk" pitchFamily="34" charset="-122"/>
                <a:cs typeface="Space Grotesk" pitchFamily="34" charset="-120"/>
              </a:rPr>
              <a:t>guard</a:t>
            </a:r>
            <a:endParaRPr lang="en-US" sz="1600" dirty="0"/>
          </a:p>
        </p:txBody>
      </p:sp>
      <p:sp>
        <p:nvSpPr>
          <p:cNvPr id="11" name="Text 9"/>
          <p:cNvSpPr/>
          <p:nvPr/>
        </p:nvSpPr>
        <p:spPr>
          <a:xfrm>
            <a:off x="3705225" y="3578671"/>
            <a:ext cx="2168176"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44"/>
                </a:solidFill>
                <a:latin typeface="IBM Plex Sans" pitchFamily="34" charset="0"/>
                <a:ea typeface="IBM Plex Sans" pitchFamily="34" charset="-122"/>
                <a:cs typeface="IBM Plex Sans" pitchFamily="34" charset="-120"/>
              </a:rPr>
              <a:t>Watches the mines, runs the swap, logs every command. Exposes Contain and Restore.</a:t>
            </a:r>
            <a:endParaRPr lang="en-US" sz="1200" dirty="0"/>
          </a:p>
        </p:txBody>
      </p:sp>
      <p:sp>
        <p:nvSpPr>
          <p:cNvPr id="12" name="Shape 10"/>
          <p:cNvSpPr/>
          <p:nvPr/>
        </p:nvSpPr>
        <p:spPr>
          <a:xfrm>
            <a:off x="6181725" y="2543076"/>
            <a:ext cx="2517775" cy="1888282"/>
          </a:xfrm>
          <a:prstGeom prst="roundRect">
            <a:avLst>
              <a:gd name="adj" fmla="val 5212"/>
            </a:avLst>
          </a:prstGeom>
          <a:solidFill>
            <a:srgbClr val="FFFFFF"/>
          </a:solidFill>
          <a:ln w="6350">
            <a:solidFill>
              <a:srgbClr val="D6DED8"/>
            </a:solidFill>
            <a:prstDash val="solid"/>
          </a:ln>
        </p:spPr>
      </p:sp>
      <p:sp>
        <p:nvSpPr>
          <p:cNvPr id="13" name="Text 11"/>
          <p:cNvSpPr/>
          <p:nvPr/>
        </p:nvSpPr>
        <p:spPr>
          <a:xfrm>
            <a:off x="6388100" y="2749451"/>
            <a:ext cx="216817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E7A4F"/>
                </a:solidFill>
                <a:latin typeface="JetBrains Mono" pitchFamily="49" charset="0"/>
                <a:ea typeface="JetBrains Mono" pitchFamily="49" charset="-122"/>
                <a:cs typeface="JetBrains Mono" pitchFamily="49" charset="-120"/>
              </a:rPr>
              <a:t>Backend</a:t>
            </a:r>
            <a:endParaRPr lang="en-US" sz="1200" dirty="0"/>
          </a:p>
        </p:txBody>
      </p:sp>
      <p:sp>
        <p:nvSpPr>
          <p:cNvPr id="14" name="Text 12"/>
          <p:cNvSpPr/>
          <p:nvPr/>
        </p:nvSpPr>
        <p:spPr>
          <a:xfrm>
            <a:off x="6388100" y="3038971"/>
            <a:ext cx="2168176"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01B"/>
                </a:solidFill>
                <a:latin typeface="Space Grotesk" pitchFamily="34" charset="0"/>
                <a:ea typeface="Space Grotesk" pitchFamily="34" charset="-122"/>
                <a:cs typeface="Space Grotesk" pitchFamily="34" charset="-120"/>
              </a:rPr>
              <a:t>core</a:t>
            </a:r>
            <a:endParaRPr lang="en-US" sz="1600" dirty="0"/>
          </a:p>
        </p:txBody>
      </p:sp>
      <p:sp>
        <p:nvSpPr>
          <p:cNvPr id="15" name="Text 13"/>
          <p:cNvSpPr/>
          <p:nvPr/>
        </p:nvSpPr>
        <p:spPr>
          <a:xfrm>
            <a:off x="6388100" y="3359001"/>
            <a:ext cx="2168176" cy="87868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44"/>
                </a:solidFill>
                <a:latin typeface="IBM Plex Sans" pitchFamily="34" charset="0"/>
                <a:ea typeface="IBM Plex Sans" pitchFamily="34" charset="-122"/>
                <a:cs typeface="IBM Plex Sans" pitchFamily="34" charset="-120"/>
              </a:rPr>
              <a:t>Groups events into one incident, labels the intruder, checks the confession, catches stolen keys.</a:t>
            </a:r>
            <a:endParaRPr lang="en-US" sz="1200" dirty="0"/>
          </a:p>
        </p:txBody>
      </p:sp>
      <p:sp>
        <p:nvSpPr>
          <p:cNvPr id="16" name="Shape 14"/>
          <p:cNvSpPr/>
          <p:nvPr/>
        </p:nvSpPr>
        <p:spPr>
          <a:xfrm>
            <a:off x="8858250" y="2543076"/>
            <a:ext cx="2517775" cy="1888282"/>
          </a:xfrm>
          <a:prstGeom prst="roundRect">
            <a:avLst>
              <a:gd name="adj" fmla="val 5212"/>
            </a:avLst>
          </a:prstGeom>
          <a:solidFill>
            <a:srgbClr val="FFFFFF"/>
          </a:solidFill>
          <a:ln w="6350">
            <a:solidFill>
              <a:srgbClr val="D6DED8"/>
            </a:solidFill>
            <a:prstDash val="solid"/>
          </a:ln>
        </p:spPr>
      </p:sp>
      <p:sp>
        <p:nvSpPr>
          <p:cNvPr id="17" name="Text 15"/>
          <p:cNvSpPr/>
          <p:nvPr/>
        </p:nvSpPr>
        <p:spPr>
          <a:xfrm>
            <a:off x="9064625" y="2749451"/>
            <a:ext cx="216817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E7A4F"/>
                </a:solidFill>
                <a:latin typeface="JetBrains Mono" pitchFamily="49" charset="0"/>
                <a:ea typeface="JetBrains Mono" pitchFamily="49" charset="-122"/>
                <a:cs typeface="JetBrains Mono" pitchFamily="49" charset="-120"/>
              </a:rPr>
              <a:t>For the analyst</a:t>
            </a:r>
            <a:endParaRPr lang="en-US" sz="1200" dirty="0"/>
          </a:p>
        </p:txBody>
      </p:sp>
      <p:sp>
        <p:nvSpPr>
          <p:cNvPr id="18" name="Text 16"/>
          <p:cNvSpPr/>
          <p:nvPr/>
        </p:nvSpPr>
        <p:spPr>
          <a:xfrm>
            <a:off x="9064625" y="3038971"/>
            <a:ext cx="2168176"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01B"/>
                </a:solidFill>
                <a:latin typeface="Space Grotesk" pitchFamily="34" charset="0"/>
                <a:ea typeface="Space Grotesk" pitchFamily="34" charset="-122"/>
                <a:cs typeface="Space Grotesk" pitchFamily="34" charset="-120"/>
              </a:rPr>
              <a:t>dashboard</a:t>
            </a:r>
            <a:endParaRPr lang="en-US" sz="1600" dirty="0"/>
          </a:p>
        </p:txBody>
      </p:sp>
      <p:sp>
        <p:nvSpPr>
          <p:cNvPr id="19" name="Text 17"/>
          <p:cNvSpPr/>
          <p:nvPr/>
        </p:nvSpPr>
        <p:spPr>
          <a:xfrm>
            <a:off x="9064625" y="3359001"/>
            <a:ext cx="2168176"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44"/>
                </a:solidFill>
                <a:latin typeface="IBM Plex Sans" pitchFamily="34" charset="0"/>
                <a:ea typeface="IBM Plex Sans" pitchFamily="34" charset="-122"/>
                <a:cs typeface="IBM Plex Sans" pitchFamily="34" charset="-120"/>
              </a:rPr>
              <a:t>One incident card: who, what was taken, fake vs real, Contain and Restore.</a:t>
            </a:r>
            <a:endParaRPr lang="en-US" sz="1200" dirty="0"/>
          </a:p>
        </p:txBody>
      </p:sp>
      <p:sp>
        <p:nvSpPr>
          <p:cNvPr id="20" name="Text 18"/>
          <p:cNvSpPr/>
          <p:nvPr/>
        </p:nvSpPr>
        <p:spPr>
          <a:xfrm>
            <a:off x="812800" y="4688532"/>
            <a:ext cx="108833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A44"/>
                </a:solidFill>
                <a:latin typeface="IBM Plex Sans" pitchFamily="34" charset="0"/>
                <a:ea typeface="IBM Plex Sans" pitchFamily="34" charset="-122"/>
                <a:cs typeface="IBM Plex Sans" pitchFamily="34" charset="-120"/>
              </a:rPr>
              <a:t>Docker Compose on one laptop · JSON events ready for any SIEM · runs fully offline with a local model</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512"/>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7BE0A0"/>
                </a:solidFill>
                <a:latin typeface="JetBrains Mono" pitchFamily="49" charset="0"/>
                <a:ea typeface="JetBrains Mono" pitchFamily="49" charset="-122"/>
                <a:cs typeface="JetBrains Mono" pitchFamily="49" charset="-120"/>
              </a:rPr>
              <a:t>LIVE DEMO</a:t>
            </a:r>
            <a:endParaRPr lang="en-US" sz="1200" dirty="0"/>
          </a:p>
        </p:txBody>
      </p:sp>
      <p:sp>
        <p:nvSpPr>
          <p:cNvPr id="3" name="Text 1"/>
          <p:cNvSpPr/>
          <p:nvPr>
            <p:ph type="title"/>
          </p:nvPr>
        </p:nvSpPr>
        <p:spPr>
          <a:xfrm>
            <a:off x="812800" y="12801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2F5F0"/>
                </a:solidFill>
                <a:latin typeface="Space Grotesk" pitchFamily="34" charset="0"/>
                <a:ea typeface="Space Grotesk" pitchFamily="34" charset="-122"/>
                <a:cs typeface="Space Grotesk" pitchFamily="34" charset="-120"/>
              </a:rPr>
              <a:t>An AI agent attacks Lumen Health.</a:t>
            </a:r>
            <a:endParaRPr lang="en-US" sz="3600" dirty="0"/>
          </a:p>
        </p:txBody>
      </p:sp>
      <p:sp>
        <p:nvSpPr>
          <p:cNvPr id="4" name="Shape 2"/>
          <p:cNvSpPr/>
          <p:nvPr/>
        </p:nvSpPr>
        <p:spPr>
          <a:xfrm>
            <a:off x="819150" y="2043361"/>
            <a:ext cx="5168900" cy="3792289"/>
          </a:xfrm>
          <a:prstGeom prst="roundRect">
            <a:avLst>
              <a:gd name="adj" fmla="val 2512"/>
            </a:avLst>
          </a:prstGeom>
          <a:solidFill>
            <a:srgbClr val="18221E"/>
          </a:solidFill>
          <a:ln w="12700">
            <a:solidFill>
              <a:srgbClr val="3C5148"/>
            </a:solidFill>
            <a:prstDash val="dash"/>
          </a:ln>
        </p:spPr>
      </p:sp>
      <p:sp>
        <p:nvSpPr>
          <p:cNvPr id="5" name="Text 3"/>
          <p:cNvSpPr/>
          <p:nvPr/>
        </p:nvSpPr>
        <p:spPr>
          <a:xfrm>
            <a:off x="1702792" y="3675360"/>
            <a:ext cx="3401616"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9DB3A8"/>
                </a:solidFill>
                <a:latin typeface="JetBrains Mono" pitchFamily="49" charset="0"/>
                <a:ea typeface="JetBrains Mono" pitchFamily="49" charset="-122"/>
                <a:cs typeface="JetBrains Mono" pitchFamily="49" charset="-120"/>
              </a:rPr>
              <a:t>[Screenshot: attacker terminal]</a:t>
            </a:r>
            <a:endParaRPr lang="en-US" sz="1200" dirty="0"/>
          </a:p>
        </p:txBody>
      </p:sp>
      <p:sp>
        <p:nvSpPr>
          <p:cNvPr id="6" name="Text 4"/>
          <p:cNvSpPr/>
          <p:nvPr/>
        </p:nvSpPr>
        <p:spPr>
          <a:xfrm>
            <a:off x="2032000" y="3990280"/>
            <a:ext cx="27432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9DB3A8"/>
                </a:solidFill>
                <a:latin typeface="IBM Plex Sans" pitchFamily="34" charset="0"/>
                <a:ea typeface="IBM Plex Sans" pitchFamily="34" charset="-122"/>
                <a:cs typeface="IBM Plex Sans" pitchFamily="34" charset="-120"/>
              </a:rPr>
              <a:t>Opens 00_passwords_backup.txt</a:t>
            </a:r>
            <a:endParaRPr lang="en-US" sz="1200" dirty="0"/>
          </a:p>
        </p:txBody>
      </p:sp>
      <p:sp>
        <p:nvSpPr>
          <p:cNvPr id="7" name="Shape 5"/>
          <p:cNvSpPr/>
          <p:nvPr/>
        </p:nvSpPr>
        <p:spPr>
          <a:xfrm>
            <a:off x="6203950" y="2043361"/>
            <a:ext cx="5168900" cy="3792289"/>
          </a:xfrm>
          <a:prstGeom prst="roundRect">
            <a:avLst>
              <a:gd name="adj" fmla="val 2512"/>
            </a:avLst>
          </a:prstGeom>
          <a:solidFill>
            <a:srgbClr val="18221E"/>
          </a:solidFill>
          <a:ln w="12700">
            <a:solidFill>
              <a:srgbClr val="3C5148"/>
            </a:solidFill>
            <a:prstDash val="dash"/>
          </a:ln>
        </p:spPr>
      </p:sp>
      <p:sp>
        <p:nvSpPr>
          <p:cNvPr id="8" name="Text 6"/>
          <p:cNvSpPr/>
          <p:nvPr/>
        </p:nvSpPr>
        <p:spPr>
          <a:xfrm>
            <a:off x="7307029" y="3568700"/>
            <a:ext cx="2962692"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9DB3A8"/>
                </a:solidFill>
                <a:latin typeface="JetBrains Mono" pitchFamily="49" charset="0"/>
                <a:ea typeface="JetBrains Mono" pitchFamily="49" charset="-122"/>
                <a:cs typeface="JetBrains Mono" pitchFamily="49" charset="-120"/>
              </a:rPr>
              <a:t>[Screenshot: incident card]</a:t>
            </a:r>
            <a:endParaRPr lang="en-US" sz="1200" dirty="0"/>
          </a:p>
        </p:txBody>
      </p:sp>
      <p:sp>
        <p:nvSpPr>
          <p:cNvPr id="9" name="Text 7"/>
          <p:cNvSpPr/>
          <p:nvPr/>
        </p:nvSpPr>
        <p:spPr>
          <a:xfrm>
            <a:off x="6342253" y="3883620"/>
            <a:ext cx="4892294" cy="452041"/>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9DB3A8"/>
                </a:solidFill>
                <a:latin typeface="IBM Plex Sans" pitchFamily="34" charset="0"/>
                <a:ea typeface="IBM Plex Sans" pitchFamily="34" charset="-122"/>
                <a:cs typeface="IBM Plex Sans" pitchFamily="34" charset="-120"/>
              </a:rPr>
              <a:t>Swap time shown live · 0 real files lost in this run · what the attacker got vs what was real</a:t>
            </a:r>
            <a:endParaRPr lang="en-US" sz="1200" dirty="0"/>
          </a:p>
        </p:txBody>
      </p:sp>
      <p:sp>
        <p:nvSpPr>
          <p:cNvPr id="10" name="Text 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DB3A8"/>
                </a:solidFill>
                <a:latin typeface="JetBrains Mono" pitchFamily="49" charset="0"/>
                <a:ea typeface="JetBrains Mono" pitchFamily="49" charset="-122"/>
                <a:cs typeface="JetBrains Mono" pitchFamily="49" charset="-120"/>
              </a:rPr>
              <a:t>Backup video ready if the live run fails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512"/>
        </a:solidFill>
      </p:bgPr>
    </p:bg>
    <p:spTree>
      <p:nvGrpSpPr>
        <p:cNvPr id="1" name=""/>
        <p:cNvGrpSpPr/>
        <p:nvPr/>
      </p:nvGrpSpPr>
      <p:grpSpPr>
        <a:xfrm>
          <a:off x="0" y="0"/>
          <a:ext cx="0" cy="0"/>
          <a:chOff x="0" y="0"/>
          <a:chExt cx="0" cy="0"/>
        </a:xfrm>
      </p:grpSpPr>
      <p:sp>
        <p:nvSpPr>
          <p:cNvPr id="2" name="Text 0"/>
          <p:cNvSpPr/>
          <p:nvPr/>
        </p:nvSpPr>
        <p:spPr>
          <a:xfrm>
            <a:off x="812800" y="812800"/>
            <a:ext cx="10883392" cy="200323"/>
          </a:xfrm>
          <a:prstGeom prst="rect">
            <a:avLst/>
          </a:prstGeom>
          <a:noFill/>
          <a:ln/>
        </p:spPr>
        <p:txBody>
          <a:bodyPr wrap="square" lIns="0" tIns="0" rIns="0" bIns="0" rtlCol="0" anchor="t">
            <a:normAutofit/>
          </a:bodyPr>
          <a:lstStyle/>
          <a:p>
            <a:pPr algn="l" indent="0" marL="0">
              <a:lnSpc>
                <a:spcPts val="1423"/>
              </a:lnSpc>
              <a:buNone/>
            </a:pPr>
            <a:r>
              <a:rPr lang="en-US" sz="1016" spc="200" kern="0" dirty="0">
                <a:solidFill>
                  <a:srgbClr val="7BE0A0"/>
                </a:solidFill>
                <a:latin typeface="JetBrains Mono" pitchFamily="49" charset="0"/>
                <a:ea typeface="JetBrains Mono" pitchFamily="49" charset="-122"/>
                <a:cs typeface="JetBrains Mono" pitchFamily="49" charset="-120"/>
              </a:rPr>
              <a:t>WHAT WE TESTED, AND HOW</a:t>
            </a:r>
            <a:endParaRPr lang="en-US" sz="1016" dirty="0"/>
          </a:p>
        </p:txBody>
      </p:sp>
      <p:sp>
        <p:nvSpPr>
          <p:cNvPr id="3" name="Text 1"/>
          <p:cNvSpPr/>
          <p:nvPr>
            <p:ph type="title"/>
          </p:nvPr>
        </p:nvSpPr>
        <p:spPr>
          <a:xfrm>
            <a:off x="812800" y="1292523"/>
            <a:ext cx="10883392" cy="850156"/>
          </a:xfrm>
          <a:prstGeom prst="rect">
            <a:avLst/>
          </a:prstGeom>
          <a:noFill/>
          <a:ln/>
        </p:spPr>
        <p:txBody>
          <a:bodyPr wrap="square" lIns="0" tIns="0" rIns="0" bIns="0" rtlCol="0" anchor="t">
            <a:normAutofit/>
          </a:bodyPr>
          <a:lstStyle/>
          <a:p>
            <a:pPr algn="l" indent="0" marL="0">
              <a:lnSpc>
                <a:spcPts val="3255"/>
              </a:lnSpc>
              <a:buNone/>
            </a:pPr>
            <a:r>
              <a:rPr lang="en-US" sz="2959" b="1" i="0" dirty="0">
                <a:solidFill>
                  <a:srgbClr val="F2F5F0"/>
                </a:solidFill>
                <a:latin typeface="Space Grotesk" pitchFamily="34" charset="0"/>
                <a:ea typeface="Space Grotesk" pitchFamily="34" charset="-122"/>
                <a:cs typeface="Space Grotesk" pitchFamily="34" charset="-120"/>
              </a:rPr>
              <a:t>Logic validated on test scenarios. Confessions measured live.</a:t>
            </a:r>
            <a:endParaRPr lang="en-US" sz="2959" dirty="0"/>
          </a:p>
        </p:txBody>
      </p:sp>
      <p:sp>
        <p:nvSpPr>
          <p:cNvPr id="4" name="Shape 2"/>
          <p:cNvSpPr/>
          <p:nvPr/>
        </p:nvSpPr>
        <p:spPr>
          <a:xfrm>
            <a:off x="815975" y="2425254"/>
            <a:ext cx="3380284" cy="1601986"/>
          </a:xfrm>
          <a:prstGeom prst="roundRect">
            <a:avLst>
              <a:gd name="adj" fmla="val 6144"/>
            </a:avLst>
          </a:prstGeom>
          <a:solidFill>
            <a:srgbClr val="18221E"/>
          </a:solidFill>
          <a:ln w="6350">
            <a:solidFill>
              <a:srgbClr val="2C3D36"/>
            </a:solidFill>
            <a:prstDash val="solid"/>
          </a:ln>
        </p:spPr>
      </p:sp>
      <p:sp>
        <p:nvSpPr>
          <p:cNvPr id="5" name="Text 3"/>
          <p:cNvSpPr/>
          <p:nvPr/>
        </p:nvSpPr>
        <p:spPr>
          <a:xfrm>
            <a:off x="1073150" y="2682429"/>
            <a:ext cx="2951912" cy="492224"/>
          </a:xfrm>
          <a:prstGeom prst="rect">
            <a:avLst/>
          </a:prstGeom>
          <a:noFill/>
          <a:ln/>
        </p:spPr>
        <p:txBody>
          <a:bodyPr wrap="square" lIns="0" tIns="0" rIns="0" bIns="0" rtlCol="0" anchor="t">
            <a:normAutofit/>
          </a:bodyPr>
          <a:lstStyle/>
          <a:p>
            <a:pPr algn="l" indent="0" marL="0">
              <a:lnSpc>
                <a:spcPts val="3717"/>
              </a:lnSpc>
              <a:buNone/>
            </a:pPr>
            <a:r>
              <a:rPr lang="en-US" sz="2655" b="1" dirty="0">
                <a:solidFill>
                  <a:srgbClr val="7BE0A0"/>
                </a:solidFill>
                <a:latin typeface="Space Grotesk" pitchFamily="34" charset="0"/>
                <a:ea typeface="Space Grotesk" pitchFamily="34" charset="-122"/>
                <a:cs typeface="Space Grotesk" pitchFamily="34" charset="-120"/>
              </a:rPr>
              <a:t>4 / 4</a:t>
            </a:r>
            <a:endParaRPr lang="en-US" sz="2655" dirty="0"/>
          </a:p>
        </p:txBody>
      </p:sp>
      <p:sp>
        <p:nvSpPr>
          <p:cNvPr id="6" name="Text 4"/>
          <p:cNvSpPr/>
          <p:nvPr/>
        </p:nvSpPr>
        <p:spPr>
          <a:xfrm>
            <a:off x="1073150" y="3225453"/>
            <a:ext cx="2951912" cy="570012"/>
          </a:xfrm>
          <a:prstGeom prst="rect">
            <a:avLst/>
          </a:prstGeom>
          <a:noFill/>
          <a:ln/>
        </p:spPr>
        <p:txBody>
          <a:bodyPr wrap="square" lIns="0" tIns="0" rIns="0" bIns="0" rtlCol="0" anchor="t">
            <a:normAutofit/>
          </a:bodyPr>
          <a:lstStyle/>
          <a:p>
            <a:pPr algn="l" indent="0" marL="0">
              <a:lnSpc>
                <a:spcPts val="1519"/>
              </a:lnSpc>
              <a:buNone/>
            </a:pPr>
            <a:r>
              <a:rPr lang="en-US" sz="1085" dirty="0">
                <a:solidFill>
                  <a:srgbClr val="BFD3C8"/>
                </a:solidFill>
                <a:latin typeface="IBM Plex Sans" pitchFamily="34" charset="0"/>
                <a:ea typeface="IBM Plex Sans" pitchFamily="34" charset="-122"/>
                <a:cs typeface="IBM Plex Sans" pitchFamily="34" charset="-120"/>
              </a:rPr>
              <a:t>test scenarios detected and labelled correctly: AI agent, guided AI, script, human (logic test)</a:t>
            </a:r>
            <a:endParaRPr lang="en-US" sz="1085" dirty="0"/>
          </a:p>
        </p:txBody>
      </p:sp>
      <p:sp>
        <p:nvSpPr>
          <p:cNvPr id="7" name="Shape 5"/>
          <p:cNvSpPr/>
          <p:nvPr/>
        </p:nvSpPr>
        <p:spPr>
          <a:xfrm>
            <a:off x="4405809" y="2425254"/>
            <a:ext cx="3380333" cy="1601986"/>
          </a:xfrm>
          <a:prstGeom prst="roundRect">
            <a:avLst>
              <a:gd name="adj" fmla="val 6144"/>
            </a:avLst>
          </a:prstGeom>
          <a:solidFill>
            <a:srgbClr val="18221E"/>
          </a:solidFill>
          <a:ln w="6350">
            <a:solidFill>
              <a:srgbClr val="2C3D36"/>
            </a:solidFill>
            <a:prstDash val="solid"/>
          </a:ln>
        </p:spPr>
      </p:sp>
      <p:sp>
        <p:nvSpPr>
          <p:cNvPr id="8" name="Text 6"/>
          <p:cNvSpPr/>
          <p:nvPr/>
        </p:nvSpPr>
        <p:spPr>
          <a:xfrm>
            <a:off x="4662984" y="2682429"/>
            <a:ext cx="2951963" cy="594370"/>
          </a:xfrm>
          <a:prstGeom prst="rect">
            <a:avLst/>
          </a:prstGeom>
          <a:noFill/>
          <a:ln/>
        </p:spPr>
        <p:txBody>
          <a:bodyPr wrap="square" lIns="0" tIns="0" rIns="0" bIns="0" rtlCol="0" anchor="t">
            <a:normAutofit/>
          </a:bodyPr>
          <a:lstStyle/>
          <a:p>
            <a:pPr algn="l" indent="0" marL="0">
              <a:lnSpc>
                <a:spcPts val="4520"/>
              </a:lnSpc>
              <a:buNone/>
            </a:pPr>
            <a:r>
              <a:rPr lang="en-US" sz="3229" b="1" dirty="0">
                <a:solidFill>
                  <a:srgbClr val="7BE0A0"/>
                </a:solidFill>
                <a:latin typeface="Space Grotesk" pitchFamily="34" charset="0"/>
                <a:ea typeface="Space Grotesk" pitchFamily="34" charset="-122"/>
                <a:cs typeface="Space Grotesk" pitchFamily="34" charset="-120"/>
              </a:rPr>
              <a:t>7 / 10</a:t>
            </a:r>
            <a:endParaRPr lang="en-US" sz="3229" dirty="0"/>
          </a:p>
        </p:txBody>
      </p:sp>
      <p:sp>
        <p:nvSpPr>
          <p:cNvPr id="9" name="Text 7"/>
          <p:cNvSpPr/>
          <p:nvPr/>
        </p:nvSpPr>
        <p:spPr>
          <a:xfrm>
            <a:off x="4662984" y="3327598"/>
            <a:ext cx="2951963" cy="467866"/>
          </a:xfrm>
          <a:prstGeom prst="rect">
            <a:avLst/>
          </a:prstGeom>
          <a:noFill/>
          <a:ln/>
        </p:spPr>
        <p:txBody>
          <a:bodyPr wrap="square" lIns="0" tIns="0" rIns="0" bIns="0" rtlCol="0" anchor="t">
            <a:normAutofit/>
          </a:bodyPr>
          <a:lstStyle/>
          <a:p>
            <a:pPr algn="l" indent="0" marL="0">
              <a:lnSpc>
                <a:spcPts val="1758"/>
              </a:lnSpc>
              <a:buNone/>
            </a:pPr>
            <a:r>
              <a:rPr lang="en-US" sz="1256" dirty="0">
                <a:solidFill>
                  <a:srgbClr val="BFD3C8"/>
                </a:solidFill>
                <a:latin typeface="IBM Plex Sans" pitchFamily="34" charset="0"/>
                <a:ea typeface="IBM Plex Sans" pitchFamily="34" charset="-122"/>
                <a:cs typeface="IBM Plex Sans" pitchFamily="34" charset="-120"/>
              </a:rPr>
              <a:t>live AI runs that confessed their mission (qwen3.5:35b, local)</a:t>
            </a:r>
            <a:endParaRPr lang="en-US" sz="1256" dirty="0"/>
          </a:p>
        </p:txBody>
      </p:sp>
      <p:sp>
        <p:nvSpPr>
          <p:cNvPr id="10" name="Shape 8"/>
          <p:cNvSpPr/>
          <p:nvPr/>
        </p:nvSpPr>
        <p:spPr>
          <a:xfrm>
            <a:off x="7995692" y="2425254"/>
            <a:ext cx="3380284" cy="1601986"/>
          </a:xfrm>
          <a:prstGeom prst="roundRect">
            <a:avLst>
              <a:gd name="adj" fmla="val 6144"/>
            </a:avLst>
          </a:prstGeom>
          <a:solidFill>
            <a:srgbClr val="18221E"/>
          </a:solidFill>
          <a:ln w="6350">
            <a:solidFill>
              <a:srgbClr val="2C3D36"/>
            </a:solidFill>
            <a:prstDash val="solid"/>
          </a:ln>
        </p:spPr>
      </p:sp>
      <p:sp>
        <p:nvSpPr>
          <p:cNvPr id="11" name="Text 9"/>
          <p:cNvSpPr/>
          <p:nvPr/>
        </p:nvSpPr>
        <p:spPr>
          <a:xfrm>
            <a:off x="8252867" y="2682429"/>
            <a:ext cx="2951912" cy="594370"/>
          </a:xfrm>
          <a:prstGeom prst="rect">
            <a:avLst/>
          </a:prstGeom>
          <a:noFill/>
          <a:ln/>
        </p:spPr>
        <p:txBody>
          <a:bodyPr wrap="square" lIns="0" tIns="0" rIns="0" bIns="0" rtlCol="0" anchor="t">
            <a:normAutofit/>
          </a:bodyPr>
          <a:lstStyle/>
          <a:p>
            <a:pPr algn="l" indent="0" marL="0">
              <a:lnSpc>
                <a:spcPts val="4520"/>
              </a:lnSpc>
              <a:buNone/>
            </a:pPr>
            <a:r>
              <a:rPr lang="en-US" sz="3229" b="1" dirty="0">
                <a:solidFill>
                  <a:srgbClr val="7BE0A0"/>
                </a:solidFill>
                <a:latin typeface="Space Grotesk" pitchFamily="34" charset="0"/>
                <a:ea typeface="Space Grotesk" pitchFamily="34" charset="-122"/>
                <a:cs typeface="Space Grotesk" pitchFamily="34" charset="-120"/>
              </a:rPr>
              <a:t>2 / 10</a:t>
            </a:r>
            <a:endParaRPr lang="en-US" sz="3229" dirty="0"/>
          </a:p>
        </p:txBody>
      </p:sp>
      <p:sp>
        <p:nvSpPr>
          <p:cNvPr id="12" name="Text 10"/>
          <p:cNvSpPr/>
          <p:nvPr/>
        </p:nvSpPr>
        <p:spPr>
          <a:xfrm>
            <a:off x="8252867" y="3327598"/>
            <a:ext cx="2951912" cy="467866"/>
          </a:xfrm>
          <a:prstGeom prst="rect">
            <a:avLst/>
          </a:prstGeom>
          <a:noFill/>
          <a:ln/>
        </p:spPr>
        <p:txBody>
          <a:bodyPr wrap="square" lIns="0" tIns="0" rIns="0" bIns="0" rtlCol="0" anchor="t">
            <a:normAutofit/>
          </a:bodyPr>
          <a:lstStyle/>
          <a:p>
            <a:pPr algn="l" indent="0" marL="0">
              <a:lnSpc>
                <a:spcPts val="1758"/>
              </a:lnSpc>
              <a:buNone/>
            </a:pPr>
            <a:r>
              <a:rPr lang="en-US" sz="1256" dirty="0">
                <a:solidFill>
                  <a:srgbClr val="BFD3C8"/>
                </a:solidFill>
                <a:latin typeface="IBM Plex Sans" pitchFamily="34" charset="0"/>
                <a:ea typeface="IBM Plex Sans" pitchFamily="34" charset="-122"/>
                <a:cs typeface="IBM Plex Sans" pitchFamily="34" charset="-120"/>
              </a:rPr>
              <a:t>for the smaller model (qwen2.5:7b): careful models resist</a:t>
            </a:r>
            <a:endParaRPr lang="en-US" sz="1256" dirty="0"/>
          </a:p>
        </p:txBody>
      </p:sp>
      <p:sp>
        <p:nvSpPr>
          <p:cNvPr id="13" name="Shape 11"/>
          <p:cNvSpPr/>
          <p:nvPr/>
        </p:nvSpPr>
        <p:spPr>
          <a:xfrm>
            <a:off x="815975" y="4236789"/>
            <a:ext cx="3380284" cy="1602036"/>
          </a:xfrm>
          <a:prstGeom prst="roundRect">
            <a:avLst>
              <a:gd name="adj" fmla="val 6144"/>
            </a:avLst>
          </a:prstGeom>
          <a:solidFill>
            <a:srgbClr val="18221E"/>
          </a:solidFill>
          <a:ln w="6350">
            <a:solidFill>
              <a:srgbClr val="2C3D36"/>
            </a:solidFill>
            <a:prstDash val="solid"/>
          </a:ln>
        </p:spPr>
      </p:sp>
      <p:sp>
        <p:nvSpPr>
          <p:cNvPr id="14" name="Text 12"/>
          <p:cNvSpPr/>
          <p:nvPr/>
        </p:nvSpPr>
        <p:spPr>
          <a:xfrm>
            <a:off x="1073150" y="4493964"/>
            <a:ext cx="2951912" cy="492274"/>
          </a:xfrm>
          <a:prstGeom prst="rect">
            <a:avLst/>
          </a:prstGeom>
          <a:noFill/>
          <a:ln/>
        </p:spPr>
        <p:txBody>
          <a:bodyPr wrap="square" lIns="0" tIns="0" rIns="0" bIns="0" rtlCol="0" anchor="t">
            <a:normAutofit/>
          </a:bodyPr>
          <a:lstStyle/>
          <a:p>
            <a:pPr algn="l" indent="0" marL="0">
              <a:lnSpc>
                <a:spcPts val="3717"/>
              </a:lnSpc>
              <a:buNone/>
            </a:pPr>
            <a:r>
              <a:rPr lang="en-US" sz="2655" b="1" dirty="0">
                <a:solidFill>
                  <a:srgbClr val="7BE0A0"/>
                </a:solidFill>
                <a:latin typeface="Space Grotesk" pitchFamily="34" charset="0"/>
                <a:ea typeface="Space Grotesk" pitchFamily="34" charset="-122"/>
                <a:cs typeface="Space Grotesk" pitchFamily="34" charset="-120"/>
              </a:rPr>
              <a:t>Live</a:t>
            </a:r>
            <a:endParaRPr lang="en-US" sz="2655" dirty="0"/>
          </a:p>
        </p:txBody>
      </p:sp>
      <p:sp>
        <p:nvSpPr>
          <p:cNvPr id="15" name="Text 13"/>
          <p:cNvSpPr/>
          <p:nvPr/>
        </p:nvSpPr>
        <p:spPr>
          <a:xfrm>
            <a:off x="1073150" y="5037038"/>
            <a:ext cx="2951912" cy="570012"/>
          </a:xfrm>
          <a:prstGeom prst="rect">
            <a:avLst/>
          </a:prstGeom>
          <a:noFill/>
          <a:ln/>
        </p:spPr>
        <p:txBody>
          <a:bodyPr wrap="square" lIns="0" tIns="0" rIns="0" bIns="0" rtlCol="0" anchor="t">
            <a:normAutofit/>
          </a:bodyPr>
          <a:lstStyle/>
          <a:p>
            <a:pPr algn="l" indent="0" marL="0">
              <a:lnSpc>
                <a:spcPts val="1446"/>
              </a:lnSpc>
              <a:buNone/>
            </a:pPr>
            <a:r>
              <a:rPr lang="en-US" sz="1033" dirty="0">
                <a:solidFill>
                  <a:srgbClr val="BFD3C8"/>
                </a:solidFill>
                <a:latin typeface="IBM Plex Sans" pitchFamily="34" charset="0"/>
                <a:ea typeface="IBM Plex Sans" pitchFamily="34" charset="-122"/>
                <a:cs typeface="IBM Plex Sans" pitchFamily="34" charset="-120"/>
              </a:rPr>
              <a:t>swap time read from the guard on the incident card, in the demo you just saw (target: under 1 s)</a:t>
            </a:r>
            <a:endParaRPr lang="en-US" sz="1033" dirty="0"/>
          </a:p>
        </p:txBody>
      </p:sp>
      <p:sp>
        <p:nvSpPr>
          <p:cNvPr id="16" name="Shape 14"/>
          <p:cNvSpPr/>
          <p:nvPr/>
        </p:nvSpPr>
        <p:spPr>
          <a:xfrm>
            <a:off x="4405809" y="4236789"/>
            <a:ext cx="3380333" cy="1602036"/>
          </a:xfrm>
          <a:prstGeom prst="roundRect">
            <a:avLst>
              <a:gd name="adj" fmla="val 6144"/>
            </a:avLst>
          </a:prstGeom>
          <a:solidFill>
            <a:srgbClr val="18221E"/>
          </a:solidFill>
          <a:ln w="6350">
            <a:solidFill>
              <a:srgbClr val="2C3D36"/>
            </a:solidFill>
            <a:prstDash val="solid"/>
          </a:ln>
        </p:spPr>
      </p:sp>
      <p:sp>
        <p:nvSpPr>
          <p:cNvPr id="17" name="Text 15"/>
          <p:cNvSpPr/>
          <p:nvPr/>
        </p:nvSpPr>
        <p:spPr>
          <a:xfrm>
            <a:off x="4662984" y="4493964"/>
            <a:ext cx="2951963" cy="492274"/>
          </a:xfrm>
          <a:prstGeom prst="rect">
            <a:avLst/>
          </a:prstGeom>
          <a:noFill/>
          <a:ln/>
        </p:spPr>
        <p:txBody>
          <a:bodyPr wrap="square" lIns="0" tIns="0" rIns="0" bIns="0" rtlCol="0" anchor="t">
            <a:normAutofit/>
          </a:bodyPr>
          <a:lstStyle/>
          <a:p>
            <a:pPr algn="l" indent="0" marL="0">
              <a:lnSpc>
                <a:spcPts val="3717"/>
              </a:lnSpc>
              <a:buNone/>
            </a:pPr>
            <a:r>
              <a:rPr lang="en-US" sz="2655" b="1" dirty="0">
                <a:solidFill>
                  <a:srgbClr val="7BE0A0"/>
                </a:solidFill>
                <a:latin typeface="Space Grotesk" pitchFamily="34" charset="0"/>
                <a:ea typeface="Space Grotesk" pitchFamily="34" charset="-122"/>
                <a:cs typeface="Space Grotesk" pitchFamily="34" charset="-120"/>
              </a:rPr>
              <a:t>3 tags</a:t>
            </a:r>
            <a:endParaRPr lang="en-US" sz="2655" dirty="0"/>
          </a:p>
        </p:txBody>
      </p:sp>
      <p:sp>
        <p:nvSpPr>
          <p:cNvPr id="18" name="Text 16"/>
          <p:cNvSpPr/>
          <p:nvPr/>
        </p:nvSpPr>
        <p:spPr>
          <a:xfrm>
            <a:off x="4662984" y="5037038"/>
            <a:ext cx="2951963" cy="570012"/>
          </a:xfrm>
          <a:prstGeom prst="rect">
            <a:avLst/>
          </a:prstGeom>
          <a:noFill/>
          <a:ln/>
        </p:spPr>
        <p:txBody>
          <a:bodyPr wrap="square" lIns="0" tIns="0" rIns="0" bIns="0" rtlCol="0" anchor="t">
            <a:normAutofit/>
          </a:bodyPr>
          <a:lstStyle/>
          <a:p>
            <a:pPr algn="l" indent="0" marL="0">
              <a:lnSpc>
                <a:spcPts val="1893"/>
              </a:lnSpc>
              <a:buNone/>
            </a:pPr>
            <a:r>
              <a:rPr lang="en-US" sz="1352" dirty="0">
                <a:solidFill>
                  <a:srgbClr val="BFD3C8"/>
                </a:solidFill>
                <a:latin typeface="IBM Plex Sans" pitchFamily="34" charset="0"/>
                <a:ea typeface="IBM Plex Sans" pitchFamily="34" charset="-122"/>
                <a:cs typeface="IBM Plex Sans" pitchFamily="34" charset="-120"/>
              </a:rPr>
              <a:t>every claim checked against the logs: confirmed, unverified, contradicted</a:t>
            </a:r>
            <a:endParaRPr lang="en-US" sz="1352" dirty="0"/>
          </a:p>
        </p:txBody>
      </p:sp>
      <p:sp>
        <p:nvSpPr>
          <p:cNvPr id="19" name="Shape 17"/>
          <p:cNvSpPr/>
          <p:nvPr/>
        </p:nvSpPr>
        <p:spPr>
          <a:xfrm>
            <a:off x="7995692" y="4236789"/>
            <a:ext cx="3380284" cy="1602036"/>
          </a:xfrm>
          <a:prstGeom prst="roundRect">
            <a:avLst>
              <a:gd name="adj" fmla="val 6144"/>
            </a:avLst>
          </a:prstGeom>
          <a:solidFill>
            <a:srgbClr val="18221E"/>
          </a:solidFill>
          <a:ln w="6350">
            <a:solidFill>
              <a:srgbClr val="2C3D36"/>
            </a:solidFill>
            <a:prstDash val="solid"/>
          </a:ln>
        </p:spPr>
      </p:sp>
      <p:sp>
        <p:nvSpPr>
          <p:cNvPr id="20" name="Text 18"/>
          <p:cNvSpPr/>
          <p:nvPr/>
        </p:nvSpPr>
        <p:spPr>
          <a:xfrm>
            <a:off x="8252867" y="4493964"/>
            <a:ext cx="2951912" cy="594420"/>
          </a:xfrm>
          <a:prstGeom prst="rect">
            <a:avLst/>
          </a:prstGeom>
          <a:noFill/>
          <a:ln/>
        </p:spPr>
        <p:txBody>
          <a:bodyPr wrap="square" lIns="0" tIns="0" rIns="0" bIns="0" rtlCol="0" anchor="t">
            <a:normAutofit/>
          </a:bodyPr>
          <a:lstStyle/>
          <a:p>
            <a:pPr algn="l" indent="0" marL="0">
              <a:lnSpc>
                <a:spcPts val="4520"/>
              </a:lnSpc>
              <a:buNone/>
            </a:pPr>
            <a:r>
              <a:rPr lang="en-US" sz="3229" b="1" dirty="0">
                <a:solidFill>
                  <a:srgbClr val="7BE0A0"/>
                </a:solidFill>
                <a:latin typeface="Space Grotesk" pitchFamily="34" charset="0"/>
                <a:ea typeface="Space Grotesk" pitchFamily="34" charset="-122"/>
                <a:cs typeface="Space Grotesk" pitchFamily="34" charset="-120"/>
              </a:rPr>
              <a:t>Next</a:t>
            </a:r>
            <a:endParaRPr lang="en-US" sz="3229" dirty="0"/>
          </a:p>
        </p:txBody>
      </p:sp>
      <p:sp>
        <p:nvSpPr>
          <p:cNvPr id="21" name="Text 19"/>
          <p:cNvSpPr/>
          <p:nvPr/>
        </p:nvSpPr>
        <p:spPr>
          <a:xfrm>
            <a:off x="8252867" y="5139184"/>
            <a:ext cx="2951912" cy="467866"/>
          </a:xfrm>
          <a:prstGeom prst="rect">
            <a:avLst/>
          </a:prstGeom>
          <a:noFill/>
          <a:ln/>
        </p:spPr>
        <p:txBody>
          <a:bodyPr wrap="square" lIns="0" tIns="0" rIns="0" bIns="0" rtlCol="0" anchor="t">
            <a:normAutofit/>
          </a:bodyPr>
          <a:lstStyle/>
          <a:p>
            <a:pPr algn="l" indent="0" marL="0">
              <a:lnSpc>
                <a:spcPts val="1758"/>
              </a:lnSpc>
              <a:buNone/>
            </a:pPr>
            <a:r>
              <a:rPr lang="en-US" sz="1256" dirty="0">
                <a:solidFill>
                  <a:srgbClr val="BFD3C8"/>
                </a:solidFill>
                <a:latin typeface="IBM Plex Sans" pitchFamily="34" charset="0"/>
                <a:ea typeface="IBM Plex Sans" pitchFamily="34" charset="-122"/>
                <a:cs typeface="IBM Plex Sans" pitchFamily="34" charset="-120"/>
              </a:rPr>
              <a:t>detection and false-alarm rates at scale, measured during pilots</a:t>
            </a:r>
            <a:endParaRPr lang="en-US" sz="1256" dirty="0"/>
          </a:p>
        </p:txBody>
      </p:sp>
      <p:sp>
        <p:nvSpPr>
          <p:cNvPr id="22" name="Text 2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DB3A8"/>
                </a:solidFill>
                <a:latin typeface="IBM Plex Sans" pitchFamily="34" charset="0"/>
                <a:ea typeface="IBM Plex Sans" pitchFamily="34" charset="-122"/>
                <a:cs typeface="IBM Plex Sans" pitchFamily="34" charset="-120"/>
              </a:rPr>
              <a:t>Test scenarios: hand-written event sequences (mirage/fakes.py) · Confessions: live runs on local Ollama models · Synthetic data only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2"/>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E7A4F"/>
                </a:solidFill>
                <a:latin typeface="JetBrains Mono" pitchFamily="49" charset="0"/>
                <a:ea typeface="JetBrains Mono" pitchFamily="49" charset="-122"/>
                <a:cs typeface="JetBrains Mono" pitchFamily="49" charset="-120"/>
              </a:rPr>
              <a:t>HUMAN CONTROL AND LIMITS</a:t>
            </a:r>
            <a:endParaRPr lang="en-US" sz="1200" dirty="0"/>
          </a:p>
        </p:txBody>
      </p:sp>
      <p:sp>
        <p:nvSpPr>
          <p:cNvPr id="3" name="Text 1"/>
          <p:cNvSpPr/>
          <p:nvPr>
            <p:ph type="title"/>
          </p:nvPr>
        </p:nvSpPr>
        <p:spPr>
          <a:xfrm>
            <a:off x="812800" y="12801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01B"/>
                </a:solidFill>
                <a:latin typeface="Space Grotesk" pitchFamily="34" charset="0"/>
                <a:ea typeface="Space Grotesk" pitchFamily="34" charset="-122"/>
                <a:cs typeface="Space Grotesk" pitchFamily="34" charset="-120"/>
              </a:rPr>
              <a:t>Automatic only where it is safe and reversible.</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49711"/>
          <a:ext cx="10553700" cy="2721124"/>
        </p:xfrm>
        <a:graphic>
          <a:graphicData uri="http://schemas.openxmlformats.org/drawingml/2006/table">
            <a:tbl>
              <a:tblPr/>
              <a:tblGrid>
                <a:gridCol w="2955036"/>
                <a:gridCol w="3799332"/>
                <a:gridCol w="3799332"/>
              </a:tblGrid>
              <a:tr h="359321">
                <a:tc>
                  <a:txBody>
                    <a:bodyPr/>
                    <a:lstStyle/>
                    <a:p>
                      <a:pPr indent="0" marL="0">
                        <a:lnSpc>
                          <a:spcPts val="1820"/>
                        </a:lnSpc>
                        <a:buNone/>
                      </a:pPr>
                      <a:r>
                        <a:rPr lang="en-US" sz="1300" b="1" dirty="0">
                          <a:solidFill>
                            <a:srgbClr val="14201B"/>
                          </a:solidFill>
                          <a:latin typeface="IBM Plex Sans" pitchFamily="34" charset="0"/>
                          <a:ea typeface="IBM Plex Sans" pitchFamily="34" charset="-122"/>
                          <a:cs typeface="IBM Plex Sans" pitchFamily="34" charset="-120"/>
                        </a:rPr>
                        <a:t>Automatic</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1"/>
                      </a:solidFill>
                      <a:prstDash val="solid"/>
                      <a:round/>
                      <a:headEnd type="none" w="med" len="med"/>
                      <a:tailEnd type="none" w="med" len="med"/>
                    </a:lnL>
                    <a:lnR w="12700" cap="flat" cmpd="sng" algn="ctr">
                      <a:solidFill>
                        <a:srgbClr val="B5B6B3"/>
                      </a:solidFill>
                      <a:prstDash val="solid"/>
                      <a:round/>
                      <a:headEnd type="none" w="med" len="med"/>
                      <a:tailEnd type="none" w="med" len="med"/>
                    </a:lnR>
                    <a:lnT w="12700" cap="flat" cmpd="sng" algn="ctr">
                      <a:solidFill>
                        <a:srgbClr val="C3C4C1"/>
                      </a:solidFill>
                      <a:prstDash val="solid"/>
                      <a:round/>
                      <a:headEnd type="none" w="med" len="med"/>
                      <a:tailEnd type="none" w="med" len="med"/>
                    </a:lnT>
                    <a:lnB w="12700" cap="flat" cmpd="sng" algn="ctr">
                      <a:solidFill>
                        <a:srgbClr val="B5B6B3"/>
                      </a:solidFill>
                      <a:prstDash val="solid"/>
                      <a:round/>
                      <a:headEnd type="none" w="med" len="med"/>
                      <a:tailEnd type="none" w="med" len="med"/>
                    </a:lnB>
                    <a:solidFill>
                      <a:srgbClr val="E2E4E0"/>
                    </a:solidFill>
                  </a:tcPr>
                </a:tc>
                <a:tc>
                  <a:txBody>
                    <a:bodyPr/>
                    <a:lstStyle/>
                    <a:p>
                      <a:pPr indent="0" marL="0">
                        <a:lnSpc>
                          <a:spcPts val="1820"/>
                        </a:lnSpc>
                        <a:buNone/>
                      </a:pPr>
                      <a:r>
                        <a:rPr lang="en-US" sz="1300" b="1" dirty="0">
                          <a:solidFill>
                            <a:srgbClr val="14201B"/>
                          </a:solidFill>
                          <a:latin typeface="IBM Plex Sans" pitchFamily="34" charset="0"/>
                          <a:ea typeface="IBM Plex Sans" pitchFamily="34" charset="-122"/>
                          <a:cs typeface="IBM Plex Sans" pitchFamily="34" charset="-120"/>
                        </a:rPr>
                        <a:t>Waits for the analyst</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5B6B3"/>
                      </a:solidFill>
                      <a:prstDash val="solid"/>
                      <a:round/>
                      <a:headEnd type="none" w="med" len="med"/>
                      <a:tailEnd type="none" w="med" len="med"/>
                    </a:lnL>
                    <a:lnR w="12700" cap="flat" cmpd="sng" algn="ctr">
                      <a:solidFill>
                        <a:srgbClr val="B5B6B3"/>
                      </a:solidFill>
                      <a:prstDash val="solid"/>
                      <a:round/>
                      <a:headEnd type="none" w="med" len="med"/>
                      <a:tailEnd type="none" w="med" len="med"/>
                    </a:lnR>
                    <a:lnT w="12700" cap="flat" cmpd="sng" algn="ctr">
                      <a:solidFill>
                        <a:srgbClr val="C3C4C1"/>
                      </a:solidFill>
                      <a:prstDash val="solid"/>
                      <a:round/>
                      <a:headEnd type="none" w="med" len="med"/>
                      <a:tailEnd type="none" w="med" len="med"/>
                    </a:lnT>
                    <a:lnB w="12700" cap="flat" cmpd="sng" algn="ctr">
                      <a:solidFill>
                        <a:srgbClr val="B5B6B3"/>
                      </a:solidFill>
                      <a:prstDash val="solid"/>
                      <a:round/>
                      <a:headEnd type="none" w="med" len="med"/>
                      <a:tailEnd type="none" w="med" len="med"/>
                    </a:lnB>
                    <a:solidFill>
                      <a:srgbClr val="E2E4E0"/>
                    </a:solidFill>
                  </a:tcPr>
                </a:tc>
                <a:tc>
                  <a:txBody>
                    <a:bodyPr/>
                    <a:lstStyle/>
                    <a:p>
                      <a:pPr indent="0" marL="0">
                        <a:lnSpc>
                          <a:spcPts val="1820"/>
                        </a:lnSpc>
                        <a:buNone/>
                      </a:pPr>
                      <a:r>
                        <a:rPr lang="en-US" sz="1300" b="1" dirty="0">
                          <a:solidFill>
                            <a:srgbClr val="14201B"/>
                          </a:solidFill>
                          <a:latin typeface="IBM Plex Sans" pitchFamily="34" charset="0"/>
                          <a:ea typeface="IBM Plex Sans" pitchFamily="34" charset="-122"/>
                          <a:cs typeface="IBM Plex Sans" pitchFamily="34" charset="-120"/>
                        </a:rPr>
                        <a:t>What we don't cover yet</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5B6B3"/>
                      </a:solidFill>
                      <a:prstDash val="solid"/>
                      <a:round/>
                      <a:headEnd type="none" w="med" len="med"/>
                      <a:tailEnd type="none" w="med" len="med"/>
                    </a:lnL>
                    <a:lnR w="12700" cap="flat" cmpd="sng" algn="ctr">
                      <a:solidFill>
                        <a:srgbClr val="B5B6B3"/>
                      </a:solidFill>
                      <a:prstDash val="solid"/>
                      <a:round/>
                      <a:headEnd type="none" w="med" len="med"/>
                      <a:tailEnd type="none" w="med" len="med"/>
                    </a:lnR>
                    <a:lnT w="12700" cap="flat" cmpd="sng" algn="ctr">
                      <a:solidFill>
                        <a:srgbClr val="C3C4C1"/>
                      </a:solidFill>
                      <a:prstDash val="solid"/>
                      <a:round/>
                      <a:headEnd type="none" w="med" len="med"/>
                      <a:tailEnd type="none" w="med" len="med"/>
                    </a:lnT>
                    <a:lnB w="12700" cap="flat" cmpd="sng" algn="ctr">
                      <a:solidFill>
                        <a:srgbClr val="B5B6B3"/>
                      </a:solidFill>
                      <a:prstDash val="solid"/>
                      <a:round/>
                      <a:headEnd type="none" w="med" len="med"/>
                      <a:tailEnd type="none" w="med" len="med"/>
                    </a:lnB>
                    <a:solidFill>
                      <a:srgbClr val="E2E4E0"/>
                    </a:solidFill>
                  </a:tcPr>
                </a:tc>
              </a:tr>
              <a:tr h="590451">
                <a:tc>
                  <a:txBody>
                    <a:bodyPr/>
                    <a:lstStyle/>
                    <a:p>
                      <a:pPr indent="0" marL="0">
                        <a:lnSpc>
                          <a:spcPts val="1820"/>
                        </a:lnSpc>
                        <a:buNone/>
                      </a:pPr>
                      <a:r>
                        <a:rPr lang="en-US" sz="1300" dirty="0">
                          <a:solidFill>
                            <a:srgbClr val="14201B"/>
                          </a:solidFill>
                          <a:latin typeface="IBM Plex Sans" pitchFamily="34" charset="0"/>
                          <a:ea typeface="IBM Plex Sans" pitchFamily="34" charset="-122"/>
                          <a:cs typeface="IBM Plex Sans" pitchFamily="34" charset="-120"/>
                        </a:rPr>
                        <a:t>Swap real files for fakes (nothing deleted)</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1"/>
                      </a:solidFill>
                      <a:prstDash val="solid"/>
                      <a:round/>
                      <a:headEnd type="none" w="med" len="med"/>
                      <a:tailEnd type="none" w="med" len="med"/>
                    </a:lnL>
                    <a:lnR w="12700" cap="flat" cmpd="sng" algn="ctr">
                      <a:solidFill>
                        <a:srgbClr val="C3C4C1"/>
                      </a:solidFill>
                      <a:prstDash val="solid"/>
                      <a:round/>
                      <a:headEnd type="none" w="med" len="med"/>
                      <a:tailEnd type="none" w="med" len="med"/>
                    </a:lnR>
                    <a:lnT w="12700" cap="flat" cmpd="sng" algn="ctr">
                      <a:solidFill>
                        <a:srgbClr val="B5B6B3"/>
                      </a:solidFill>
                      <a:prstDash val="solid"/>
                      <a:round/>
                      <a:headEnd type="none" w="med" len="med"/>
                      <a:tailEnd type="none" w="med" len="med"/>
                    </a:lnT>
                    <a:lnB w="12700" cap="flat" cmpd="sng" algn="ctr">
                      <a:solidFill>
                        <a:srgbClr val="C3C4C1"/>
                      </a:solidFill>
                      <a:prstDash val="solid"/>
                      <a:round/>
                      <a:headEnd type="none" w="med" len="med"/>
                      <a:tailEnd type="none" w="med" len="med"/>
                    </a:lnB>
                  </a:tcPr>
                </a:tc>
                <a:tc>
                  <a:txBody>
                    <a:bodyPr/>
                    <a:lstStyle/>
                    <a:p>
                      <a:pPr indent="0" marL="0">
                        <a:lnSpc>
                          <a:spcPts val="1820"/>
                        </a:lnSpc>
                        <a:buNone/>
                      </a:pPr>
                      <a:r>
                        <a:rPr lang="en-US" sz="1300" dirty="0">
                          <a:solidFill>
                            <a:srgbClr val="14201B"/>
                          </a:solidFill>
                          <a:latin typeface="IBM Plex Sans" pitchFamily="34" charset="0"/>
                          <a:ea typeface="IBM Plex Sans" pitchFamily="34" charset="-122"/>
                          <a:cs typeface="IBM Plex Sans" pitchFamily="34" charset="-120"/>
                        </a:rPr>
                        <a:t>Contain: lock the account, end the session</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1"/>
                      </a:solidFill>
                      <a:prstDash val="solid"/>
                      <a:round/>
                      <a:headEnd type="none" w="med" len="med"/>
                      <a:tailEnd type="none" w="med" len="med"/>
                    </a:lnL>
                    <a:lnR w="12700" cap="flat" cmpd="sng" algn="ctr">
                      <a:solidFill>
                        <a:srgbClr val="C3C4C1"/>
                      </a:solidFill>
                      <a:prstDash val="solid"/>
                      <a:round/>
                      <a:headEnd type="none" w="med" len="med"/>
                      <a:tailEnd type="none" w="med" len="med"/>
                    </a:lnR>
                    <a:lnT w="12700" cap="flat" cmpd="sng" algn="ctr">
                      <a:solidFill>
                        <a:srgbClr val="B5B6B3"/>
                      </a:solidFill>
                      <a:prstDash val="solid"/>
                      <a:round/>
                      <a:headEnd type="none" w="med" len="med"/>
                      <a:tailEnd type="none" w="med" len="med"/>
                    </a:lnT>
                    <a:lnB w="12700" cap="flat" cmpd="sng" algn="ctr">
                      <a:solidFill>
                        <a:srgbClr val="C3C4C1"/>
                      </a:solidFill>
                      <a:prstDash val="solid"/>
                      <a:round/>
                      <a:headEnd type="none" w="med" len="med"/>
                      <a:tailEnd type="none" w="med" len="med"/>
                    </a:lnB>
                  </a:tcPr>
                </a:tc>
                <a:tc>
                  <a:txBody>
                    <a:bodyPr/>
                    <a:lstStyle/>
                    <a:p>
                      <a:pPr indent="0" marL="0">
                        <a:lnSpc>
                          <a:spcPts val="1820"/>
                        </a:lnSpc>
                        <a:buNone/>
                      </a:pPr>
                      <a:r>
                        <a:rPr lang="en-US" sz="1300" dirty="0">
                          <a:solidFill>
                            <a:srgbClr val="14201B"/>
                          </a:solidFill>
                          <a:latin typeface="IBM Plex Sans" pitchFamily="34" charset="0"/>
                          <a:ea typeface="IBM Plex Sans" pitchFamily="34" charset="-122"/>
                          <a:cs typeface="IBM Plex Sans" pitchFamily="34" charset="-120"/>
                        </a:rPr>
                        <a:t>Files read before any trap is touched: flagged Critical</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1"/>
                      </a:solidFill>
                      <a:prstDash val="solid"/>
                      <a:round/>
                      <a:headEnd type="none" w="med" len="med"/>
                      <a:tailEnd type="none" w="med" len="med"/>
                    </a:lnL>
                    <a:lnR w="12700" cap="flat" cmpd="sng" algn="ctr">
                      <a:solidFill>
                        <a:srgbClr val="C3C4C1"/>
                      </a:solidFill>
                      <a:prstDash val="solid"/>
                      <a:round/>
                      <a:headEnd type="none" w="med" len="med"/>
                      <a:tailEnd type="none" w="med" len="med"/>
                    </a:lnR>
                    <a:lnT w="12700" cap="flat" cmpd="sng" algn="ctr">
                      <a:solidFill>
                        <a:srgbClr val="B5B6B3"/>
                      </a:solidFill>
                      <a:prstDash val="solid"/>
                      <a:round/>
                      <a:headEnd type="none" w="med" len="med"/>
                      <a:tailEnd type="none" w="med" len="med"/>
                    </a:lnT>
                    <a:lnB w="12700" cap="flat" cmpd="sng" algn="ctr">
                      <a:solidFill>
                        <a:srgbClr val="C3C4C1"/>
                      </a:solidFill>
                      <a:prstDash val="solid"/>
                      <a:round/>
                      <a:headEnd type="none" w="med" len="med"/>
                      <a:tailEnd type="none" w="med" len="med"/>
                    </a:lnB>
                  </a:tcPr>
                </a:tc>
              </a:tr>
              <a:tr h="590451">
                <a:tc>
                  <a:txBody>
                    <a:bodyPr/>
                    <a:lstStyle/>
                    <a:p>
                      <a:pPr indent="0" marL="0">
                        <a:lnSpc>
                          <a:spcPts val="1820"/>
                        </a:lnSpc>
                        <a:buNone/>
                      </a:pPr>
                      <a:r>
                        <a:rPr lang="en-US" sz="1300" dirty="0">
                          <a:solidFill>
                            <a:srgbClr val="14201B"/>
                          </a:solidFill>
                          <a:latin typeface="IBM Plex Sans" pitchFamily="34" charset="0"/>
                          <a:ea typeface="IBM Plex Sans" pitchFamily="34" charset="-122"/>
                          <a:cs typeface="IBM Plex Sans" pitchFamily="34" charset="-120"/>
                        </a:rPr>
                        <a:t>Log every command, tagged with ATT&amp;CK</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1"/>
                      </a:solidFill>
                      <a:prstDash val="solid"/>
                      <a:round/>
                      <a:headEnd type="none" w="med" len="med"/>
                      <a:tailEnd type="none" w="med" len="med"/>
                    </a:lnL>
                    <a:lnR w="12700" cap="flat" cmpd="sng" algn="ctr">
                      <a:solidFill>
                        <a:srgbClr val="C3C4C1"/>
                      </a:solidFill>
                      <a:prstDash val="solid"/>
                      <a:round/>
                      <a:headEnd type="none" w="med" len="med"/>
                      <a:tailEnd type="none" w="med" len="med"/>
                    </a:lnR>
                    <a:lnT w="12700" cap="flat" cmpd="sng" algn="ctr">
                      <a:solidFill>
                        <a:srgbClr val="C3C4C1"/>
                      </a:solidFill>
                      <a:prstDash val="solid"/>
                      <a:round/>
                      <a:headEnd type="none" w="med" len="med"/>
                      <a:tailEnd type="none" w="med" len="med"/>
                    </a:lnT>
                    <a:lnB w="12700" cap="flat" cmpd="sng" algn="ctr">
                      <a:solidFill>
                        <a:srgbClr val="C3C4C1"/>
                      </a:solidFill>
                      <a:prstDash val="solid"/>
                      <a:round/>
                      <a:headEnd type="none" w="med" len="med"/>
                      <a:tailEnd type="none" w="med" len="med"/>
                    </a:lnB>
                  </a:tcPr>
                </a:tc>
                <a:tc>
                  <a:txBody>
                    <a:bodyPr/>
                    <a:lstStyle/>
                    <a:p>
                      <a:pPr indent="0" marL="0">
                        <a:lnSpc>
                          <a:spcPts val="1820"/>
                        </a:lnSpc>
                        <a:buNone/>
                      </a:pPr>
                      <a:r>
                        <a:rPr lang="en-US" sz="1300" dirty="0">
                          <a:solidFill>
                            <a:srgbClr val="14201B"/>
                          </a:solidFill>
                          <a:latin typeface="IBM Plex Sans" pitchFamily="34" charset="0"/>
                          <a:ea typeface="IBM Plex Sans" pitchFamily="34" charset="-122"/>
                          <a:cs typeface="IBM Plex Sans" pitchFamily="34" charset="-120"/>
                        </a:rPr>
                        <a:t>Keep watching: leave the intruder in the decoys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1"/>
                      </a:solidFill>
                      <a:prstDash val="solid"/>
                      <a:round/>
                      <a:headEnd type="none" w="med" len="med"/>
                      <a:tailEnd type="none" w="med" len="med"/>
                    </a:lnL>
                    <a:lnR w="12700" cap="flat" cmpd="sng" algn="ctr">
                      <a:solidFill>
                        <a:srgbClr val="C3C4C1"/>
                      </a:solidFill>
                      <a:prstDash val="solid"/>
                      <a:round/>
                      <a:headEnd type="none" w="med" len="med"/>
                      <a:tailEnd type="none" w="med" len="med"/>
                    </a:lnR>
                    <a:lnT w="12700" cap="flat" cmpd="sng" algn="ctr">
                      <a:solidFill>
                        <a:srgbClr val="C3C4C1"/>
                      </a:solidFill>
                      <a:prstDash val="solid"/>
                      <a:round/>
                      <a:headEnd type="none" w="med" len="med"/>
                      <a:tailEnd type="none" w="med" len="med"/>
                    </a:lnT>
                    <a:lnB w="12700" cap="flat" cmpd="sng" algn="ctr">
                      <a:solidFill>
                        <a:srgbClr val="C3C4C1"/>
                      </a:solidFill>
                      <a:prstDash val="solid"/>
                      <a:round/>
                      <a:headEnd type="none" w="med" len="med"/>
                      <a:tailEnd type="none" w="med" len="med"/>
                    </a:lnB>
                  </a:tcPr>
                </a:tc>
                <a:tc>
                  <a:txBody>
                    <a:bodyPr/>
                    <a:lstStyle/>
                    <a:p>
                      <a:pPr indent="0" marL="0">
                        <a:lnSpc>
                          <a:spcPts val="1820"/>
                        </a:lnSpc>
                        <a:buNone/>
                      </a:pPr>
                      <a:r>
                        <a:rPr lang="en-US" sz="1300" dirty="0">
                          <a:solidFill>
                            <a:srgbClr val="14201B"/>
                          </a:solidFill>
                          <a:latin typeface="IBM Plex Sans" pitchFamily="34" charset="0"/>
                          <a:ea typeface="IBM Plex Sans" pitchFamily="34" charset="-122"/>
                          <a:cs typeface="IBM Plex Sans" pitchFamily="34" charset="-120"/>
                        </a:rPr>
                        <a:t>A careful AI that never opens a trap</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1"/>
                      </a:solidFill>
                      <a:prstDash val="solid"/>
                      <a:round/>
                      <a:headEnd type="none" w="med" len="med"/>
                      <a:tailEnd type="none" w="med" len="med"/>
                    </a:lnL>
                    <a:lnR w="12700" cap="flat" cmpd="sng" algn="ctr">
                      <a:solidFill>
                        <a:srgbClr val="C3C4C1"/>
                      </a:solidFill>
                      <a:prstDash val="solid"/>
                      <a:round/>
                      <a:headEnd type="none" w="med" len="med"/>
                      <a:tailEnd type="none" w="med" len="med"/>
                    </a:lnR>
                    <a:lnT w="12700" cap="flat" cmpd="sng" algn="ctr">
                      <a:solidFill>
                        <a:srgbClr val="C3C4C1"/>
                      </a:solidFill>
                      <a:prstDash val="solid"/>
                      <a:round/>
                      <a:headEnd type="none" w="med" len="med"/>
                      <a:tailEnd type="none" w="med" len="med"/>
                    </a:lnT>
                    <a:lnB w="12700" cap="flat" cmpd="sng" algn="ctr">
                      <a:solidFill>
                        <a:srgbClr val="C3C4C1"/>
                      </a:solidFill>
                      <a:prstDash val="solid"/>
                      <a:round/>
                      <a:headEnd type="none" w="med" len="med"/>
                      <a:tailEnd type="none" w="med" len="med"/>
                    </a:lnB>
                  </a:tcPr>
                </a:tc>
              </a:tr>
              <a:tr h="590451">
                <a:tc>
                  <a:txBody>
                    <a:bodyPr/>
                    <a:lstStyle/>
                    <a:p>
                      <a:pPr indent="0" marL="0">
                        <a:lnSpc>
                          <a:spcPts val="1820"/>
                        </a:lnSpc>
                        <a:buNone/>
                      </a:pPr>
                      <a:r>
                        <a:rPr lang="en-US" sz="1300" dirty="0">
                          <a:solidFill>
                            <a:srgbClr val="14201B"/>
                          </a:solidFill>
                          <a:latin typeface="IBM Plex Sans" pitchFamily="34" charset="0"/>
                          <a:ea typeface="IBM Plex Sans" pitchFamily="34" charset="-122"/>
                          <a:cs typeface="IBM Plex Sans" pitchFamily="34" charset="-120"/>
                        </a:rPr>
                        <a:t>Label the intruder (triggers nothing)</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1"/>
                      </a:solidFill>
                      <a:prstDash val="solid"/>
                      <a:round/>
                      <a:headEnd type="none" w="med" len="med"/>
                      <a:tailEnd type="none" w="med" len="med"/>
                    </a:lnL>
                    <a:lnR w="12700" cap="flat" cmpd="sng" algn="ctr">
                      <a:solidFill>
                        <a:srgbClr val="C3C4C1"/>
                      </a:solidFill>
                      <a:prstDash val="solid"/>
                      <a:round/>
                      <a:headEnd type="none" w="med" len="med"/>
                      <a:tailEnd type="none" w="med" len="med"/>
                    </a:lnR>
                    <a:lnT w="12700" cap="flat" cmpd="sng" algn="ctr">
                      <a:solidFill>
                        <a:srgbClr val="C3C4C1"/>
                      </a:solidFill>
                      <a:prstDash val="solid"/>
                      <a:round/>
                      <a:headEnd type="none" w="med" len="med"/>
                      <a:tailEnd type="none" w="med" len="med"/>
                    </a:lnT>
                    <a:lnB w="12700" cap="flat" cmpd="sng" algn="ctr">
                      <a:solidFill>
                        <a:srgbClr val="C3C4C1"/>
                      </a:solidFill>
                      <a:prstDash val="solid"/>
                      <a:round/>
                      <a:headEnd type="none" w="med" len="med"/>
                      <a:tailEnd type="none" w="med" len="med"/>
                    </a:lnB>
                  </a:tcPr>
                </a:tc>
                <a:tc>
                  <a:txBody>
                    <a:bodyPr/>
                    <a:lstStyle/>
                    <a:p>
                      <a:pPr indent="0" marL="0">
                        <a:lnSpc>
                          <a:spcPts val="1820"/>
                        </a:lnSpc>
                        <a:buNone/>
                      </a:pPr>
                      <a:r>
                        <a:rPr lang="en-US" sz="1300" dirty="0">
                          <a:solidFill>
                            <a:srgbClr val="14201B"/>
                          </a:solidFill>
                          <a:latin typeface="IBM Plex Sans" pitchFamily="34" charset="0"/>
                          <a:ea typeface="IBM Plex Sans" pitchFamily="34" charset="-122"/>
                          <a:cs typeface="IBM Plex Sans" pitchFamily="34" charset="-120"/>
                        </a:rPr>
                        <a:t>Dismiss a false alarm, or Restore the real files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1"/>
                      </a:solidFill>
                      <a:prstDash val="solid"/>
                      <a:round/>
                      <a:headEnd type="none" w="med" len="med"/>
                      <a:tailEnd type="none" w="med" len="med"/>
                    </a:lnL>
                    <a:lnR w="12700" cap="flat" cmpd="sng" algn="ctr">
                      <a:solidFill>
                        <a:srgbClr val="C3C4C1"/>
                      </a:solidFill>
                      <a:prstDash val="solid"/>
                      <a:round/>
                      <a:headEnd type="none" w="med" len="med"/>
                      <a:tailEnd type="none" w="med" len="med"/>
                    </a:lnR>
                    <a:lnT w="12700" cap="flat" cmpd="sng" algn="ctr">
                      <a:solidFill>
                        <a:srgbClr val="C3C4C1"/>
                      </a:solidFill>
                      <a:prstDash val="solid"/>
                      <a:round/>
                      <a:headEnd type="none" w="med" len="med"/>
                      <a:tailEnd type="none" w="med" len="med"/>
                    </a:lnT>
                    <a:lnB w="12700" cap="flat" cmpd="sng" algn="ctr">
                      <a:solidFill>
                        <a:srgbClr val="C3C4C1"/>
                      </a:solidFill>
                      <a:prstDash val="solid"/>
                      <a:round/>
                      <a:headEnd type="none" w="med" len="med"/>
                      <a:tailEnd type="none" w="med" len="med"/>
                    </a:lnB>
                  </a:tcPr>
                </a:tc>
                <a:tc>
                  <a:txBody>
                    <a:bodyPr/>
                    <a:lstStyle/>
                    <a:p>
                      <a:pPr indent="0" marL="0">
                        <a:lnSpc>
                          <a:spcPts val="1820"/>
                        </a:lnSpc>
                        <a:buNone/>
                      </a:pPr>
                      <a:r>
                        <a:rPr lang="en-US" sz="1300" dirty="0">
                          <a:solidFill>
                            <a:srgbClr val="14201B"/>
                          </a:solidFill>
                          <a:latin typeface="IBM Plex Sans" pitchFamily="34" charset="0"/>
                          <a:ea typeface="IBM Plex Sans" pitchFamily="34" charset="-122"/>
                          <a:cs typeface="IBM Plex Sans" pitchFamily="34" charset="-120"/>
                        </a:rPr>
                        <a:t>A root attacker on the vault machine (production: separate machine)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1"/>
                      </a:solidFill>
                      <a:prstDash val="solid"/>
                      <a:round/>
                      <a:headEnd type="none" w="med" len="med"/>
                      <a:tailEnd type="none" w="med" len="med"/>
                    </a:lnL>
                    <a:lnR w="12700" cap="flat" cmpd="sng" algn="ctr">
                      <a:solidFill>
                        <a:srgbClr val="C3C4C1"/>
                      </a:solidFill>
                      <a:prstDash val="solid"/>
                      <a:round/>
                      <a:headEnd type="none" w="med" len="med"/>
                      <a:tailEnd type="none" w="med" len="med"/>
                    </a:lnR>
                    <a:lnT w="12700" cap="flat" cmpd="sng" algn="ctr">
                      <a:solidFill>
                        <a:srgbClr val="C3C4C1"/>
                      </a:solidFill>
                      <a:prstDash val="solid"/>
                      <a:round/>
                      <a:headEnd type="none" w="med" len="med"/>
                      <a:tailEnd type="none" w="med" len="med"/>
                    </a:lnT>
                    <a:lnB w="12700" cap="flat" cmpd="sng" algn="ctr">
                      <a:solidFill>
                        <a:srgbClr val="C3C4C1"/>
                      </a:solidFill>
                      <a:prstDash val="solid"/>
                      <a:round/>
                      <a:headEnd type="none" w="med" len="med"/>
                      <a:tailEnd type="none" w="med" len="med"/>
                    </a:lnB>
                  </a:tcPr>
                </a:tc>
              </a:tr>
              <a:tr h="590451">
                <a:tc>
                  <a:txBody>
                    <a:bodyPr/>
                    <a:lstStyle/>
                    <a:p>
                      <a:pPr indent="0" marL="0">
                        <a:lnSpc>
                          <a:spcPts val="1820"/>
                        </a:lnSpc>
                        <a:buNone/>
                      </a:pPr>
                      <a:r>
                        <a:rPr lang="en-US" sz="1300" dirty="0">
                          <a:solidFill>
                            <a:srgbClr val="14201B"/>
                          </a:solidFill>
                          <a:latin typeface="IBM Plex Sans" pitchFamily="34" charset="0"/>
                          <a:ea typeface="IBM Plex Sans" pitchFamily="34" charset="-122"/>
                          <a:cs typeface="IBM Plex Sans" pitchFamily="34" charset="-120"/>
                        </a:rPr>
                        <a:t>"Guard silent" heartbeat alarm</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1"/>
                      </a:solidFill>
                      <a:prstDash val="solid"/>
                      <a:round/>
                      <a:headEnd type="none" w="med" len="med"/>
                      <a:tailEnd type="none" w="med" len="med"/>
                    </a:lnL>
                    <a:lnR w="12700" cap="flat" cmpd="sng" algn="ctr">
                      <a:solidFill>
                        <a:srgbClr val="C3C4C1"/>
                      </a:solidFill>
                      <a:prstDash val="solid"/>
                      <a:round/>
                      <a:headEnd type="none" w="med" len="med"/>
                      <a:tailEnd type="none" w="med" len="med"/>
                    </a:lnR>
                    <a:lnT w="12700" cap="flat" cmpd="sng" algn="ctr">
                      <a:solidFill>
                        <a:srgbClr val="C3C4C1"/>
                      </a:solidFill>
                      <a:prstDash val="solid"/>
                      <a:round/>
                      <a:headEnd type="none" w="med" len="med"/>
                      <a:tailEnd type="none" w="med" len="med"/>
                    </a:lnT>
                    <a:lnB w="12700" cap="flat" cmpd="sng" algn="ctr">
                      <a:solidFill>
                        <a:srgbClr val="C3C4C1"/>
                      </a:solidFill>
                      <a:prstDash val="solid"/>
                      <a:round/>
                      <a:headEnd type="none" w="med" len="med"/>
                      <a:tailEnd type="none" w="med" len="med"/>
                    </a:lnB>
                  </a:tcPr>
                </a:tc>
                <a:tc>
                  <a:txBody>
                    <a:bodyPr/>
                    <a:lstStyle/>
                    <a:p>
                      <a:pPr indent="0" marL="0">
                        <a:lnSpc>
                          <a:spcPts val="1820"/>
                        </a:lnSpc>
                        <a:buNone/>
                      </a:pPr>
                      <a:r>
                        <a:rPr lang="en-US" sz="1300" dirty="0">
                          <a:solidFill>
                            <a:srgbClr val="14201B"/>
                          </a:solidFill>
                          <a:latin typeface="IBM Plex Sans" pitchFamily="34" charset="0"/>
                          <a:ea typeface="IBM Plex Sans" pitchFamily="34" charset="-122"/>
                          <a:cs typeface="IBM Plex Sans" pitchFamily="34" charset="-120"/>
                        </a:rPr>
                        <a:t>Approve the AI-drafted summary and NIS2 early warning</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1"/>
                      </a:solidFill>
                      <a:prstDash val="solid"/>
                      <a:round/>
                      <a:headEnd type="none" w="med" len="med"/>
                      <a:tailEnd type="none" w="med" len="med"/>
                    </a:lnL>
                    <a:lnR w="12700" cap="flat" cmpd="sng" algn="ctr">
                      <a:solidFill>
                        <a:srgbClr val="C3C4C1"/>
                      </a:solidFill>
                      <a:prstDash val="solid"/>
                      <a:round/>
                      <a:headEnd type="none" w="med" len="med"/>
                      <a:tailEnd type="none" w="med" len="med"/>
                    </a:lnR>
                    <a:lnT w="12700" cap="flat" cmpd="sng" algn="ctr">
                      <a:solidFill>
                        <a:srgbClr val="C3C4C1"/>
                      </a:solidFill>
                      <a:prstDash val="solid"/>
                      <a:round/>
                      <a:headEnd type="none" w="med" len="med"/>
                      <a:tailEnd type="none" w="med" len="med"/>
                    </a:lnT>
                    <a:lnB w="12700" cap="flat" cmpd="sng" algn="ctr">
                      <a:solidFill>
                        <a:srgbClr val="C3C4C1"/>
                      </a:solidFill>
                      <a:prstDash val="solid"/>
                      <a:round/>
                      <a:headEnd type="none" w="med" len="med"/>
                      <a:tailEnd type="none" w="med" len="med"/>
                    </a:lnB>
                  </a:tcPr>
                </a:tc>
                <a:tc>
                  <a:txBody>
                    <a:bodyPr/>
                    <a:lstStyle/>
                    <a:p>
                      <a:pPr indent="0" marL="0">
                        <a:lnSpc>
                          <a:spcPts val="1820"/>
                        </a:lnSpc>
                        <a:buNone/>
                      </a:pPr>
                      <a:r>
                        <a:rPr lang="en-US" sz="1300" dirty="0">
                          <a:solidFill>
                            <a:srgbClr val="14201B"/>
                          </a:solidFill>
                          <a:latin typeface="IBM Plex Sans" pitchFamily="34" charset="0"/>
                          <a:ea typeface="IBM Plex Sans" pitchFamily="34" charset="-122"/>
                          <a:cs typeface="IBM Plex Sans" pitchFamily="34" charset="-120"/>
                        </a:rPr>
                        <a:t>Cloud storage (SharePoint, S3): on the roadmap</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1"/>
                      </a:solidFill>
                      <a:prstDash val="solid"/>
                      <a:round/>
                      <a:headEnd type="none" w="med" len="med"/>
                      <a:tailEnd type="none" w="med" len="med"/>
                    </a:lnL>
                    <a:lnR w="12700" cap="flat" cmpd="sng" algn="ctr">
                      <a:solidFill>
                        <a:srgbClr val="C3C4C1"/>
                      </a:solidFill>
                      <a:prstDash val="solid"/>
                      <a:round/>
                      <a:headEnd type="none" w="med" len="med"/>
                      <a:tailEnd type="none" w="med" len="med"/>
                    </a:lnR>
                    <a:lnT w="12700" cap="flat" cmpd="sng" algn="ctr">
                      <a:solidFill>
                        <a:srgbClr val="C3C4C1"/>
                      </a:solidFill>
                      <a:prstDash val="solid"/>
                      <a:round/>
                      <a:headEnd type="none" w="med" len="med"/>
                      <a:tailEnd type="none" w="med" len="med"/>
                    </a:lnT>
                    <a:lnB w="12700" cap="flat" cmpd="sng" algn="ctr">
                      <a:solidFill>
                        <a:srgbClr val="C3C4C1"/>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2"/>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E7A4F"/>
                </a:solidFill>
                <a:latin typeface="JetBrains Mono" pitchFamily="49" charset="0"/>
                <a:ea typeface="JetBrains Mono" pitchFamily="49" charset="-122"/>
                <a:cs typeface="JetBrains Mono" pitchFamily="49" charset="-120"/>
              </a:rPr>
              <a:t>MARKET, BUSINESS AND TEAM</a:t>
            </a:r>
            <a:endParaRPr lang="en-US" sz="1200" dirty="0"/>
          </a:p>
        </p:txBody>
      </p:sp>
      <p:sp>
        <p:nvSpPr>
          <p:cNvPr id="3" name="Text 1"/>
          <p:cNvSpPr/>
          <p:nvPr>
            <p:ph type="title"/>
          </p:nvPr>
        </p:nvSpPr>
        <p:spPr>
          <a:xfrm>
            <a:off x="812800" y="1254720"/>
            <a:ext cx="10883392" cy="91946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01B"/>
                </a:solidFill>
                <a:latin typeface="Space Grotesk" pitchFamily="34" charset="0"/>
                <a:ea typeface="Space Grotesk" pitchFamily="34" charset="-122"/>
                <a:cs typeface="Space Grotesk" pitchFamily="34" charset="-120"/>
              </a:rPr>
              <a:t>Deception detects intruders. MIRAGE protects the data.</a:t>
            </a:r>
            <a:endParaRPr lang="en-US" sz="3200" dirty="0"/>
          </a:p>
        </p:txBody>
      </p:sp>
      <p:sp>
        <p:nvSpPr>
          <p:cNvPr id="4" name="Shape 2"/>
          <p:cNvSpPr/>
          <p:nvPr/>
        </p:nvSpPr>
        <p:spPr>
          <a:xfrm>
            <a:off x="815975" y="2380555"/>
            <a:ext cx="3397250" cy="1814661"/>
          </a:xfrm>
          <a:prstGeom prst="roundRect">
            <a:avLst>
              <a:gd name="adj" fmla="val 5424"/>
            </a:avLst>
          </a:prstGeom>
          <a:solidFill>
            <a:srgbClr val="FFFFFF"/>
          </a:solidFill>
          <a:ln w="6350">
            <a:solidFill>
              <a:srgbClr val="D6DED8"/>
            </a:solidFill>
            <a:prstDash val="solid"/>
          </a:ln>
        </p:spPr>
      </p:sp>
      <p:sp>
        <p:nvSpPr>
          <p:cNvPr id="5" name="Text 3"/>
          <p:cNvSpPr/>
          <p:nvPr/>
        </p:nvSpPr>
        <p:spPr>
          <a:xfrm>
            <a:off x="996950" y="2561530"/>
            <a:ext cx="3126359" cy="523230"/>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1E7A4F"/>
                </a:solidFill>
                <a:latin typeface="Space Grotesk" pitchFamily="34" charset="0"/>
                <a:ea typeface="Space Grotesk" pitchFamily="34" charset="-122"/>
                <a:cs typeface="Space Grotesk" pitchFamily="34" charset="-120"/>
              </a:rPr>
              <a:t>USD 2.7 B</a:t>
            </a:r>
            <a:endParaRPr lang="en-US" sz="2800" dirty="0"/>
          </a:p>
        </p:txBody>
      </p:sp>
      <p:sp>
        <p:nvSpPr>
          <p:cNvPr id="6" name="Text 4"/>
          <p:cNvSpPr/>
          <p:nvPr/>
        </p:nvSpPr>
        <p:spPr>
          <a:xfrm>
            <a:off x="996950" y="3122861"/>
            <a:ext cx="3126359" cy="91678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44"/>
                </a:solidFill>
                <a:latin typeface="IBM Plex Sans" pitchFamily="34" charset="0"/>
                <a:ea typeface="IBM Plex Sans" pitchFamily="34" charset="-122"/>
                <a:cs typeface="IBM Plex Sans" pitchFamily="34" charset="-120"/>
              </a:rPr>
              <a:t>deception market (2025), ~11% a year. Pioneers bought by SentinelOne, Proofpoint, Zscaler: they detect, real files stay exposed.</a:t>
            </a:r>
            <a:endParaRPr lang="en-US" sz="1300" dirty="0"/>
          </a:p>
        </p:txBody>
      </p:sp>
      <p:sp>
        <p:nvSpPr>
          <p:cNvPr id="7" name="Shape 5"/>
          <p:cNvSpPr/>
          <p:nvPr/>
        </p:nvSpPr>
        <p:spPr>
          <a:xfrm>
            <a:off x="4397375" y="2380555"/>
            <a:ext cx="3397250" cy="1814661"/>
          </a:xfrm>
          <a:prstGeom prst="roundRect">
            <a:avLst>
              <a:gd name="adj" fmla="val 5424"/>
            </a:avLst>
          </a:prstGeom>
          <a:solidFill>
            <a:srgbClr val="FFFFFF"/>
          </a:solidFill>
          <a:ln w="6350">
            <a:solidFill>
              <a:srgbClr val="D6DED8"/>
            </a:solidFill>
            <a:prstDash val="solid"/>
          </a:ln>
        </p:spPr>
      </p:sp>
      <p:sp>
        <p:nvSpPr>
          <p:cNvPr id="8" name="Text 6"/>
          <p:cNvSpPr/>
          <p:nvPr/>
        </p:nvSpPr>
        <p:spPr>
          <a:xfrm>
            <a:off x="4578350" y="2561530"/>
            <a:ext cx="3126359" cy="523230"/>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1E7A4F"/>
                </a:solidFill>
                <a:latin typeface="Space Grotesk" pitchFamily="34" charset="0"/>
                <a:ea typeface="Space Grotesk" pitchFamily="34" charset="-122"/>
                <a:cs typeface="Space Grotesk" pitchFamily="34" charset="-120"/>
              </a:rPr>
              <a:t>Clinics</a:t>
            </a:r>
            <a:endParaRPr lang="en-US" sz="2800" dirty="0"/>
          </a:p>
        </p:txBody>
      </p:sp>
      <p:sp>
        <p:nvSpPr>
          <p:cNvPr id="9" name="Text 7"/>
          <p:cNvSpPr/>
          <p:nvPr/>
        </p:nvSpPr>
        <p:spPr>
          <a:xfrm>
            <a:off x="4578350" y="3122861"/>
            <a:ext cx="3126359" cy="91678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44"/>
                </a:solidFill>
                <a:latin typeface="IBM Plex Sans" pitchFamily="34" charset="0"/>
                <a:ea typeface="IBM Plex Sans" pitchFamily="34" charset="-122"/>
                <a:cs typeface="IBM Plex Sans" pitchFamily="34" charset="-120"/>
              </a:rPr>
              <a:t>Private clinics, medical labs, imaging centres: costliest breaches (USD 7.42 M), now in NIS2 scope. Sold direct and via their SOC provider.</a:t>
            </a:r>
            <a:endParaRPr lang="en-US" sz="1300" dirty="0"/>
          </a:p>
        </p:txBody>
      </p:sp>
      <p:sp>
        <p:nvSpPr>
          <p:cNvPr id="10" name="Shape 8"/>
          <p:cNvSpPr/>
          <p:nvPr/>
        </p:nvSpPr>
        <p:spPr>
          <a:xfrm>
            <a:off x="7978775" y="2380555"/>
            <a:ext cx="3397250" cy="1814661"/>
          </a:xfrm>
          <a:prstGeom prst="roundRect">
            <a:avLst>
              <a:gd name="adj" fmla="val 5424"/>
            </a:avLst>
          </a:prstGeom>
          <a:solidFill>
            <a:srgbClr val="FFFFFF"/>
          </a:solidFill>
          <a:ln w="6350">
            <a:solidFill>
              <a:srgbClr val="D6DED8"/>
            </a:solidFill>
            <a:prstDash val="solid"/>
          </a:ln>
        </p:spPr>
      </p:sp>
      <p:sp>
        <p:nvSpPr>
          <p:cNvPr id="11" name="Text 9"/>
          <p:cNvSpPr/>
          <p:nvPr/>
        </p:nvSpPr>
        <p:spPr>
          <a:xfrm>
            <a:off x="8159750" y="2561530"/>
            <a:ext cx="3126359" cy="523230"/>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1E7A4F"/>
                </a:solidFill>
                <a:latin typeface="Space Grotesk" pitchFamily="34" charset="0"/>
                <a:ea typeface="Space Grotesk" pitchFamily="34" charset="-122"/>
                <a:cs typeface="Space Grotesk" pitchFamily="34" charset="-120"/>
              </a:rPr>
              <a:t>~€6,000</a:t>
            </a:r>
            <a:endParaRPr lang="en-US" sz="2800" dirty="0"/>
          </a:p>
        </p:txBody>
      </p:sp>
      <p:sp>
        <p:nvSpPr>
          <p:cNvPr id="12" name="Text 10"/>
          <p:cNvSpPr/>
          <p:nvPr/>
        </p:nvSpPr>
        <p:spPr>
          <a:xfrm>
            <a:off x="8159750" y="3122861"/>
            <a:ext cx="3126359"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44"/>
                </a:solidFill>
                <a:latin typeface="IBM Plex Sans" pitchFamily="34" charset="0"/>
                <a:ea typeface="IBM Plex Sans" pitchFamily="34" charset="-122"/>
                <a:cs typeface="IBM Plex Sans" pitchFamily="34" charset="-120"/>
              </a:rPr>
              <a:t>per year per clinic: our pricing hypothesis, below Thinkst Canary (~USD 9,900). Next: 2–3 clinic pilots.</a:t>
            </a:r>
            <a:endParaRPr lang="en-US" sz="1300" dirty="0"/>
          </a:p>
        </p:txBody>
      </p:sp>
      <p:sp>
        <p:nvSpPr>
          <p:cNvPr id="13" name="Text 11"/>
          <p:cNvSpPr/>
          <p:nvPr/>
        </p:nvSpPr>
        <p:spPr>
          <a:xfrm>
            <a:off x="812800" y="4435872"/>
            <a:ext cx="65841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E7A4F"/>
                </a:solidFill>
                <a:latin typeface="JetBrains Mono" pitchFamily="49" charset="0"/>
                <a:ea typeface="JetBrains Mono" pitchFamily="49" charset="-122"/>
                <a:cs typeface="JetBrains Mono" pitchFamily="49" charset="-120"/>
              </a:rPr>
              <a:t>TEAM 7</a:t>
            </a:r>
            <a:endParaRPr lang="en-US" sz="1200" dirty="0"/>
          </a:p>
        </p:txBody>
      </p:sp>
      <p:sp>
        <p:nvSpPr>
          <p:cNvPr id="14" name="Text 12"/>
          <p:cNvSpPr/>
          <p:nvPr/>
        </p:nvSpPr>
        <p:spPr>
          <a:xfrm>
            <a:off x="1513880" y="4426992"/>
            <a:ext cx="8339376"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4201B"/>
                </a:solidFill>
                <a:latin typeface="IBM Plex Sans" pitchFamily="34" charset="0"/>
                <a:ea typeface="IBM Plex Sans" pitchFamily="34" charset="-122"/>
                <a:cs typeface="IBM Plex Sans" pitchFamily="34" charset="-120"/>
              </a:rPr>
              <a:t>Ana</a:t>
            </a:r>
            <a:r>
              <a:rPr lang="en-US" sz="1300" dirty="0">
                <a:solidFill>
                  <a:srgbClr val="14201B"/>
                </a:solidFill>
                <a:latin typeface="IBM Plex Sans" pitchFamily="34" charset="0"/>
                <a:ea typeface="IBM Plex Sans" pitchFamily="34" charset="-122"/>
                <a:cs typeface="IBM Plex Sans" pitchFamily="34" charset="-120"/>
              </a:rPr>
              <a:t> dashboard &amp; pitch · </a:t>
            </a:r>
            <a:r>
              <a:rPr lang="en-US" sz="1300" b="1" dirty="0">
                <a:solidFill>
                  <a:srgbClr val="14201B"/>
                </a:solidFill>
                <a:latin typeface="IBM Plex Sans" pitchFamily="34" charset="0"/>
                <a:ea typeface="IBM Plex Sans" pitchFamily="34" charset="-122"/>
                <a:cs typeface="IBM Plex Sans" pitchFamily="34" charset="-120"/>
              </a:rPr>
              <a:t>Thomas</a:t>
            </a:r>
            <a:r>
              <a:rPr lang="en-US" sz="1300" dirty="0">
                <a:solidFill>
                  <a:srgbClr val="14201B"/>
                </a:solidFill>
                <a:latin typeface="IBM Plex Sans" pitchFamily="34" charset="0"/>
                <a:ea typeface="IBM Plex Sans" pitchFamily="34" charset="-122"/>
                <a:cs typeface="IBM Plex Sans" pitchFamily="34" charset="-120"/>
              </a:rPr>
              <a:t> AI fakes &amp; checks · </a:t>
            </a:r>
            <a:r>
              <a:rPr lang="en-US" sz="1300" b="1" dirty="0">
                <a:solidFill>
                  <a:srgbClr val="14201B"/>
                </a:solidFill>
                <a:latin typeface="IBM Plex Sans" pitchFamily="34" charset="0"/>
                <a:ea typeface="IBM Plex Sans" pitchFamily="34" charset="-122"/>
                <a:cs typeface="IBM Plex Sans" pitchFamily="34" charset="-120"/>
              </a:rPr>
              <a:t>Leon</a:t>
            </a:r>
            <a:r>
              <a:rPr lang="en-US" sz="1300" dirty="0">
                <a:solidFill>
                  <a:srgbClr val="14201B"/>
                </a:solidFill>
                <a:latin typeface="IBM Plex Sans" pitchFamily="34" charset="0"/>
                <a:ea typeface="IBM Plex Sans" pitchFamily="34" charset="-122"/>
                <a:cs typeface="IBM Plex Sans" pitchFamily="34" charset="-120"/>
              </a:rPr>
              <a:t> guard &amp; vault · </a:t>
            </a:r>
            <a:r>
              <a:rPr lang="en-US" sz="1300" b="1" dirty="0">
                <a:solidFill>
                  <a:srgbClr val="14201B"/>
                </a:solidFill>
                <a:latin typeface="IBM Plex Sans" pitchFamily="34" charset="0"/>
                <a:ea typeface="IBM Plex Sans" pitchFamily="34" charset="-122"/>
                <a:cs typeface="IBM Plex Sans" pitchFamily="34" charset="-120"/>
              </a:rPr>
              <a:t>Gaia</a:t>
            </a:r>
            <a:r>
              <a:rPr lang="en-US" sz="1300" dirty="0">
                <a:solidFill>
                  <a:srgbClr val="14201B"/>
                </a:solidFill>
                <a:latin typeface="IBM Plex Sans" pitchFamily="34" charset="0"/>
                <a:ea typeface="IBM Plex Sans" pitchFamily="34" charset="-122"/>
                <a:cs typeface="IBM Plex Sans" pitchFamily="34" charset="-120"/>
              </a:rPr>
              <a:t> attacker &amp; core</a:t>
            </a:r>
            <a:endParaRPr lang="en-US" sz="1300" dirty="0"/>
          </a:p>
        </p:txBody>
      </p:sp>
      <p:sp>
        <p:nvSpPr>
          <p:cNvPr id="15" name="Text 1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65"/>
                </a:solidFill>
                <a:latin typeface="IBM Plex Sans" pitchFamily="34" charset="0"/>
                <a:ea typeface="IBM Plex Sans" pitchFamily="34" charset="-122"/>
                <a:cs typeface="IBM Plex Sans" pitchFamily="34" charset="-120"/>
              </a:rPr>
              <a:t>Sources: IMARC 2025 · IBM Cost of a Data Breach 2025 · company announcements 2021–2022 · Vendr · pricing is a team hypothesis</a:t>
            </a:r>
            <a:endParaRPr lang="en-US" sz="1200" dirty="0"/>
          </a:p>
        </p:txBody>
      </p:sp>
    </p:spTree>
  </p:cSld>
  <p:clrMapOvr>
    <a:masterClrMapping/>
  </p:clrMapOvr>
</p:sld>
</file>

<file path=ppt/theme/theme1.xml><?xml version="1.0" encoding="utf-8"?>
<a:theme xmlns:a="http://schemas.openxmlformats.org/drawingml/2006/main" name="MIRAGE_pitch_5min">
  <a:themeElements>
    <a:clrScheme name="MIRAGE_pitch_5min">
      <a:dk1>
        <a:srgbClr val="14201B"/>
      </a:dk1>
      <a:lt1>
        <a:srgbClr val="F4F6F2"/>
      </a:lt1>
      <a:dk2>
        <a:srgbClr val="4C5651"/>
      </a:dk2>
      <a:lt2>
        <a:srgbClr val="DEE1DD"/>
      </a:lt2>
      <a:accent1>
        <a:srgbClr val="1E7A4F"/>
      </a:accent1>
      <a:accent2>
        <a:srgbClr val="7BE0A0"/>
      </a:accent2>
      <a:accent3>
        <a:srgbClr val="3E4A44"/>
      </a:accent3>
      <a:accent4>
        <a:srgbClr val="9DB3A8"/>
      </a:accent4>
      <a:accent5>
        <a:srgbClr val="BFD3C8"/>
      </a:accent5>
      <a:accent6>
        <a:srgbClr val="5F6B65"/>
      </a:accent6>
      <a:hlink>
        <a:srgbClr val="0563C1"/>
      </a:hlink>
      <a:folHlink>
        <a:srgbClr val="954F72"/>
      </a:folHlink>
    </a:clrScheme>
    <a:fontScheme name="MIRAGE_pitch_5min">
      <a:majorFont>
        <a:latin typeface="Space Grotes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MIRAGE_pitch_5min</dc:title>
  <dc:subject/>
  <dc:creator/>
  <cp:lastModifiedBy/>
  <cp:revision>1</cp:revision>
  <dcterms:created xsi:type="dcterms:W3CDTF">2026-10-11T09:47:36Z</dcterms:created>
  <dcterms:modified xsi:type="dcterms:W3CDTF">2026-10-11T09:47:36Z</dcterms:modified>
</cp:coreProperties>
</file>