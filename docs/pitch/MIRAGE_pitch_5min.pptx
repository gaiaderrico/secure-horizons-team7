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· [0:00–0:15]</a:t>
            </a:r>
          </a:p>
          <a:p>
            <a:r>
              <a:rPr lang="en-US" dirty="0"/>
              <a:t>This AI hacker just broke into a clinic and stole patient records and passwords.</a:t>
            </a:r>
          </a:p>
          <a:p>
            <a:r>
              <a:rPr lang="en-US" dirty="0"/>
              <a:t>[Pause two seconds.]</a:t>
            </a:r>
          </a:p>
          <a:p>
            <a:r>
              <a:rPr lang="en-US" dirty="0"/>
              <a:t>All of them were fake. And it told us what it was looking for.</a:t>
            </a:r>
          </a:p>
          <a:p>
            <a:r>
              <a:rPr lang="en-US" dirty="0"/>
              <a:t>We're Team 7, and this is MIRAGE.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· [0:15–0:50]</a:t>
            </a:r>
          </a:p>
          <a:p>
            <a:r>
              <a:rPr lang="en-US" dirty="0"/>
              <a:t>Hackers no longer need to encrypt your systems: they steal the data.</a:t>
            </a:r>
          </a:p>
          <a:p>
            <a:r>
              <a:rPr lang="en-US" dirty="0"/>
              <a:t>In more than three out of four ransomware attacks, data is stolen, and no backup can undo a leak.</a:t>
            </a:r>
          </a:p>
          <a:p>
            <a:r>
              <a:rPr lang="en-US" dirty="0"/>
              <a:t>Healthcare is hit hardest: in 2023, the EU health sector reported 309 significant cyber incidents, more than any other critical sector.</a:t>
            </a:r>
          </a:p>
          <a:p>
            <a:r>
              <a:rPr lang="en-US" dirty="0"/>
              <a:t>And attackers are becoming AI agents. In a 2025 campaign, AI ran 80 to 90% of the operations, at several actions per second.</a:t>
            </a:r>
          </a:p>
          <a:p>
            <a:r>
              <a:rPr lang="en-US" dirty="0"/>
              <a:t>By the time an analyst reacts, the files are gone.</a:t>
            </a:r>
          </a:p>
          <a:p>
            <a:r>
              <a:rPr lang="en-US" dirty="0"/>
              <a:t>So what if whatever they steal is worthless? Thomas.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THOMAS · [0:50–1:25]</a:t>
            </a:r>
          </a:p>
          <a:p>
            <a:r>
              <a:rPr lang="en-US" dirty="0"/>
              <a:t>Before any attack, MIRAGE finds the clinic's most sensitive files: patient records, contracts, credentials.</a:t>
            </a:r>
          </a:p>
          <a:p>
            <a:r>
              <a:rPr lang="en-US" dirty="0"/>
              <a:t>For each one, it writes a realistic fake twin: same name, same format, invented content. A local AI can draft them, and code checks that no real value slips into a fake.</a:t>
            </a:r>
          </a:p>
          <a:p>
            <a:r>
              <a:rPr lang="en-US" dirty="0"/>
              <a:t>Then we hide traps, files no employee ever needs, like a passwords backup. We call them mines.</a:t>
            </a:r>
          </a:p>
          <a:p>
            <a:r>
              <a:rPr lang="en-US" dirty="0"/>
              <a:t>When an intruder opens one, the real files move to a locked vault and the fakes take their place.</a:t>
            </a:r>
          </a:p>
          <a:p>
            <a:r>
              <a:rPr lang="en-US" dirty="0"/>
              <a:t>And if the intruder is an AI, the mine makes it reveal its mission. Leon.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LEON · [1:25–1:45]</a:t>
            </a:r>
          </a:p>
          <a:p>
            <a:r>
              <a:rPr lang="en-US" dirty="0"/>
              <a:t>Preparation happens in advance. Plain code acts in the critical second.</a:t>
            </a:r>
          </a:p>
          <a:p>
            <a:r>
              <a:rPr lang="en-US" dirty="0"/>
              <a:t>On the server, a small guard with no AI watches the mines. When one opens, it swaps the files and logs every command. If anyone kills the guard, the console raises an alarm.</a:t>
            </a:r>
          </a:p>
          <a:p>
            <a:r>
              <a:rPr lang="en-US" dirty="0"/>
              <a:t>Everything runs locally, with no external AI API. Gaia.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GAIA · [1:45–3:05]</a:t>
            </a:r>
          </a:p>
          <a:p>
            <a:r>
              <a:rPr lang="en-US" dirty="0"/>
              <a:t>[On the screenshot slide, about 10 seconds.]</a:t>
            </a:r>
          </a:p>
          <a:p>
            <a:r>
              <a:rPr lang="en-US" dirty="0"/>
              <a:t>This is the analyst's console after one of our live runs: no real files lost, the swap timed by the guard, every claim checked. Let's watch it live.</a:t>
            </a:r>
          </a:p>
          <a:p>
            <a:r>
              <a:rPr lang="en-US" dirty="0"/>
              <a:t>[Switch to the live demo.]</a:t>
            </a:r>
          </a:p>
          <a:p>
            <a:r>
              <a:rPr lang="en-US" dirty="0"/>
              <a:t>Welcome to Lumen Health, our fictional clinic group, synthetic data only.</a:t>
            </a:r>
          </a:p>
          <a:p>
            <a:r>
              <a:rPr lang="en-US" dirty="0"/>
              <a:t>On the left, an AI agent with a stolen password explores the file server. On the right, MIRAGE.</a:t>
            </a:r>
          </a:p>
          <a:p>
            <a:r>
              <a:rPr lang="en-US" dirty="0"/>
              <a:t>[The agent opens a mine.]</a:t>
            </a:r>
          </a:p>
          <a:p>
            <a:r>
              <a:rPr lang="en-US" dirty="0"/>
              <a:t>That's our trap. The guard swaps the files, and here's the time it measured. [Point to the swap time.]</a:t>
            </a:r>
          </a:p>
          <a:p>
            <a:r>
              <a:rPr lang="en-US" dirty="0"/>
              <a:t>The agent keeps going and grabs what it came for. Here's what it got… and here's the real file, safe in the vault.</a:t>
            </a:r>
          </a:p>
          <a:p>
            <a:r>
              <a:rPr lang="en-US" dirty="0"/>
              <a:t>[Show the claims panel.]</a:t>
            </a:r>
          </a:p>
          <a:p>
            <a:r>
              <a:rPr lang="en-US" dirty="0"/>
              <a:t>The mine also got the agent to reveal its mission, and MIRAGE checks each claim against the logs. [Read one tag aloud.]</a:t>
            </a:r>
          </a:p>
          <a:p>
            <a:r>
              <a:rPr lang="en-US" dirty="0"/>
              <a:t>The analyst sees all of this on one card, and decides: Contain, Keep watching, Dismiss or Restore.</a:t>
            </a:r>
          </a:p>
          <a:p>
            <a:r>
              <a:rPr lang="en-US" dirty="0"/>
              <a:t>If the agent ignores the note: "This one was careful. It still only got fakes."</a:t>
            </a:r>
          </a:p>
          <a:p>
            <a:r>
              <a:rPr lang="en-US" dirty="0"/>
              <a:t>If the live run fails: go back to the screenshot slide and walk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GAIA · [3:05–3:30]</a:t>
            </a:r>
          </a:p>
          <a:p>
            <a:r>
              <a:rPr lang="en-US" dirty="0"/>
              <a:t>We ran it 10 times live: 0 real files lost in all 10, with a median swap of 2.2 milliseconds.</a:t>
            </a:r>
          </a:p>
          <a:p>
            <a:r>
              <a:rPr lang="en-US" dirty="0"/>
              <a:t>Then 8 minutes of normal work, staff plus the backup job copying the same sensitive files: zero false alarms.</a:t>
            </a:r>
          </a:p>
          <a:p>
            <a:r>
              <a:rPr lang="en-US" dirty="0"/>
              <a:t>The agent revealed its mission in all 10 runs. But a smaller model did it only twice out of ten in an earlier test, so protection never depends on the confession. Thomas.</a:t>
            </a:r>
          </a:p>
          <a:p>
            <a:r>
              <a:rPr lang="en-US" dirty="0"/>
              <a:t>THOMAS · [3:30–3:50]</a:t>
            </a:r>
          </a:p>
          <a:p>
            <a:r>
              <a:rPr lang="en-US" dirty="0"/>
              <a:t>A confession can lie, so we never trust it blindly. Each claim is checked against the logs: confirmed, unverified or contradicted.</a:t>
            </a:r>
          </a:p>
          <a:p>
            <a:r>
              <a:rPr lang="en-US" dirty="0"/>
              <a:t>Our AI drafts the incident summary and the NIS2 early warning, but they stay drafts. The decision always belongs to a human. Leon.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LEON · [3:50–4:20]</a:t>
            </a:r>
          </a:p>
          <a:p>
            <a:r>
              <a:rPr lang="en-US" dirty="0"/>
              <a:t>The swap is the only automatic action, and it deletes nothing. The intruder label triggers nothing, so a wrong label costs nothing. Everything else waits for the analyst.</a:t>
            </a:r>
          </a:p>
          <a:p>
            <a:r>
              <a:rPr lang="en-US" dirty="0"/>
              <a:t>And our honest limit: a file read before any mine is opened is exposed. If the intruder then hits a mine, the card flags that file as exposed. If it never touches a mine, the swap can't help. That happened in our very first live run, so we made the mines more tempting, and the next 10 runs all hit a mine first.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· [4:20–5:00]</a:t>
            </a:r>
          </a:p>
          <a:p>
            <a:r>
              <a:rPr lang="en-US" dirty="0"/>
              <a:t>Deception is a 2.7-billion-dollar market, and its pioneers were bought by SentinelOne, Proofpoint and Zscaler.</a:t>
            </a:r>
          </a:p>
          <a:p>
            <a:r>
              <a:rPr lang="en-US" dirty="0"/>
              <a:t>They detect the intruder, but the real files stay exposed. MIRAGE takes them out of reach.</a:t>
            </a:r>
          </a:p>
          <a:p>
            <a:r>
              <a:rPr lang="en-US" dirty="0"/>
              <a:t>Our first customers: private clinics, medical labs and imaging centres, starting in France. Our working price is around 6,000 euros per clinic per year, sold directly and through their security providers.</a:t>
            </a:r>
          </a:p>
          <a:p>
            <a:r>
              <a:rPr lang="en-US" dirty="0"/>
              <a:t>Next: pilots with two or three clinics.</a:t>
            </a:r>
          </a:p>
          <a:p>
            <a:r>
              <a:rPr lang="en-US" dirty="0"/>
              <a:t>Cybersecurity shouldn't only tell you your data is being stolen. It should change what the attacker can steal.</a:t>
            </a:r>
          </a:p>
          <a:p>
            <a:r>
              <a:rPr lang="en-US" dirty="0"/>
              <a:t>MIRAGE: protect the real, show them the fake.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20"/>
            <a:ext cx="105664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478980"/>
            <a:ext cx="10566400" cy="356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20"/>
            <a:ext cx="105664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478980"/>
            <a:ext cx="10566400" cy="356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5296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7BE0A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SECURE HORIZONS 2026 · TRACK 02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71080"/>
            <a:ext cx="10883392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i="0" dirty="0">
                <a:solidFill>
                  <a:srgbClr val="F2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AI hacker just stole 400 patient records.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427608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of them are fake. And it told us who sent it.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DB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MIRAGE · Team 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81720"/>
            <a:ext cx="1088339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Attackers steal patient data before they encrypt, and AI makes it fast.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46276"/>
            <a:ext cx="3380284" cy="2078881"/>
          </a:xfrm>
          <a:prstGeom prst="roundRect">
            <a:avLst>
              <a:gd name="adj" fmla="val 473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3003451"/>
            <a:ext cx="2951912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76%+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73150" y="3745111"/>
            <a:ext cx="2951912" cy="848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 ransomware attacks steal data. Backups can't undo a leak.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05809" y="2746276"/>
            <a:ext cx="3380333" cy="2078881"/>
          </a:xfrm>
          <a:prstGeom prst="roundRect">
            <a:avLst>
              <a:gd name="adj" fmla="val 473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4" y="3003451"/>
            <a:ext cx="295196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309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662984" y="3745111"/>
            <a:ext cx="2951963" cy="848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significant cyber incidents in EU healthcare in 2023: more than any other critical sector.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995692" y="2746276"/>
            <a:ext cx="3380333" cy="2078881"/>
          </a:xfrm>
          <a:prstGeom prst="roundRect">
            <a:avLst>
              <a:gd name="adj" fmla="val 473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2867" y="3003451"/>
            <a:ext cx="295196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80–90%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52867" y="3745111"/>
            <a:ext cx="2951963" cy="848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 a 2025 espionage campaign run by an AI agent, several actions per second.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Sources: Coveware Q3 2025 · European Commission, health-sector cyber action plan (Jan 2025) · Anthropic, GTG-1002 report (Nov 2025)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309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MIRAGE: whoever breaks in steals only fakes.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141786"/>
            <a:ext cx="1982440" cy="2088902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348161"/>
            <a:ext cx="1620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01 · before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2350" y="2637681"/>
            <a:ext cx="162049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2350" y="2957711"/>
            <a:ext cx="162049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writes a fake twin of each crown-jewel file. Mines are placed.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57165" y="2141786"/>
            <a:ext cx="1982490" cy="2088902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63540" y="2348161"/>
            <a:ext cx="1620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02 · seconds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63540" y="2637681"/>
            <a:ext cx="162054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63540" y="2957711"/>
            <a:ext cx="162054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employee opens a mine. Opening one means an intruder.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1580" y="2144961"/>
            <a:ext cx="1988790" cy="2082552"/>
          </a:xfrm>
          <a:prstGeom prst="roundRect">
            <a:avLst>
              <a:gd name="adj" fmla="val 4789"/>
            </a:avLst>
          </a:prstGeom>
          <a:solidFill>
            <a:srgbClr val="E3F5EA"/>
          </a:solidFill>
          <a:ln w="12700">
            <a:solidFill>
              <a:srgbClr val="1E7A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11130" y="2354511"/>
            <a:ext cx="1620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03 · automatic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11130" y="2644031"/>
            <a:ext cx="162049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Swap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11130" y="2964061"/>
            <a:ext cx="162049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files go to a locked vault; fakes take their place. Reversible.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2295" y="2141786"/>
            <a:ext cx="1982490" cy="2088902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8670" y="2348161"/>
            <a:ext cx="1620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04 · bonus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58670" y="2637681"/>
            <a:ext cx="162054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Identify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8670" y="2957711"/>
            <a:ext cx="162054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AI intruder follows the note in the mine and reveals its mission.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393535" y="2141786"/>
            <a:ext cx="1982490" cy="2088902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99910" y="2348161"/>
            <a:ext cx="1620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05 · human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99910" y="2637681"/>
            <a:ext cx="162054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99910" y="2957711"/>
            <a:ext cx="162054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incident card. The analyst decides: Contain, Keep watching, Dismiss or Restore.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HOW IT IS BUILT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prepares in advance. Plain code acts in the critical second.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543076"/>
            <a:ext cx="2517775" cy="2101602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749451"/>
            <a:ext cx="21681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Setup tool · runs once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2350" y="3038971"/>
            <a:ext cx="216817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2350" y="3359001"/>
            <a:ext cx="21681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labels files and forges fake twins with beacons. Code rejects any fake that leaks a real value. Places the mines.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5675" y="2546251"/>
            <a:ext cx="2524125" cy="2095252"/>
          </a:xfrm>
          <a:prstGeom prst="roundRect">
            <a:avLst>
              <a:gd name="adj" fmla="val 4546"/>
            </a:avLst>
          </a:prstGeom>
          <a:solidFill>
            <a:srgbClr val="E3F5EA"/>
          </a:solidFill>
          <a:ln w="12700">
            <a:solidFill>
              <a:srgbClr val="1E7A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5225" y="2755801"/>
            <a:ext cx="216817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On the file server · no AI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705225" y="3258641"/>
            <a:ext cx="216817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05225" y="3578671"/>
            <a:ext cx="21681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Watches the mines, runs the swap, logs every command. Carries out Contain and Restore.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725" y="2543076"/>
            <a:ext cx="2517775" cy="2101602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8100" y="2749451"/>
            <a:ext cx="21681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Backend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88100" y="3038971"/>
            <a:ext cx="216817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88100" y="3359001"/>
            <a:ext cx="21681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Groups events into one incident, labels the intruder, checks the confession, catches stolen keys.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8250" y="2543076"/>
            <a:ext cx="2517775" cy="2101602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4625" y="2749451"/>
            <a:ext cx="21681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For the analyst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64625" y="3038971"/>
            <a:ext cx="216817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64625" y="3359001"/>
            <a:ext cx="21681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incident card: who, what was taken, fake vs real. Contain, Keep watching, Dismiss, Restore.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490185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 Compose on one laptop · JSON events ready for any SIEM · runs fully offline with a local model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4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spc="200" kern="0" dirty="0">
                <a:solidFill>
                  <a:srgbClr val="7BE0A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THE ANALYST'S CONSOLE</a:t>
            </a:r>
            <a:endParaRPr lang="en-US" sz="1196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996355"/>
            <a:ext cx="10883392" cy="463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b="1" i="0" dirty="0">
                <a:solidFill>
                  <a:srgbClr val="F2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card, from a live AI attack.</a:t>
            </a:r>
            <a:endParaRPr lang="en-US" sz="3150" dirty="0"/>
          </a:p>
        </p:txBody>
      </p:sp>
      <p:pic>
        <p:nvPicPr>
          <p:cNvPr id="4" name="Image 0" descr="MIRAGE incident console after a live AI attack: no real files lost, swap in 2.7 ms, claims checked against the logs, AI draft pending approval">    </p:cNvPr>
          <p:cNvPicPr>
            <a:picLocks noChangeAspect="1"/>
          </p:cNvPicPr>
          <p:nvPr/>
        </p:nvPicPr>
        <p:blipFill>
          <a:blip r:embed="rId1"/>
          <a:srcRect l="0" r="0" t="5" b="5"/>
          <a:stretch/>
        </p:blipFill>
        <p:spPr>
          <a:xfrm>
            <a:off x="819150" y="1618407"/>
            <a:ext cx="4959350" cy="4305300"/>
          </a:xfrm>
          <a:prstGeom prst="roundRect">
            <a:avLst>
              <a:gd name="adj" fmla="val 162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615232"/>
            <a:ext cx="4965700" cy="4311650"/>
          </a:xfrm>
          <a:prstGeom prst="roundRect">
            <a:avLst>
              <a:gd name="adj" fmla="val 1694"/>
            </a:avLst>
          </a:prstGeom>
          <a:noFill/>
          <a:ln w="6350">
            <a:solidFill>
              <a:srgbClr val="2C3D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53150" y="1612057"/>
            <a:ext cx="0" cy="578445"/>
          </a:xfrm>
          <a:prstGeom prst="line">
            <a:avLst/>
          </a:prstGeom>
          <a:noFill/>
          <a:ln w="25400">
            <a:solidFill>
              <a:srgbClr val="7BE0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18250" y="1637457"/>
            <a:ext cx="5212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 real files lost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318250" y="1942257"/>
            <a:ext cx="5212779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intruder took 1 file: a fake credentials file (.env).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53150" y="2355602"/>
            <a:ext cx="0" cy="578445"/>
          </a:xfrm>
          <a:prstGeom prst="line">
            <a:avLst/>
          </a:prstGeom>
          <a:noFill/>
          <a:ln w="25400">
            <a:solidFill>
              <a:srgbClr val="7BE0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18250" y="2381002"/>
            <a:ext cx="5212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2.7 ms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318250" y="2685802"/>
            <a:ext cx="5212779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protected files swapped for fakes, timed by the guard in this run.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53150" y="3099147"/>
            <a:ext cx="0" cy="801291"/>
          </a:xfrm>
          <a:prstGeom prst="line">
            <a:avLst/>
          </a:prstGeom>
          <a:noFill/>
          <a:ln w="25400">
            <a:solidFill>
              <a:srgbClr val="7BE0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18250" y="3124547"/>
            <a:ext cx="5212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contradicted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318250" y="3429347"/>
            <a:ext cx="521277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claims checked against the logs. “Authorized”: contradicted, no pentest registered.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53150" y="4065538"/>
            <a:ext cx="0" cy="801291"/>
          </a:xfrm>
          <a:prstGeom prst="line">
            <a:avLst/>
          </a:prstGeom>
          <a:noFill/>
          <a:ln w="25400">
            <a:solidFill>
              <a:srgbClr val="7BE0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18250" y="4090938"/>
            <a:ext cx="5212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sent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318250" y="4395738"/>
            <a:ext cx="521277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drafts of the summary and NIS2 early warning wait for the analyst’s approval.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150" y="5031929"/>
            <a:ext cx="0" cy="578445"/>
          </a:xfrm>
          <a:prstGeom prst="line">
            <a:avLst/>
          </a:prstGeom>
          <a:noFill/>
          <a:ln w="25400">
            <a:solidFill>
              <a:srgbClr val="7BE0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18250" y="5057329"/>
            <a:ext cx="5212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events, 1 card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18250" y="5362129"/>
            <a:ext cx="5212779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full timeline, tagged with ATT&amp;CK, sits under the card.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12800" y="6256040"/>
            <a:ext cx="1088339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DB3A8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Screenshot from one live run · Lumen Health is fictional, all data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0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spc="200" kern="0" dirty="0">
                <a:solidFill>
                  <a:srgbClr val="7BE0A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WHAT WE TESTED, AND HOW</a:t>
            </a:r>
            <a:endParaRPr lang="en-US" sz="105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74502"/>
            <a:ext cx="10883392" cy="8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28"/>
              </a:lnSpc>
              <a:buNone/>
            </a:pPr>
            <a:r>
              <a:rPr lang="en-US" sz="3116" b="1" i="0" dirty="0">
                <a:solidFill>
                  <a:srgbClr val="F2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live: a real AI agent attacked our test server 10 times.</a:t>
            </a:r>
            <a:endParaRPr lang="en-US" sz="3116" dirty="0"/>
          </a:p>
        </p:txBody>
      </p:sp>
      <p:sp>
        <p:nvSpPr>
          <p:cNvPr id="4" name="Shape 2"/>
          <p:cNvSpPr/>
          <p:nvPr/>
        </p:nvSpPr>
        <p:spPr>
          <a:xfrm>
            <a:off x="815975" y="2222450"/>
            <a:ext cx="3414167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2403425"/>
            <a:ext cx="3143783" cy="543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11"/>
              </a:lnSpc>
              <a:buNone/>
            </a:pPr>
            <a:r>
              <a:rPr lang="en-US" sz="2936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/ 10</a:t>
            </a:r>
            <a:endParaRPr lang="en-US" sz="2936" dirty="0"/>
          </a:p>
        </p:txBody>
      </p:sp>
      <p:sp>
        <p:nvSpPr>
          <p:cNvPr id="6" name="Text 4"/>
          <p:cNvSpPr/>
          <p:nvPr/>
        </p:nvSpPr>
        <p:spPr>
          <a:xfrm>
            <a:off x="996950" y="2998192"/>
            <a:ext cx="3143783" cy="630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155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AI attacks caught by a trap, with 0 real files lost (qwen3.5:35b, local)</a:t>
            </a:r>
            <a:endParaRPr lang="en-US" sz="1155" dirty="0"/>
          </a:p>
        </p:txBody>
      </p:sp>
      <p:sp>
        <p:nvSpPr>
          <p:cNvPr id="7" name="Shape 5"/>
          <p:cNvSpPr/>
          <p:nvPr/>
        </p:nvSpPr>
        <p:spPr>
          <a:xfrm>
            <a:off x="4388892" y="2222450"/>
            <a:ext cx="3414167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69867" y="2403425"/>
            <a:ext cx="3143783" cy="657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24"/>
              </a:lnSpc>
              <a:buNone/>
            </a:pPr>
            <a:r>
              <a:rPr lang="en-US" sz="3589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2.2 ms</a:t>
            </a:r>
            <a:endParaRPr lang="en-US" sz="3589" dirty="0"/>
          </a:p>
        </p:txBody>
      </p:sp>
      <p:sp>
        <p:nvSpPr>
          <p:cNvPr id="9" name="Text 7"/>
          <p:cNvSpPr/>
          <p:nvPr/>
        </p:nvSpPr>
        <p:spPr>
          <a:xfrm>
            <a:off x="4569867" y="3111649"/>
            <a:ext cx="314378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36"/>
              </a:lnSpc>
              <a:buNone/>
            </a:pPr>
            <a:r>
              <a:rPr lang="en-US" sz="1383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median swap time read from the guard over the 10 runs (0.4–12 ms)</a:t>
            </a:r>
            <a:endParaRPr lang="en-US" sz="1383" dirty="0"/>
          </a:p>
        </p:txBody>
      </p:sp>
      <p:sp>
        <p:nvSpPr>
          <p:cNvPr id="10" name="Shape 8"/>
          <p:cNvSpPr/>
          <p:nvPr/>
        </p:nvSpPr>
        <p:spPr>
          <a:xfrm>
            <a:off x="7961809" y="2222450"/>
            <a:ext cx="3414216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2784" y="2403425"/>
            <a:ext cx="3143834" cy="657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24"/>
              </a:lnSpc>
              <a:buNone/>
            </a:pPr>
            <a:r>
              <a:rPr lang="en-US" sz="3589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/ 10</a:t>
            </a:r>
            <a:endParaRPr lang="en-US" sz="3589" dirty="0"/>
          </a:p>
        </p:txBody>
      </p:sp>
      <p:sp>
        <p:nvSpPr>
          <p:cNvPr id="12" name="Text 10"/>
          <p:cNvSpPr/>
          <p:nvPr/>
        </p:nvSpPr>
        <p:spPr>
          <a:xfrm>
            <a:off x="8142784" y="3111649"/>
            <a:ext cx="3143834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36"/>
              </a:lnSpc>
              <a:buNone/>
            </a:pPr>
            <a:r>
              <a:rPr lang="en-US" sz="1383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runs where the AI confessed its mission (smaller qwen2.5:7b: 2/10 earlier)</a:t>
            </a:r>
            <a:endParaRPr lang="en-US" sz="1383" dirty="0"/>
          </a:p>
        </p:txBody>
      </p:sp>
      <p:sp>
        <p:nvSpPr>
          <p:cNvPr id="13" name="Shape 11"/>
          <p:cNvSpPr/>
          <p:nvPr/>
        </p:nvSpPr>
        <p:spPr>
          <a:xfrm>
            <a:off x="815975" y="3942854"/>
            <a:ext cx="3414167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950" y="4123829"/>
            <a:ext cx="3143783" cy="543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11"/>
              </a:lnSpc>
              <a:buNone/>
            </a:pPr>
            <a:r>
              <a:rPr lang="en-US" sz="2936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</a:t>
            </a:r>
            <a:endParaRPr lang="en-US" sz="2936" dirty="0"/>
          </a:p>
        </p:txBody>
      </p:sp>
      <p:sp>
        <p:nvSpPr>
          <p:cNvPr id="15" name="Text 13"/>
          <p:cNvSpPr/>
          <p:nvPr/>
        </p:nvSpPr>
        <p:spPr>
          <a:xfrm>
            <a:off x="996950" y="4718596"/>
            <a:ext cx="3143783" cy="630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133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 alarms in 8 min of live normal work: staff + 4 backup runs touching the crown jewels</a:t>
            </a:r>
            <a:endParaRPr lang="en-US" sz="1133" dirty="0"/>
          </a:p>
        </p:txBody>
      </p:sp>
      <p:sp>
        <p:nvSpPr>
          <p:cNvPr id="16" name="Shape 14"/>
          <p:cNvSpPr/>
          <p:nvPr/>
        </p:nvSpPr>
        <p:spPr>
          <a:xfrm>
            <a:off x="4388892" y="3942854"/>
            <a:ext cx="3414167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9867" y="4123829"/>
            <a:ext cx="3143783" cy="657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24"/>
              </a:lnSpc>
              <a:buNone/>
            </a:pPr>
            <a:r>
              <a:rPr lang="en-US" sz="3589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tags</a:t>
            </a:r>
            <a:endParaRPr lang="en-US" sz="3589" dirty="0"/>
          </a:p>
        </p:txBody>
      </p:sp>
      <p:sp>
        <p:nvSpPr>
          <p:cNvPr id="18" name="Text 16"/>
          <p:cNvSpPr/>
          <p:nvPr/>
        </p:nvSpPr>
        <p:spPr>
          <a:xfrm>
            <a:off x="4569867" y="4832052"/>
            <a:ext cx="314378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36"/>
              </a:lnSpc>
              <a:buNone/>
            </a:pPr>
            <a:r>
              <a:rPr lang="en-US" sz="1383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claim checked against the logs: confirmed, unverified, contradicted</a:t>
            </a:r>
            <a:endParaRPr lang="en-US" sz="1383" dirty="0"/>
          </a:p>
        </p:txBody>
      </p:sp>
      <p:sp>
        <p:nvSpPr>
          <p:cNvPr id="19" name="Shape 17"/>
          <p:cNvSpPr/>
          <p:nvPr/>
        </p:nvSpPr>
        <p:spPr>
          <a:xfrm>
            <a:off x="7961809" y="3942854"/>
            <a:ext cx="3414216" cy="1561654"/>
          </a:xfrm>
          <a:prstGeom prst="roundRect">
            <a:avLst>
              <a:gd name="adj" fmla="val 6303"/>
            </a:avLst>
          </a:prstGeom>
          <a:solidFill>
            <a:srgbClr val="18221E"/>
          </a:solidFill>
          <a:ln w="6350">
            <a:solidFill>
              <a:srgbClr val="2C3D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42784" y="4123829"/>
            <a:ext cx="3143834" cy="657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24"/>
              </a:lnSpc>
              <a:buNone/>
            </a:pPr>
            <a:r>
              <a:rPr lang="en-US" sz="3589" b="1" dirty="0">
                <a:solidFill>
                  <a:srgbClr val="7BE0A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</a:t>
            </a:r>
            <a:endParaRPr lang="en-US" sz="3589" dirty="0"/>
          </a:p>
        </p:txBody>
      </p:sp>
      <p:sp>
        <p:nvSpPr>
          <p:cNvPr id="21" name="Text 19"/>
          <p:cNvSpPr/>
          <p:nvPr/>
        </p:nvSpPr>
        <p:spPr>
          <a:xfrm>
            <a:off x="8142784" y="4832052"/>
            <a:ext cx="3143834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36"/>
              </a:lnSpc>
              <a:buNone/>
            </a:pPr>
            <a:r>
              <a:rPr lang="en-US" sz="1383" dirty="0">
                <a:solidFill>
                  <a:srgbClr val="BFD3C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false-alarm rate at scale and more attacker models, measured during pilots</a:t>
            </a:r>
            <a:endParaRPr lang="en-US" sz="1383" dirty="0"/>
          </a:p>
        </p:txBody>
      </p:sp>
      <p:sp>
        <p:nvSpPr>
          <p:cNvPr id="22" name="Text 20"/>
          <p:cNvSpPr/>
          <p:nvPr/>
        </p:nvSpPr>
        <p:spPr>
          <a:xfrm>
            <a:off x="812800" y="5685482"/>
            <a:ext cx="10883392" cy="1819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74"/>
              </a:lnSpc>
              <a:buNone/>
            </a:pPr>
            <a:r>
              <a:rPr lang="en-US" sz="980" dirty="0">
                <a:solidFill>
                  <a:srgbClr val="7BE0A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ATT&amp;CK T1059 · T1083 · T1005 · T1552.001 · T1078 · ATLAS AML.T0051 · OWASP ASI01, used defensively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DB3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runs: local Ollama model, clean reset before each run (docs/live_bench_results.csv) · Synthetic data only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HUMAN CONTROL AND LIMITS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Automatic only where it is safe and reversible.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049711"/>
          <a:ext cx="10553700" cy="2290713"/>
        </p:xfrm>
        <a:graphic>
          <a:graphicData uri="http://schemas.openxmlformats.org/drawingml/2006/table">
            <a:tbl>
              <a:tblPr/>
              <a:tblGrid>
                <a:gridCol w="3482721"/>
                <a:gridCol w="3588258"/>
                <a:gridCol w="3482721"/>
              </a:tblGrid>
              <a:tr h="38601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Automatic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Waits for the analyst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Not covered yet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4E0"/>
                    </a:solidFill>
                  </a:tcPr>
                </a:tc>
              </a:tr>
              <a:tr h="63490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Swap real files for fakes (nothing deleted)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Contain, or Keep watching in the decoys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Files read before a trap: flagged Critical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490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 and tag every command; label the intruder (triggers nothing)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Dismiss a false alarm, or Restore in one click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careful AI that never opens a trap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490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"Guard silent" heartbeat alarm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Approve the AI drafts: summary, NIS2 early warning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Cloud storage (SharePoint, S3): on the roadmap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00" kern="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MARKET, BUSINESS AND TEAM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01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Deception detects intruders. MIRAGE protects the data.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80555"/>
            <a:ext cx="3397250" cy="1814661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2561530"/>
            <a:ext cx="312635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USD 2.7 B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96950" y="3122861"/>
            <a:ext cx="3126359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deception market (2025), ~11% a year. Pioneers bought by SentinelOne, Proofpoint, Zscaler: they detect, real files stay exposed.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97375" y="2380555"/>
            <a:ext cx="3397250" cy="1814661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8350" y="2561530"/>
            <a:ext cx="312635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Clinics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8350" y="3122861"/>
            <a:ext cx="3126359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Private clinics, medical labs, imaging centres: costliest breaches (USD 7.42 M), now in NIS2 scope. Sold direct and via their SOC provider.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78775" y="2380555"/>
            <a:ext cx="3397250" cy="1814661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6350">
            <a:solidFill>
              <a:srgbClr val="D6D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9750" y="2561530"/>
            <a:ext cx="312635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7A4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~€6,000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9750" y="312286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E4A4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 year per clinic: our pricing hypothesis, below Thinkst Canary (~USD 9,900). Next: 2–3 clinic pilots.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435872"/>
            <a:ext cx="658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7A4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TEAM 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3880" y="4426992"/>
            <a:ext cx="833937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Ana</a:t>
            </a:r>
            <a:r>
              <a:rPr lang="en-US" sz="13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dashboard &amp; pitch · </a:t>
            </a:r>
            <a:r>
              <a:rPr lang="en-US" sz="1300" b="1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Thomas</a:t>
            </a:r>
            <a:r>
              <a:rPr lang="en-US" sz="13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AI fakes &amp; checks · </a:t>
            </a:r>
            <a:r>
              <a:rPr lang="en-US" sz="1300" b="1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Leon</a:t>
            </a:r>
            <a:r>
              <a:rPr lang="en-US" sz="13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guard &amp; vault · </a:t>
            </a:r>
            <a:r>
              <a:rPr lang="en-US" sz="1300" b="1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Gaia</a:t>
            </a:r>
            <a:r>
              <a:rPr lang="en-US" sz="1300" dirty="0">
                <a:solidFill>
                  <a:srgbClr val="14201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attacker &amp; core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Sources: IMARC 2025 · IBM Cost of a Data Breach 2025 · company announcements 2021–2022 · Vendr · pricing is a team hypothesis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RAGE_pitch_5min">
  <a:themeElements>
    <a:clrScheme name="MIRAGE_pitch_5min">
      <a:dk1>
        <a:srgbClr val="14201B"/>
      </a:dk1>
      <a:lt1>
        <a:srgbClr val="F4F6F2"/>
      </a:lt1>
      <a:dk2>
        <a:srgbClr val="4C5651"/>
      </a:dk2>
      <a:lt2>
        <a:srgbClr val="DEE1DD"/>
      </a:lt2>
      <a:accent1>
        <a:srgbClr val="1E7A4F"/>
      </a:accent1>
      <a:accent2>
        <a:srgbClr val="7BE0A0"/>
      </a:accent2>
      <a:accent3>
        <a:srgbClr val="3E4A44"/>
      </a:accent3>
      <a:accent4>
        <a:srgbClr val="BFD3C8"/>
      </a:accent4>
      <a:accent5>
        <a:srgbClr val="9DB3A8"/>
      </a:accent5>
      <a:accent6>
        <a:srgbClr val="5F6B65"/>
      </a:accent6>
      <a:hlink>
        <a:srgbClr val="0563C1"/>
      </a:hlink>
      <a:folHlink>
        <a:srgbClr val="954F72"/>
      </a:folHlink>
    </a:clrScheme>
    <a:fontScheme name="MIRAGE_pitch_5min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MIRAGE_pitch_5min</dc:title>
  <dc:subject/>
  <dc:creator/>
  <cp:lastModifiedBy/>
  <cp:revision>1</cp:revision>
  <dcterms:created xsi:type="dcterms:W3CDTF">2026-10-11T10:21:54Z</dcterms:created>
  <dcterms:modified xsi:type="dcterms:W3CDTF">2026-10-11T10:21:54Z</dcterms:modified>
</cp:coreProperties>
</file>