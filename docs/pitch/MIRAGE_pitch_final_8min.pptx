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Say both lines slowly. Pause two seconds. Then: "This happened ten minutes ago, in our lab. Let me tell you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[0:20–1:10] Three facts. One: attackers no longer need to encrypt to get paid. In more than 3 out of 4 ransomware attacks, they steal data first, and once data has left, no backup brings it back. Two: smaller companies are hit hardest. Verizon found ransomware in 88% of breaches at small and mid-sized businesses, against 39% at large ones. These companies have a small IT team and often an outsourced SOC. Three: attackers are becoming AI agents. In GTG-1002, an AI did 80 to 90% of the work at several actions per second. By the time a human analyst reads the first alert, the files are gone. So detection alone comes too late. Our question was: what if whatever they steal is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[1:10–1:55] MIRAGE works like a company antivirus: an invisible guard on the file server, and a console for the SOC analyst. Before any attack, our AI reads the server, finds the crown jewels, like patient lists and API keys, and writes a believable fake twin of each one. Code checks that no real value slipped into a fake. We hide a few mines: tempting files no employee ever needs. The moment an intruder opens one, plain code swaps the real files into a locked vault and puts the fakes at the same paths, with the same names, in under a second. Nothing is deleted. If the intruder is an AI agent, the note in the mine makes it tell us its mission. Then the analyst gets one card and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[1:55–2:35] Four parts. The setup tool runs once: our AI labels the files and writes the fake twins, each with unique beacons, and code rejects any fake that contains a real value. The guard sits on the file server. It has no AI at all: it watches the mines, does the swap and logs every command, even one-off commands that bash history misses. The core groups everything the intruder did into one incident, labels it, checks its confession and catches anyone using a stolen key. And the dashboard is what the analyst sees. Everything runs in Docker on one laptop, and works offline with a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[2:35–4:35] Two minutes. Switch to the live demo, or the video. Left screen: attacker. Right screen: dashboard. 1) Everything is green: crown jewels labelled, mines placed. 2) The AI agent logs in with a stolen password, lists folders and opens the mine. Red alert in under a second; swap done in [__] seconds. 3) The agent reads the note and registers its mission. The confession appears, each claim tagged confirmed or unverified. 4) It downloads patients.csv and .env and prints them: they look real. Show the panel "what the attacker got vs what was real". 5) It tries the stolen API key: the beacon fires, and "wants billing credentials" turns to confirmed. 6) The card: AI agent, high confidence, 0 real files lost. Click Contain, then Restore. If the agent ignores the note: "This one was careful. The swap still protected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Three separate roles. The attacker's AI is why we must react in seconds. Its weakness, that it follows instructions it reads, is how we learn its mission. That is prompt injection used defensively, on our own server only, never hacking back. And we never trust what it says: every claim is checked against the logs. Our own AI does the creative work before and after the attack. In the critical second, plain code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[5:00–5:40] Fill every [__] from results.csv on Sunday morning; delete any card we could not measure. Walk through the numbers left to right: how fast the swap is, how often the attacker left with only fakes, and zero false swaps during an hour of normal work. Then the AI part: "We report the confession rate per model honestly. Careful frontier models resist more, smaller ones confess more. Either way, the swap already protected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[5:40–6:10] The only automatic action is the swap, because it is reversible and fires on a near-certain signal: no employee has a reason to open a mine. Anything that affects people waits for a click: locking an account, restoring files, sending the NIS2 early warning. The intruder label shows its reasons and triggers nothing, so a wrong label costs nothing. And here is what we don't cover yet; we prefer to say it before you ask. In production, the vault sits on a separate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[6:10–6:45] Deception is a proven category: its pioneers were bought by SentinelOne, Proofpoint and Zscaler. That validates the idea, and it raises the bar. All of them stop at detection: they raise an alert, and the real files stay exposed. Data-protection suites protect data, but they are heavy and rule-based. Thinkst Canary is lightweight but only alerts. The lightweight, data-protecting corner is empty. That's where we sit. If asked "why won't SentinelOne just add this?": they might, but they serve large enterprises through platform bundles; we go after the mid-sized firms they serve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[6:45–7:20] Our market: 251,000 mid-sized companies in the EU, with sensitive files and small security teams. Deception tech is already a 2.7 billion dollar market growing about 11% a year. We start with clinics and labs under NIS2, because their breaches are the costliest and they now have a 24-hour reporting duty. We sell a yearly subscription, around 6,000 euros for a mid-sized firm. That is a hypothesis we still have to validate with customers. And we sell through MSSPs, the providers that run SOCs for many clients, so one partner brings many customers. Year one target: 10 to 25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[7:20–7:45] Next six months. First, 10 to 15 interviews with clinic IT managers and MSSPs, to confirm the problem and test the price. Then two or three supervised pilots, running next to their existing tools, measuring false swaps and analyst time saved. Then the product grows: cloud storage like SharePoint and S3, a multi-client console for MSSPs, and a vault on a separate machine. What we need from you: pilot organisations, MSSP introductions, and advice on selling to healthcare.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[7:45–8:00] "We're Leon, Thomas, Gaia and Ana. Whoever breaks in steals only fakes. And if it's an AI, it tells us who sent it. Thank you." Stop there and wait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330958"/>
            <a:ext cx="10566425" cy="754373"/>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2390130"/>
            <a:ext cx="10566412" cy="3655070"/>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330958"/>
            <a:ext cx="10566425" cy="754373"/>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2390130"/>
            <a:ext cx="10566412" cy="3655070"/>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1852972"/>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BE0A0"/>
                </a:solidFill>
                <a:latin typeface="JetBrains Mono" pitchFamily="49" charset="0"/>
                <a:ea typeface="JetBrains Mono" pitchFamily="49" charset="-122"/>
                <a:cs typeface="JetBrains Mono" pitchFamily="49" charset="-120"/>
              </a:rPr>
              <a:t>SECURE HORIZONS 2026 · TRACK 02 · FINAL</a:t>
            </a:r>
            <a:endParaRPr lang="en-US" sz="1200" dirty="0"/>
          </a:p>
        </p:txBody>
      </p:sp>
      <p:sp>
        <p:nvSpPr>
          <p:cNvPr id="3" name="Text 1"/>
          <p:cNvSpPr/>
          <p:nvPr>
            <p:ph type="title"/>
          </p:nvPr>
        </p:nvSpPr>
        <p:spPr>
          <a:xfrm>
            <a:off x="812788" y="2371142"/>
            <a:ext cx="10883418" cy="162555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5F0"/>
                </a:solidFill>
                <a:latin typeface="Space Grotesk" pitchFamily="34" charset="0"/>
                <a:ea typeface="Space Grotesk" pitchFamily="34" charset="-122"/>
                <a:cs typeface="Space Grotesk" pitchFamily="34" charset="-120"/>
              </a:rPr>
              <a:t>This AI hacker just stole 400 patient records.</a:t>
            </a:r>
            <a:endParaRPr lang="en-US" sz="6000" dirty="0"/>
          </a:p>
        </p:txBody>
      </p:sp>
      <p:sp>
        <p:nvSpPr>
          <p:cNvPr id="4" name="Text 2"/>
          <p:cNvSpPr/>
          <p:nvPr/>
        </p:nvSpPr>
        <p:spPr>
          <a:xfrm>
            <a:off x="812788" y="4276080"/>
            <a:ext cx="10883418" cy="551135"/>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7BE0A0"/>
                </a:solidFill>
                <a:latin typeface="Space Grotesk" pitchFamily="34" charset="0"/>
                <a:ea typeface="Space Grotesk" pitchFamily="34" charset="-122"/>
                <a:cs typeface="Space Grotesk" pitchFamily="34" charset="-120"/>
              </a:rPr>
              <a:t>All of them are fake. And it told us who sent it.</a:t>
            </a:r>
            <a:endParaRPr lang="en-US" sz="3600" dirty="0"/>
          </a:p>
        </p:txBody>
      </p:sp>
      <p:sp>
        <p:nvSpPr>
          <p:cNvPr id="5" name="Text 3"/>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MIRAGE · Team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788" y="1381745"/>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Attackers steal before they encrypt, and AI makes it fast.</a:t>
            </a:r>
            <a:endParaRPr lang="en-US" sz="3600" dirty="0"/>
          </a:p>
        </p:txBody>
      </p:sp>
      <p:sp>
        <p:nvSpPr>
          <p:cNvPr id="4" name="Shape 2"/>
          <p:cNvSpPr/>
          <p:nvPr/>
        </p:nvSpPr>
        <p:spPr>
          <a:xfrm>
            <a:off x="815963" y="2746325"/>
            <a:ext cx="3380358" cy="2348359"/>
          </a:xfrm>
          <a:prstGeom prst="roundRect">
            <a:avLst>
              <a:gd name="adj" fmla="val 4191"/>
            </a:avLst>
          </a:prstGeom>
          <a:solidFill>
            <a:srgbClr val="FFFFFF"/>
          </a:solidFill>
          <a:ln w="6350">
            <a:solidFill>
              <a:srgbClr val="D6DED8"/>
            </a:solidFill>
            <a:prstDash val="solid"/>
          </a:ln>
        </p:spPr>
      </p:sp>
      <p:sp>
        <p:nvSpPr>
          <p:cNvPr id="5" name="Text 3"/>
          <p:cNvSpPr/>
          <p:nvPr/>
        </p:nvSpPr>
        <p:spPr>
          <a:xfrm>
            <a:off x="1070756"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76%+</a:t>
            </a:r>
            <a:endParaRPr lang="en-US" sz="3600" dirty="0"/>
          </a:p>
        </p:txBody>
      </p:sp>
      <p:sp>
        <p:nvSpPr>
          <p:cNvPr id="6" name="Text 4"/>
          <p:cNvSpPr/>
          <p:nvPr/>
        </p:nvSpPr>
        <p:spPr>
          <a:xfrm>
            <a:off x="1070756" y="3742779"/>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ransomware attacks steal data. Backups can't undo a leak.</a:t>
            </a:r>
            <a:endParaRPr lang="en-US" sz="1600" dirty="0"/>
          </a:p>
        </p:txBody>
      </p:sp>
      <p:sp>
        <p:nvSpPr>
          <p:cNvPr id="7" name="Shape 5"/>
          <p:cNvSpPr/>
          <p:nvPr/>
        </p:nvSpPr>
        <p:spPr>
          <a:xfrm>
            <a:off x="4405821" y="2746325"/>
            <a:ext cx="3380358" cy="2348359"/>
          </a:xfrm>
          <a:prstGeom prst="roundRect">
            <a:avLst>
              <a:gd name="adj" fmla="val 4191"/>
            </a:avLst>
          </a:prstGeom>
          <a:solidFill>
            <a:srgbClr val="FFFFFF"/>
          </a:solidFill>
          <a:ln w="6350">
            <a:solidFill>
              <a:srgbClr val="D6DED8"/>
            </a:solidFill>
            <a:prstDash val="solid"/>
          </a:ln>
        </p:spPr>
      </p:sp>
      <p:sp>
        <p:nvSpPr>
          <p:cNvPr id="8" name="Text 6"/>
          <p:cNvSpPr/>
          <p:nvPr/>
        </p:nvSpPr>
        <p:spPr>
          <a:xfrm>
            <a:off x="4660615"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88%</a:t>
            </a:r>
            <a:endParaRPr lang="en-US" sz="3600" dirty="0"/>
          </a:p>
        </p:txBody>
      </p:sp>
      <p:sp>
        <p:nvSpPr>
          <p:cNvPr id="9" name="Text 7"/>
          <p:cNvSpPr/>
          <p:nvPr/>
        </p:nvSpPr>
        <p:spPr>
          <a:xfrm>
            <a:off x="4660615" y="3742779"/>
            <a:ext cx="2956894" cy="11225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breaches at small and mid-sized businesses involve ransomware (39% at large ones).</a:t>
            </a:r>
            <a:endParaRPr lang="en-US" sz="1600" dirty="0"/>
          </a:p>
        </p:txBody>
      </p:sp>
      <p:sp>
        <p:nvSpPr>
          <p:cNvPr id="10" name="Shape 8"/>
          <p:cNvSpPr/>
          <p:nvPr/>
        </p:nvSpPr>
        <p:spPr>
          <a:xfrm>
            <a:off x="7995679" y="2746325"/>
            <a:ext cx="3380358" cy="2348359"/>
          </a:xfrm>
          <a:prstGeom prst="roundRect">
            <a:avLst>
              <a:gd name="adj" fmla="val 4191"/>
            </a:avLst>
          </a:prstGeom>
          <a:solidFill>
            <a:srgbClr val="FFFFFF"/>
          </a:solidFill>
          <a:ln w="6350">
            <a:solidFill>
              <a:srgbClr val="D6DED8"/>
            </a:solidFill>
            <a:prstDash val="solid"/>
          </a:ln>
        </p:spPr>
      </p:sp>
      <p:sp>
        <p:nvSpPr>
          <p:cNvPr id="11" name="Text 9"/>
          <p:cNvSpPr/>
          <p:nvPr/>
        </p:nvSpPr>
        <p:spPr>
          <a:xfrm>
            <a:off x="8250473"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80–90%</a:t>
            </a:r>
            <a:endParaRPr lang="en-US" sz="3600" dirty="0"/>
          </a:p>
        </p:txBody>
      </p:sp>
      <p:sp>
        <p:nvSpPr>
          <p:cNvPr id="12" name="Text 10"/>
          <p:cNvSpPr/>
          <p:nvPr/>
        </p:nvSpPr>
        <p:spPr>
          <a:xfrm>
            <a:off x="8250473" y="3742779"/>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a 2025 espionage campaign run by an AI agent, several actions per second.</a:t>
            </a:r>
            <a:endParaRPr lang="en-US" sz="1600" dirty="0"/>
          </a:p>
        </p:txBody>
      </p:sp>
      <p:sp>
        <p:nvSpPr>
          <p:cNvPr id="13" name="Text 11"/>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Coveware Q3 2025 · Verizon DBIR 2025 · Anthropic, GTG-1002 report (Nov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SOLUTION</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MIRAGE: whoever breaks in steals only fakes.</a:t>
            </a:r>
            <a:endParaRPr lang="en-US" sz="3600" dirty="0"/>
          </a:p>
        </p:txBody>
      </p:sp>
      <p:sp>
        <p:nvSpPr>
          <p:cNvPr id="4" name="Shape 2"/>
          <p:cNvSpPr/>
          <p:nvPr/>
        </p:nvSpPr>
        <p:spPr>
          <a:xfrm>
            <a:off x="815963" y="2141835"/>
            <a:ext cx="1981870" cy="1886806"/>
          </a:xfrm>
          <a:prstGeom prst="roundRect">
            <a:avLst>
              <a:gd name="adj" fmla="val 5216"/>
            </a:avLst>
          </a:prstGeom>
          <a:solidFill>
            <a:srgbClr val="FFFFFF"/>
          </a:solidFill>
          <a:ln w="6350">
            <a:solidFill>
              <a:srgbClr val="D6DED8"/>
            </a:solidFill>
            <a:prstDash val="solid"/>
          </a:ln>
        </p:spPr>
      </p:sp>
      <p:sp>
        <p:nvSpPr>
          <p:cNvPr id="5" name="Text 3"/>
          <p:cNvSpPr/>
          <p:nvPr/>
        </p:nvSpPr>
        <p:spPr>
          <a:xfrm>
            <a:off x="1019907"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01 · before</a:t>
            </a:r>
            <a:endParaRPr lang="en-US" sz="1200" dirty="0"/>
          </a:p>
        </p:txBody>
      </p:sp>
      <p:sp>
        <p:nvSpPr>
          <p:cNvPr id="6" name="Text 4"/>
          <p:cNvSpPr/>
          <p:nvPr/>
        </p:nvSpPr>
        <p:spPr>
          <a:xfrm>
            <a:off x="1019907"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Prepare</a:t>
            </a:r>
            <a:endParaRPr lang="en-US" sz="1600" dirty="0"/>
          </a:p>
        </p:txBody>
      </p:sp>
      <p:sp>
        <p:nvSpPr>
          <p:cNvPr id="7" name="Text 5"/>
          <p:cNvSpPr/>
          <p:nvPr/>
        </p:nvSpPr>
        <p:spPr>
          <a:xfrm>
            <a:off x="1019907"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AI writes a fake twin of each crown-jewel file. Mines are placed.</a:t>
            </a:r>
            <a:endParaRPr lang="en-US" sz="1200" dirty="0"/>
          </a:p>
        </p:txBody>
      </p:sp>
      <p:sp>
        <p:nvSpPr>
          <p:cNvPr id="8" name="Shape 6"/>
          <p:cNvSpPr/>
          <p:nvPr/>
        </p:nvSpPr>
        <p:spPr>
          <a:xfrm>
            <a:off x="2956545" y="2141835"/>
            <a:ext cx="1981870" cy="1886806"/>
          </a:xfrm>
          <a:prstGeom prst="roundRect">
            <a:avLst>
              <a:gd name="adj" fmla="val 5216"/>
            </a:avLst>
          </a:prstGeom>
          <a:solidFill>
            <a:srgbClr val="FFFFFF"/>
          </a:solidFill>
          <a:ln w="6350">
            <a:solidFill>
              <a:srgbClr val="D6DED8"/>
            </a:solidFill>
            <a:prstDash val="solid"/>
          </a:ln>
        </p:spPr>
      </p:sp>
      <p:sp>
        <p:nvSpPr>
          <p:cNvPr id="9" name="Text 7"/>
          <p:cNvSpPr/>
          <p:nvPr/>
        </p:nvSpPr>
        <p:spPr>
          <a:xfrm>
            <a:off x="3160489"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02 · seconds</a:t>
            </a:r>
            <a:endParaRPr lang="en-US" sz="1200" dirty="0"/>
          </a:p>
        </p:txBody>
      </p:sp>
      <p:sp>
        <p:nvSpPr>
          <p:cNvPr id="10" name="Text 8"/>
          <p:cNvSpPr/>
          <p:nvPr/>
        </p:nvSpPr>
        <p:spPr>
          <a:xfrm>
            <a:off x="3160489"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Detect</a:t>
            </a:r>
            <a:endParaRPr lang="en-US" sz="1600" dirty="0"/>
          </a:p>
        </p:txBody>
      </p:sp>
      <p:sp>
        <p:nvSpPr>
          <p:cNvPr id="11" name="Text 9"/>
          <p:cNvSpPr/>
          <p:nvPr/>
        </p:nvSpPr>
        <p:spPr>
          <a:xfrm>
            <a:off x="3160489"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No employee opens a mine. Opening one means an intruder.</a:t>
            </a:r>
            <a:endParaRPr lang="en-US" sz="1200" dirty="0"/>
          </a:p>
        </p:txBody>
      </p:sp>
      <p:sp>
        <p:nvSpPr>
          <p:cNvPr id="12" name="Shape 10"/>
          <p:cNvSpPr/>
          <p:nvPr/>
        </p:nvSpPr>
        <p:spPr>
          <a:xfrm>
            <a:off x="5100303" y="2145010"/>
            <a:ext cx="1991395" cy="1880456"/>
          </a:xfrm>
          <a:prstGeom prst="roundRect">
            <a:avLst>
              <a:gd name="adj" fmla="val 5065"/>
            </a:avLst>
          </a:prstGeom>
          <a:solidFill>
            <a:srgbClr val="E3F5EA"/>
          </a:solidFill>
          <a:ln w="12700">
            <a:solidFill>
              <a:srgbClr val="1E7A4F"/>
            </a:solidFill>
            <a:prstDash val="solid"/>
          </a:ln>
        </p:spPr>
      </p:sp>
      <p:sp>
        <p:nvSpPr>
          <p:cNvPr id="13" name="Text 11"/>
          <p:cNvSpPr/>
          <p:nvPr/>
        </p:nvSpPr>
        <p:spPr>
          <a:xfrm>
            <a:off x="5309009" y="2353717"/>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03 · automatic</a:t>
            </a:r>
            <a:endParaRPr lang="en-US" sz="1200" dirty="0"/>
          </a:p>
        </p:txBody>
      </p:sp>
      <p:sp>
        <p:nvSpPr>
          <p:cNvPr id="14" name="Text 12"/>
          <p:cNvSpPr/>
          <p:nvPr/>
        </p:nvSpPr>
        <p:spPr>
          <a:xfrm>
            <a:off x="5309009" y="2643250"/>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Swap</a:t>
            </a:r>
            <a:endParaRPr lang="en-US" sz="1600" dirty="0"/>
          </a:p>
        </p:txBody>
      </p:sp>
      <p:sp>
        <p:nvSpPr>
          <p:cNvPr id="15" name="Text 13"/>
          <p:cNvSpPr/>
          <p:nvPr/>
        </p:nvSpPr>
        <p:spPr>
          <a:xfrm>
            <a:off x="5309009" y="2963230"/>
            <a:ext cx="1624781"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Real files go to a locked vault; fakes take their place. Reversible.</a:t>
            </a:r>
            <a:endParaRPr lang="en-US" sz="1200" dirty="0"/>
          </a:p>
        </p:txBody>
      </p:sp>
      <p:sp>
        <p:nvSpPr>
          <p:cNvPr id="16" name="Shape 14"/>
          <p:cNvSpPr/>
          <p:nvPr/>
        </p:nvSpPr>
        <p:spPr>
          <a:xfrm>
            <a:off x="7253585" y="2141835"/>
            <a:ext cx="1981870" cy="1886806"/>
          </a:xfrm>
          <a:prstGeom prst="roundRect">
            <a:avLst>
              <a:gd name="adj" fmla="val 5216"/>
            </a:avLst>
          </a:prstGeom>
          <a:solidFill>
            <a:srgbClr val="FFFFFF"/>
          </a:solidFill>
          <a:ln w="6350">
            <a:solidFill>
              <a:srgbClr val="D6DED8"/>
            </a:solidFill>
            <a:prstDash val="solid"/>
          </a:ln>
        </p:spPr>
      </p:sp>
      <p:sp>
        <p:nvSpPr>
          <p:cNvPr id="17" name="Text 15"/>
          <p:cNvSpPr/>
          <p:nvPr/>
        </p:nvSpPr>
        <p:spPr>
          <a:xfrm>
            <a:off x="7457529"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04 · bonus</a:t>
            </a:r>
            <a:endParaRPr lang="en-US" sz="1200" dirty="0"/>
          </a:p>
        </p:txBody>
      </p:sp>
      <p:sp>
        <p:nvSpPr>
          <p:cNvPr id="18" name="Text 16"/>
          <p:cNvSpPr/>
          <p:nvPr/>
        </p:nvSpPr>
        <p:spPr>
          <a:xfrm>
            <a:off x="7457529"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Identify</a:t>
            </a:r>
            <a:endParaRPr lang="en-US" sz="1600" dirty="0"/>
          </a:p>
        </p:txBody>
      </p:sp>
      <p:sp>
        <p:nvSpPr>
          <p:cNvPr id="19" name="Text 17"/>
          <p:cNvSpPr/>
          <p:nvPr/>
        </p:nvSpPr>
        <p:spPr>
          <a:xfrm>
            <a:off x="7457529" y="2955292"/>
            <a:ext cx="1624781"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An AI intruder follows the note in the mine and reveals its mission.</a:t>
            </a:r>
            <a:endParaRPr lang="en-US" sz="1200" dirty="0"/>
          </a:p>
        </p:txBody>
      </p:sp>
      <p:sp>
        <p:nvSpPr>
          <p:cNvPr id="20" name="Shape 18"/>
          <p:cNvSpPr/>
          <p:nvPr/>
        </p:nvSpPr>
        <p:spPr>
          <a:xfrm>
            <a:off x="9394168" y="2141835"/>
            <a:ext cx="1981870" cy="1886806"/>
          </a:xfrm>
          <a:prstGeom prst="roundRect">
            <a:avLst>
              <a:gd name="adj" fmla="val 5216"/>
            </a:avLst>
          </a:prstGeom>
          <a:solidFill>
            <a:srgbClr val="FFFFFF"/>
          </a:solidFill>
          <a:ln w="6350">
            <a:solidFill>
              <a:srgbClr val="D6DED8"/>
            </a:solidFill>
            <a:prstDash val="solid"/>
          </a:ln>
        </p:spPr>
      </p:sp>
      <p:sp>
        <p:nvSpPr>
          <p:cNvPr id="21" name="Text 19"/>
          <p:cNvSpPr/>
          <p:nvPr/>
        </p:nvSpPr>
        <p:spPr>
          <a:xfrm>
            <a:off x="9598112"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05 · human</a:t>
            </a:r>
            <a:endParaRPr lang="en-US" sz="1200" dirty="0"/>
          </a:p>
        </p:txBody>
      </p:sp>
      <p:sp>
        <p:nvSpPr>
          <p:cNvPr id="22" name="Text 20"/>
          <p:cNvSpPr/>
          <p:nvPr/>
        </p:nvSpPr>
        <p:spPr>
          <a:xfrm>
            <a:off x="9598112"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Decide</a:t>
            </a:r>
            <a:endParaRPr lang="en-US" sz="1600" dirty="0"/>
          </a:p>
        </p:txBody>
      </p:sp>
      <p:sp>
        <p:nvSpPr>
          <p:cNvPr id="23" name="Text 21"/>
          <p:cNvSpPr/>
          <p:nvPr/>
        </p:nvSpPr>
        <p:spPr>
          <a:xfrm>
            <a:off x="9598112"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One incident card. The analyst clicks Contain or Restore.</a:t>
            </a:r>
            <a:endParaRPr lang="en-US" sz="1200" dirty="0"/>
          </a:p>
        </p:txBody>
      </p:sp>
      <p:sp>
        <p:nvSpPr>
          <p:cNvPr id="24" name="Text 22"/>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Demo company: Lumen Health, a fictional clinic chain. All data is synthetic.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HOW IT IS BUILT</a:t>
            </a:r>
            <a:endParaRPr lang="en-US" sz="1200" dirty="0"/>
          </a:p>
        </p:txBody>
      </p:sp>
      <p:sp>
        <p:nvSpPr>
          <p:cNvPr id="3" name="Text 1"/>
          <p:cNvSpPr/>
          <p:nvPr>
            <p:ph type="title"/>
          </p:nvPr>
        </p:nvSpPr>
        <p:spPr>
          <a:xfrm>
            <a:off x="812788" y="1280170"/>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AI prepares in advance. Plain code acts in the critical second.</a:t>
            </a:r>
            <a:endParaRPr lang="en-US" sz="3600" dirty="0"/>
          </a:p>
        </p:txBody>
      </p:sp>
      <p:sp>
        <p:nvSpPr>
          <p:cNvPr id="4" name="Shape 2"/>
          <p:cNvSpPr/>
          <p:nvPr/>
        </p:nvSpPr>
        <p:spPr>
          <a:xfrm>
            <a:off x="815963" y="2543175"/>
            <a:ext cx="2516969" cy="1886806"/>
          </a:xfrm>
          <a:prstGeom prst="roundRect">
            <a:avLst>
              <a:gd name="adj" fmla="val 5216"/>
            </a:avLst>
          </a:prstGeom>
          <a:solidFill>
            <a:srgbClr val="FFFFFF"/>
          </a:solidFill>
          <a:ln w="6350">
            <a:solidFill>
              <a:srgbClr val="D6DED8"/>
            </a:solidFill>
            <a:prstDash val="solid"/>
          </a:ln>
        </p:spPr>
      </p:sp>
      <p:sp>
        <p:nvSpPr>
          <p:cNvPr id="5" name="Text 3"/>
          <p:cNvSpPr/>
          <p:nvPr/>
        </p:nvSpPr>
        <p:spPr>
          <a:xfrm>
            <a:off x="1019907" y="2747119"/>
            <a:ext cx="2172353"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Setup tool · runs once</a:t>
            </a:r>
            <a:endParaRPr lang="en-US" sz="1200" dirty="0"/>
          </a:p>
        </p:txBody>
      </p:sp>
      <p:sp>
        <p:nvSpPr>
          <p:cNvPr id="6" name="Text 4"/>
          <p:cNvSpPr/>
          <p:nvPr/>
        </p:nvSpPr>
        <p:spPr>
          <a:xfrm>
            <a:off x="1019907" y="3036652"/>
            <a:ext cx="217235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prepare</a:t>
            </a:r>
            <a:endParaRPr lang="en-US" sz="1600" dirty="0"/>
          </a:p>
        </p:txBody>
      </p:sp>
      <p:sp>
        <p:nvSpPr>
          <p:cNvPr id="7" name="Text 5"/>
          <p:cNvSpPr/>
          <p:nvPr/>
        </p:nvSpPr>
        <p:spPr>
          <a:xfrm>
            <a:off x="1019907" y="3356632"/>
            <a:ext cx="2172353"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AI labels files and forges fake twins with beacons. Code rejects any fake that leaks a real value. Places the mines.</a:t>
            </a:r>
            <a:endParaRPr lang="en-US" sz="1200" dirty="0"/>
          </a:p>
        </p:txBody>
      </p:sp>
      <p:sp>
        <p:nvSpPr>
          <p:cNvPr id="8" name="Shape 6"/>
          <p:cNvSpPr/>
          <p:nvPr/>
        </p:nvSpPr>
        <p:spPr>
          <a:xfrm>
            <a:off x="3494819" y="2546350"/>
            <a:ext cx="2526556" cy="1880456"/>
          </a:xfrm>
          <a:prstGeom prst="roundRect">
            <a:avLst>
              <a:gd name="adj" fmla="val 5065"/>
            </a:avLst>
          </a:prstGeom>
          <a:solidFill>
            <a:srgbClr val="E3F5EA"/>
          </a:solidFill>
          <a:ln w="12700">
            <a:solidFill>
              <a:srgbClr val="1E7A4F"/>
            </a:solidFill>
            <a:prstDash val="solid"/>
          </a:ln>
        </p:spPr>
      </p:sp>
      <p:sp>
        <p:nvSpPr>
          <p:cNvPr id="9" name="Text 7"/>
          <p:cNvSpPr/>
          <p:nvPr/>
        </p:nvSpPr>
        <p:spPr>
          <a:xfrm>
            <a:off x="3703526" y="2755057"/>
            <a:ext cx="2172417"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On the file server · no AI</a:t>
            </a:r>
            <a:endParaRPr lang="en-US" sz="1200" dirty="0"/>
          </a:p>
        </p:txBody>
      </p:sp>
      <p:sp>
        <p:nvSpPr>
          <p:cNvPr id="10" name="Text 8"/>
          <p:cNvSpPr/>
          <p:nvPr/>
        </p:nvSpPr>
        <p:spPr>
          <a:xfrm>
            <a:off x="3703526" y="3257972"/>
            <a:ext cx="21724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guard</a:t>
            </a:r>
            <a:endParaRPr lang="en-US" sz="1600" dirty="0"/>
          </a:p>
        </p:txBody>
      </p:sp>
      <p:sp>
        <p:nvSpPr>
          <p:cNvPr id="11" name="Text 9"/>
          <p:cNvSpPr/>
          <p:nvPr/>
        </p:nvSpPr>
        <p:spPr>
          <a:xfrm>
            <a:off x="3703526" y="3577952"/>
            <a:ext cx="2172417"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Watches the mines, runs the swap, logs every command. Exposes Contain and Restore.</a:t>
            </a:r>
            <a:endParaRPr lang="en-US" sz="1200" dirty="0"/>
          </a:p>
        </p:txBody>
      </p:sp>
      <p:sp>
        <p:nvSpPr>
          <p:cNvPr id="12" name="Shape 10"/>
          <p:cNvSpPr/>
          <p:nvPr/>
        </p:nvSpPr>
        <p:spPr>
          <a:xfrm>
            <a:off x="6183263" y="2543175"/>
            <a:ext cx="2517031" cy="1886806"/>
          </a:xfrm>
          <a:prstGeom prst="roundRect">
            <a:avLst>
              <a:gd name="adj" fmla="val 5216"/>
            </a:avLst>
          </a:prstGeom>
          <a:solidFill>
            <a:srgbClr val="FFFFFF"/>
          </a:solidFill>
          <a:ln w="6350">
            <a:solidFill>
              <a:srgbClr val="D6DED8"/>
            </a:solidFill>
            <a:prstDash val="solid"/>
          </a:ln>
        </p:spPr>
      </p:sp>
      <p:sp>
        <p:nvSpPr>
          <p:cNvPr id="13" name="Text 11"/>
          <p:cNvSpPr/>
          <p:nvPr/>
        </p:nvSpPr>
        <p:spPr>
          <a:xfrm>
            <a:off x="6387207" y="2747119"/>
            <a:ext cx="2172417"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Backend</a:t>
            </a:r>
            <a:endParaRPr lang="en-US" sz="1200" dirty="0"/>
          </a:p>
        </p:txBody>
      </p:sp>
      <p:sp>
        <p:nvSpPr>
          <p:cNvPr id="14" name="Text 12"/>
          <p:cNvSpPr/>
          <p:nvPr/>
        </p:nvSpPr>
        <p:spPr>
          <a:xfrm>
            <a:off x="6387207" y="3036652"/>
            <a:ext cx="21724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core</a:t>
            </a:r>
            <a:endParaRPr lang="en-US" sz="1600" dirty="0"/>
          </a:p>
        </p:txBody>
      </p:sp>
      <p:sp>
        <p:nvSpPr>
          <p:cNvPr id="15" name="Text 13"/>
          <p:cNvSpPr/>
          <p:nvPr/>
        </p:nvSpPr>
        <p:spPr>
          <a:xfrm>
            <a:off x="6387207" y="3356632"/>
            <a:ext cx="2172417"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Groups events into one incident, labels the intruder, checks the confession, catches stolen keys.</a:t>
            </a:r>
            <a:endParaRPr lang="en-US" sz="1200" dirty="0"/>
          </a:p>
        </p:txBody>
      </p:sp>
      <p:sp>
        <p:nvSpPr>
          <p:cNvPr id="16" name="Shape 14"/>
          <p:cNvSpPr/>
          <p:nvPr/>
        </p:nvSpPr>
        <p:spPr>
          <a:xfrm>
            <a:off x="8859007" y="2543175"/>
            <a:ext cx="2517031" cy="1886806"/>
          </a:xfrm>
          <a:prstGeom prst="roundRect">
            <a:avLst>
              <a:gd name="adj" fmla="val 5216"/>
            </a:avLst>
          </a:prstGeom>
          <a:solidFill>
            <a:srgbClr val="FFFFFF"/>
          </a:solidFill>
          <a:ln w="6350">
            <a:solidFill>
              <a:srgbClr val="D6DED8"/>
            </a:solidFill>
            <a:prstDash val="solid"/>
          </a:ln>
        </p:spPr>
      </p:sp>
      <p:sp>
        <p:nvSpPr>
          <p:cNvPr id="17" name="Text 15"/>
          <p:cNvSpPr/>
          <p:nvPr/>
        </p:nvSpPr>
        <p:spPr>
          <a:xfrm>
            <a:off x="9062951" y="2747119"/>
            <a:ext cx="2172417"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For the analyst</a:t>
            </a:r>
            <a:endParaRPr lang="en-US" sz="1200" dirty="0"/>
          </a:p>
        </p:txBody>
      </p:sp>
      <p:sp>
        <p:nvSpPr>
          <p:cNvPr id="18" name="Text 16"/>
          <p:cNvSpPr/>
          <p:nvPr/>
        </p:nvSpPr>
        <p:spPr>
          <a:xfrm>
            <a:off x="9062951" y="3036652"/>
            <a:ext cx="21724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dashboard</a:t>
            </a:r>
            <a:endParaRPr lang="en-US" sz="1600" dirty="0"/>
          </a:p>
        </p:txBody>
      </p:sp>
      <p:sp>
        <p:nvSpPr>
          <p:cNvPr id="19" name="Text 17"/>
          <p:cNvSpPr/>
          <p:nvPr/>
        </p:nvSpPr>
        <p:spPr>
          <a:xfrm>
            <a:off x="9062951" y="3356632"/>
            <a:ext cx="2172417"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One incident card: who, what was taken, fake vs real, Contain and Restore.</a:t>
            </a:r>
            <a:endParaRPr lang="en-US" sz="1200" dirty="0"/>
          </a:p>
        </p:txBody>
      </p:sp>
      <p:sp>
        <p:nvSpPr>
          <p:cNvPr id="20" name="Text 18"/>
          <p:cNvSpPr/>
          <p:nvPr/>
        </p:nvSpPr>
        <p:spPr>
          <a:xfrm>
            <a:off x="812788" y="4687156"/>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Docker Compose on one laptop · JSON events ready for any SIEM · runs fully offline with a local model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BE0A0"/>
                </a:solidFill>
                <a:latin typeface="JetBrains Mono" pitchFamily="49" charset="0"/>
                <a:ea typeface="JetBrains Mono" pitchFamily="49" charset="-122"/>
                <a:cs typeface="JetBrains Mono" pitchFamily="49" charset="-120"/>
              </a:rPr>
              <a:t>LIVE DEMO</a:t>
            </a:r>
            <a:endParaRPr lang="en-US" sz="1200" dirty="0"/>
          </a:p>
        </p:txBody>
      </p:sp>
      <p:sp>
        <p:nvSpPr>
          <p:cNvPr id="3" name="Text 1"/>
          <p:cNvSpPr/>
          <p:nvPr>
            <p:ph type="title"/>
          </p:nvPr>
        </p:nvSpPr>
        <p:spPr>
          <a:xfrm>
            <a:off x="812788" y="1280170"/>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0"/>
                </a:solidFill>
                <a:latin typeface="Space Grotesk" pitchFamily="34" charset="0"/>
                <a:ea typeface="Space Grotesk" pitchFamily="34" charset="-122"/>
                <a:cs typeface="Space Grotesk" pitchFamily="34" charset="-120"/>
              </a:rPr>
              <a:t>An AI agent attacks Lumen Health.</a:t>
            </a:r>
            <a:endParaRPr lang="en-US" sz="3600" dirty="0"/>
          </a:p>
        </p:txBody>
      </p:sp>
      <p:sp>
        <p:nvSpPr>
          <p:cNvPr id="4" name="Shape 2"/>
          <p:cNvSpPr/>
          <p:nvPr/>
        </p:nvSpPr>
        <p:spPr>
          <a:xfrm>
            <a:off x="819138" y="2043435"/>
            <a:ext cx="5168937" cy="3792215"/>
          </a:xfrm>
          <a:prstGeom prst="roundRect">
            <a:avLst>
              <a:gd name="adj" fmla="val 2512"/>
            </a:avLst>
          </a:prstGeom>
          <a:solidFill>
            <a:srgbClr val="18221E"/>
          </a:solidFill>
          <a:ln w="12700">
            <a:solidFill>
              <a:srgbClr val="3C5148"/>
            </a:solidFill>
            <a:prstDash val="dash"/>
          </a:ln>
        </p:spPr>
      </p:sp>
      <p:sp>
        <p:nvSpPr>
          <p:cNvPr id="5" name="Text 3"/>
          <p:cNvSpPr/>
          <p:nvPr/>
        </p:nvSpPr>
        <p:spPr>
          <a:xfrm>
            <a:off x="1702767" y="3675373"/>
            <a:ext cx="3401616"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[Screenshot: attacker terminal]</a:t>
            </a:r>
            <a:endParaRPr lang="en-US" sz="1200" dirty="0"/>
          </a:p>
        </p:txBody>
      </p:sp>
      <p:sp>
        <p:nvSpPr>
          <p:cNvPr id="6" name="Text 4"/>
          <p:cNvSpPr/>
          <p:nvPr/>
        </p:nvSpPr>
        <p:spPr>
          <a:xfrm>
            <a:off x="2031975" y="3990330"/>
            <a:ext cx="2743200"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Opens 00_passwords_backup.txt</a:t>
            </a:r>
            <a:endParaRPr lang="en-US" sz="1200" dirty="0"/>
          </a:p>
        </p:txBody>
      </p:sp>
      <p:sp>
        <p:nvSpPr>
          <p:cNvPr id="7" name="Shape 5"/>
          <p:cNvSpPr/>
          <p:nvPr/>
        </p:nvSpPr>
        <p:spPr>
          <a:xfrm>
            <a:off x="6203925" y="2043435"/>
            <a:ext cx="5168937" cy="3792215"/>
          </a:xfrm>
          <a:prstGeom prst="roundRect">
            <a:avLst>
              <a:gd name="adj" fmla="val 2512"/>
            </a:avLst>
          </a:prstGeom>
          <a:solidFill>
            <a:srgbClr val="18221E"/>
          </a:solidFill>
          <a:ln w="12700">
            <a:solidFill>
              <a:srgbClr val="3C5148"/>
            </a:solidFill>
            <a:prstDash val="dash"/>
          </a:ln>
        </p:spPr>
      </p:sp>
      <p:sp>
        <p:nvSpPr>
          <p:cNvPr id="8" name="Text 6"/>
          <p:cNvSpPr/>
          <p:nvPr/>
        </p:nvSpPr>
        <p:spPr>
          <a:xfrm>
            <a:off x="7307002" y="3568650"/>
            <a:ext cx="2962721"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[Screenshot: incident card]</a:t>
            </a:r>
            <a:endParaRPr lang="en-US" sz="1200" dirty="0"/>
          </a:p>
        </p:txBody>
      </p:sp>
      <p:sp>
        <p:nvSpPr>
          <p:cNvPr id="9" name="Text 7"/>
          <p:cNvSpPr/>
          <p:nvPr/>
        </p:nvSpPr>
        <p:spPr>
          <a:xfrm>
            <a:off x="6341359" y="3883608"/>
            <a:ext cx="4894070" cy="45216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Swap done in [__] s · 0 real files lost · what the attacker got vs what was real</a:t>
            </a:r>
            <a:endParaRPr lang="en-US" sz="1200" dirty="0"/>
          </a:p>
        </p:txBody>
      </p:sp>
      <p:sp>
        <p:nvSpPr>
          <p:cNvPr id="10" name="Text 8"/>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Backup video ready if the live run fails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WHERE THE AI IS</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No AI in the critical second.</a:t>
            </a:r>
            <a:endParaRPr lang="en-US" sz="3600" dirty="0"/>
          </a:p>
        </p:txBody>
      </p:sp>
      <p:sp>
        <p:nvSpPr>
          <p:cNvPr id="4" name="Shape 2"/>
          <p:cNvSpPr/>
          <p:nvPr/>
        </p:nvSpPr>
        <p:spPr>
          <a:xfrm>
            <a:off x="815963" y="2141835"/>
            <a:ext cx="3380358" cy="2043571"/>
          </a:xfrm>
          <a:prstGeom prst="roundRect">
            <a:avLst>
              <a:gd name="adj" fmla="val 4816"/>
            </a:avLst>
          </a:prstGeom>
          <a:solidFill>
            <a:srgbClr val="FFFFFF"/>
          </a:solidFill>
          <a:ln w="6350">
            <a:solidFill>
              <a:srgbClr val="D6DED8"/>
            </a:solidFill>
            <a:prstDash val="solid"/>
          </a:ln>
        </p:spPr>
      </p:sp>
      <p:sp>
        <p:nvSpPr>
          <p:cNvPr id="5" name="Text 3"/>
          <p:cNvSpPr/>
          <p:nvPr/>
        </p:nvSpPr>
        <p:spPr>
          <a:xfrm>
            <a:off x="1070756"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The attacker's AI</a:t>
            </a:r>
            <a:endParaRPr lang="en-US" sz="2200" dirty="0"/>
          </a:p>
        </p:txBody>
      </p:sp>
      <p:sp>
        <p:nvSpPr>
          <p:cNvPr id="6" name="Text 4"/>
          <p:cNvSpPr/>
          <p:nvPr/>
        </p:nvSpPr>
        <p:spPr>
          <a:xfrm>
            <a:off x="1070756" y="2833501"/>
            <a:ext cx="2956894" cy="57395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Steals in seconds, so the swap must be automatic.</a:t>
            </a:r>
            <a:endParaRPr lang="en-US" sz="1600" dirty="0"/>
          </a:p>
        </p:txBody>
      </p:sp>
      <p:sp>
        <p:nvSpPr>
          <p:cNvPr id="7" name="Shape 5"/>
          <p:cNvSpPr/>
          <p:nvPr/>
        </p:nvSpPr>
        <p:spPr>
          <a:xfrm>
            <a:off x="4405821" y="2141835"/>
            <a:ext cx="3380358" cy="2043571"/>
          </a:xfrm>
          <a:prstGeom prst="roundRect">
            <a:avLst>
              <a:gd name="adj" fmla="val 4816"/>
            </a:avLst>
          </a:prstGeom>
          <a:solidFill>
            <a:srgbClr val="FFFFFF"/>
          </a:solidFill>
          <a:ln w="6350">
            <a:solidFill>
              <a:srgbClr val="D6DED8"/>
            </a:solidFill>
            <a:prstDash val="solid"/>
          </a:ln>
        </p:spPr>
      </p:sp>
      <p:sp>
        <p:nvSpPr>
          <p:cNvPr id="8" name="Text 6"/>
          <p:cNvSpPr/>
          <p:nvPr/>
        </p:nvSpPr>
        <p:spPr>
          <a:xfrm>
            <a:off x="4660615"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Its weakness</a:t>
            </a:r>
            <a:endParaRPr lang="en-US" sz="2200" dirty="0"/>
          </a:p>
        </p:txBody>
      </p:sp>
      <p:sp>
        <p:nvSpPr>
          <p:cNvPr id="9" name="Text 7"/>
          <p:cNvSpPr/>
          <p:nvPr/>
        </p:nvSpPr>
        <p:spPr>
          <a:xfrm>
            <a:off x="4660615" y="2833501"/>
            <a:ext cx="2956894" cy="11225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It obeys text it reads. A note in the mine makes it reveal its mission. Every claim is checked against the logs.</a:t>
            </a:r>
            <a:endParaRPr lang="en-US" sz="1600" dirty="0"/>
          </a:p>
        </p:txBody>
      </p:sp>
      <p:sp>
        <p:nvSpPr>
          <p:cNvPr id="10" name="Shape 8"/>
          <p:cNvSpPr/>
          <p:nvPr/>
        </p:nvSpPr>
        <p:spPr>
          <a:xfrm>
            <a:off x="7995679" y="2141835"/>
            <a:ext cx="3380358" cy="2043571"/>
          </a:xfrm>
          <a:prstGeom prst="roundRect">
            <a:avLst>
              <a:gd name="adj" fmla="val 4816"/>
            </a:avLst>
          </a:prstGeom>
          <a:solidFill>
            <a:srgbClr val="FFFFFF"/>
          </a:solidFill>
          <a:ln w="6350">
            <a:solidFill>
              <a:srgbClr val="D6DED8"/>
            </a:solidFill>
            <a:prstDash val="solid"/>
          </a:ln>
        </p:spPr>
      </p:sp>
      <p:sp>
        <p:nvSpPr>
          <p:cNvPr id="11" name="Text 9"/>
          <p:cNvSpPr/>
          <p:nvPr/>
        </p:nvSpPr>
        <p:spPr>
          <a:xfrm>
            <a:off x="8250473"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Our AI helpers</a:t>
            </a:r>
            <a:endParaRPr lang="en-US" sz="2200" dirty="0"/>
          </a:p>
        </p:txBody>
      </p:sp>
      <p:sp>
        <p:nvSpPr>
          <p:cNvPr id="12" name="Text 10"/>
          <p:cNvSpPr/>
          <p:nvPr/>
        </p:nvSpPr>
        <p:spPr>
          <a:xfrm>
            <a:off x="8250473" y="2833501"/>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Write the fakes before the attack, the summary and NIS2 draft after it. Never act alone.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812788"/>
            <a:ext cx="10883418" cy="233945"/>
          </a:xfrm>
          <a:prstGeom prst="rect">
            <a:avLst/>
          </a:prstGeom>
          <a:noFill/>
          <a:ln/>
        </p:spPr>
        <p:txBody>
          <a:bodyPr wrap="square" lIns="0" tIns="0" rIns="0" bIns="0" rtlCol="0" anchor="t">
            <a:normAutofit/>
          </a:bodyPr>
          <a:lstStyle/>
          <a:p>
            <a:pPr algn="l" indent="0" marL="0">
              <a:lnSpc>
                <a:spcPts val="1675"/>
              </a:lnSpc>
              <a:buNone/>
            </a:pPr>
            <a:r>
              <a:rPr lang="en-US" sz="1196" spc="200" kern="0" dirty="0">
                <a:solidFill>
                  <a:srgbClr val="7BE0A0"/>
                </a:solidFill>
                <a:latin typeface="JetBrains Mono" pitchFamily="49" charset="0"/>
                <a:ea typeface="JetBrains Mono" pitchFamily="49" charset="-122"/>
                <a:cs typeface="JetBrains Mono" pitchFamily="49" charset="-120"/>
              </a:rPr>
              <a:t>MEASURED ON OUR LAB</a:t>
            </a:r>
            <a:endParaRPr lang="en-US" sz="1196" dirty="0"/>
          </a:p>
        </p:txBody>
      </p:sp>
      <p:sp>
        <p:nvSpPr>
          <p:cNvPr id="3" name="Text 1"/>
          <p:cNvSpPr/>
          <p:nvPr>
            <p:ph type="title"/>
          </p:nvPr>
        </p:nvSpPr>
        <p:spPr>
          <a:xfrm>
            <a:off x="812788" y="1326121"/>
            <a:ext cx="10883418" cy="516905"/>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F2F5F0"/>
                </a:solidFill>
                <a:latin typeface="Space Grotesk" pitchFamily="34" charset="0"/>
                <a:ea typeface="Space Grotesk" pitchFamily="34" charset="-122"/>
                <a:cs typeface="Space Grotesk" pitchFamily="34" charset="-120"/>
              </a:rPr>
              <a:t>[Headline result in one sentence]</a:t>
            </a:r>
            <a:endParaRPr lang="en-US" sz="3521" dirty="0"/>
          </a:p>
        </p:txBody>
      </p:sp>
      <p:sp>
        <p:nvSpPr>
          <p:cNvPr id="4" name="Shape 2"/>
          <p:cNvSpPr/>
          <p:nvPr/>
        </p:nvSpPr>
        <p:spPr>
          <a:xfrm>
            <a:off x="815963" y="2125588"/>
            <a:ext cx="3380358" cy="1751868"/>
          </a:xfrm>
          <a:prstGeom prst="roundRect">
            <a:avLst>
              <a:gd name="adj" fmla="val 5618"/>
            </a:avLst>
          </a:prstGeom>
          <a:solidFill>
            <a:srgbClr val="18221E"/>
          </a:solidFill>
          <a:ln w="6350">
            <a:solidFill>
              <a:srgbClr val="2C3D36"/>
            </a:solidFill>
            <a:prstDash val="solid"/>
          </a:ln>
        </p:spPr>
      </p:sp>
      <p:sp>
        <p:nvSpPr>
          <p:cNvPr id="5" name="Text 3"/>
          <p:cNvSpPr/>
          <p:nvPr/>
        </p:nvSpPr>
        <p:spPr>
          <a:xfrm>
            <a:off x="1070756"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 s</a:t>
            </a:r>
            <a:endParaRPr lang="en-US" sz="3476" dirty="0"/>
          </a:p>
        </p:txBody>
      </p:sp>
      <p:sp>
        <p:nvSpPr>
          <p:cNvPr id="6" name="Text 4"/>
          <p:cNvSpPr/>
          <p:nvPr/>
        </p:nvSpPr>
        <p:spPr>
          <a:xfrm>
            <a:off x="1070756"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time to swap after a mine is opened</a:t>
            </a:r>
            <a:endParaRPr lang="en-US" sz="1540" dirty="0"/>
          </a:p>
        </p:txBody>
      </p:sp>
      <p:sp>
        <p:nvSpPr>
          <p:cNvPr id="7" name="Shape 5"/>
          <p:cNvSpPr/>
          <p:nvPr/>
        </p:nvSpPr>
        <p:spPr>
          <a:xfrm>
            <a:off x="4405821" y="2125588"/>
            <a:ext cx="3380358" cy="1751868"/>
          </a:xfrm>
          <a:prstGeom prst="roundRect">
            <a:avLst>
              <a:gd name="adj" fmla="val 5618"/>
            </a:avLst>
          </a:prstGeom>
          <a:solidFill>
            <a:srgbClr val="18221E"/>
          </a:solidFill>
          <a:ln w="6350">
            <a:solidFill>
              <a:srgbClr val="2C3D36"/>
            </a:solidFill>
            <a:prstDash val="solid"/>
          </a:ln>
        </p:spPr>
      </p:sp>
      <p:sp>
        <p:nvSpPr>
          <p:cNvPr id="8" name="Text 6"/>
          <p:cNvSpPr/>
          <p:nvPr/>
        </p:nvSpPr>
        <p:spPr>
          <a:xfrm>
            <a:off x="4660615"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 / [__]</a:t>
            </a:r>
            <a:endParaRPr lang="en-US" sz="3476" dirty="0"/>
          </a:p>
        </p:txBody>
      </p:sp>
      <p:sp>
        <p:nvSpPr>
          <p:cNvPr id="9" name="Text 7"/>
          <p:cNvSpPr/>
          <p:nvPr/>
        </p:nvSpPr>
        <p:spPr>
          <a:xfrm>
            <a:off x="4660615"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runs where only fakes were stolen</a:t>
            </a:r>
            <a:endParaRPr lang="en-US" sz="1540" dirty="0"/>
          </a:p>
        </p:txBody>
      </p:sp>
      <p:sp>
        <p:nvSpPr>
          <p:cNvPr id="10" name="Shape 8"/>
          <p:cNvSpPr/>
          <p:nvPr/>
        </p:nvSpPr>
        <p:spPr>
          <a:xfrm>
            <a:off x="7995679" y="2125588"/>
            <a:ext cx="3380358" cy="1751868"/>
          </a:xfrm>
          <a:prstGeom prst="roundRect">
            <a:avLst>
              <a:gd name="adj" fmla="val 5618"/>
            </a:avLst>
          </a:prstGeom>
          <a:solidFill>
            <a:srgbClr val="18221E"/>
          </a:solidFill>
          <a:ln w="6350">
            <a:solidFill>
              <a:srgbClr val="2C3D36"/>
            </a:solidFill>
            <a:prstDash val="solid"/>
          </a:ln>
        </p:spPr>
      </p:sp>
      <p:sp>
        <p:nvSpPr>
          <p:cNvPr id="11" name="Text 9"/>
          <p:cNvSpPr/>
          <p:nvPr/>
        </p:nvSpPr>
        <p:spPr>
          <a:xfrm>
            <a:off x="8250473"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a:t>
            </a:r>
            <a:endParaRPr lang="en-US" sz="3476" dirty="0"/>
          </a:p>
        </p:txBody>
      </p:sp>
      <p:sp>
        <p:nvSpPr>
          <p:cNvPr id="12" name="Text 10"/>
          <p:cNvSpPr/>
          <p:nvPr/>
        </p:nvSpPr>
        <p:spPr>
          <a:xfrm>
            <a:off x="8250473"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false swaps in [__] h of normal activity</a:t>
            </a:r>
            <a:endParaRPr lang="en-US" sz="1540" dirty="0"/>
          </a:p>
        </p:txBody>
      </p:sp>
      <p:sp>
        <p:nvSpPr>
          <p:cNvPr id="13" name="Shape 11"/>
          <p:cNvSpPr/>
          <p:nvPr/>
        </p:nvSpPr>
        <p:spPr>
          <a:xfrm>
            <a:off x="815963" y="4086957"/>
            <a:ext cx="3380358" cy="1751868"/>
          </a:xfrm>
          <a:prstGeom prst="roundRect">
            <a:avLst>
              <a:gd name="adj" fmla="val 5618"/>
            </a:avLst>
          </a:prstGeom>
          <a:solidFill>
            <a:srgbClr val="18221E"/>
          </a:solidFill>
          <a:ln w="6350">
            <a:solidFill>
              <a:srgbClr val="2C3D36"/>
            </a:solidFill>
            <a:prstDash val="solid"/>
          </a:ln>
        </p:spPr>
      </p:sp>
      <p:sp>
        <p:nvSpPr>
          <p:cNvPr id="14" name="Text 12"/>
          <p:cNvSpPr/>
          <p:nvPr/>
        </p:nvSpPr>
        <p:spPr>
          <a:xfrm>
            <a:off x="1070756" y="4341750"/>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a:t>
            </a:r>
            <a:endParaRPr lang="en-US" sz="3476" dirty="0"/>
          </a:p>
        </p:txBody>
      </p:sp>
      <p:sp>
        <p:nvSpPr>
          <p:cNvPr id="15" name="Text 13"/>
          <p:cNvSpPr/>
          <p:nvPr/>
        </p:nvSpPr>
        <p:spPr>
          <a:xfrm>
            <a:off x="1070756" y="5035352"/>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AI runs that confessed, per model</a:t>
            </a:r>
            <a:endParaRPr lang="en-US" sz="1540" dirty="0"/>
          </a:p>
        </p:txBody>
      </p:sp>
      <p:sp>
        <p:nvSpPr>
          <p:cNvPr id="16" name="Shape 14"/>
          <p:cNvSpPr/>
          <p:nvPr/>
        </p:nvSpPr>
        <p:spPr>
          <a:xfrm>
            <a:off x="4405821" y="4086957"/>
            <a:ext cx="3380358" cy="1751868"/>
          </a:xfrm>
          <a:prstGeom prst="roundRect">
            <a:avLst>
              <a:gd name="adj" fmla="val 5618"/>
            </a:avLst>
          </a:prstGeom>
          <a:solidFill>
            <a:srgbClr val="18221E"/>
          </a:solidFill>
          <a:ln w="6350">
            <a:solidFill>
              <a:srgbClr val="2C3D36"/>
            </a:solidFill>
            <a:prstDash val="solid"/>
          </a:ln>
        </p:spPr>
      </p:sp>
      <p:sp>
        <p:nvSpPr>
          <p:cNvPr id="17" name="Text 15"/>
          <p:cNvSpPr/>
          <p:nvPr/>
        </p:nvSpPr>
        <p:spPr>
          <a:xfrm>
            <a:off x="4660615" y="4341750"/>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BE0A0"/>
                </a:solidFill>
                <a:latin typeface="Space Grotesk" pitchFamily="34" charset="0"/>
                <a:ea typeface="Space Grotesk" pitchFamily="34" charset="-122"/>
                <a:cs typeface="Space Grotesk" pitchFamily="34" charset="-120"/>
              </a:rPr>
              <a:t>[__] / [__]</a:t>
            </a:r>
            <a:endParaRPr lang="en-US" sz="3600" dirty="0"/>
          </a:p>
        </p:txBody>
      </p:sp>
      <p:sp>
        <p:nvSpPr>
          <p:cNvPr id="18" name="Text 16"/>
          <p:cNvSpPr/>
          <p:nvPr/>
        </p:nvSpPr>
        <p:spPr>
          <a:xfrm>
            <a:off x="4660615" y="5057986"/>
            <a:ext cx="2956894"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C8"/>
                </a:solidFill>
                <a:latin typeface="IBM Plex Sans" pitchFamily="34" charset="0"/>
                <a:ea typeface="IBM Plex Sans" pitchFamily="34" charset="-122"/>
                <a:cs typeface="IBM Plex Sans" pitchFamily="34" charset="-120"/>
              </a:rPr>
              <a:t>intruders labelled correctly</a:t>
            </a:r>
            <a:endParaRPr lang="en-US" sz="1600" dirty="0"/>
          </a:p>
        </p:txBody>
      </p:sp>
      <p:sp>
        <p:nvSpPr>
          <p:cNvPr id="19" name="Shape 17"/>
          <p:cNvSpPr/>
          <p:nvPr/>
        </p:nvSpPr>
        <p:spPr>
          <a:xfrm>
            <a:off x="7995679" y="4086957"/>
            <a:ext cx="3380358" cy="1751868"/>
          </a:xfrm>
          <a:prstGeom prst="roundRect">
            <a:avLst>
              <a:gd name="adj" fmla="val 5618"/>
            </a:avLst>
          </a:prstGeom>
          <a:solidFill>
            <a:srgbClr val="18221E"/>
          </a:solidFill>
          <a:ln w="6350">
            <a:solidFill>
              <a:srgbClr val="2C3D36"/>
            </a:solidFill>
            <a:prstDash val="solid"/>
          </a:ln>
        </p:spPr>
      </p:sp>
      <p:sp>
        <p:nvSpPr>
          <p:cNvPr id="20" name="Text 18"/>
          <p:cNvSpPr/>
          <p:nvPr/>
        </p:nvSpPr>
        <p:spPr>
          <a:xfrm>
            <a:off x="8250473" y="4341750"/>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BE0A0"/>
                </a:solidFill>
                <a:latin typeface="Space Grotesk" pitchFamily="34" charset="0"/>
                <a:ea typeface="Space Grotesk" pitchFamily="34" charset="-122"/>
                <a:cs typeface="Space Grotesk" pitchFamily="34" charset="-120"/>
              </a:rPr>
              <a:t>[__]</a:t>
            </a:r>
            <a:endParaRPr lang="en-US" sz="3600" dirty="0"/>
          </a:p>
        </p:txBody>
      </p:sp>
      <p:sp>
        <p:nvSpPr>
          <p:cNvPr id="21" name="Text 19"/>
          <p:cNvSpPr/>
          <p:nvPr/>
        </p:nvSpPr>
        <p:spPr>
          <a:xfrm>
            <a:off x="8250473" y="5057986"/>
            <a:ext cx="2956894"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C8"/>
                </a:solidFill>
                <a:latin typeface="IBM Plex Sans" pitchFamily="34" charset="0"/>
                <a:ea typeface="IBM Plex Sans" pitchFamily="34" charset="-122"/>
                <a:cs typeface="IBM Plex Sans" pitchFamily="34" charset="-120"/>
              </a:rPr>
              <a:t>real values found in fakes</a:t>
            </a:r>
            <a:endParaRPr lang="en-US" sz="1600" dirty="0"/>
          </a:p>
        </p:txBody>
      </p:sp>
      <p:sp>
        <p:nvSpPr>
          <p:cNvPr id="22" name="Text 20"/>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Benchmark: [__] AI runs, [__] scripted runs, [__] h benign activity · models: [__]</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HUMAN CONTROL AND LIMITS</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Automatic only where it is safe and reversible.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2150566"/>
          <a:ext cx="10554519" cy="2038325"/>
        </p:xfrm>
        <a:graphic>
          <a:graphicData uri="http://schemas.openxmlformats.org/drawingml/2006/table">
            <a:tbl>
              <a:tblPr/>
              <a:tblGrid>
                <a:gridCol w="2533084"/>
                <a:gridCol w="4010717"/>
                <a:gridCol w="4010717"/>
              </a:tblGrid>
              <a:tr h="385155">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Automatic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Needs an analyst click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What we don't cover yet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r>
              <a:tr h="385155">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Swap real files for fakes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Contain: lock the account, end the session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Files copied before any mine is touched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008">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Log every command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Restore the real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 root attacker on the same machine as the vault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008">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Label the intruder (triggers 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Approve the AI-drafted summary and NIS2 early warning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 careful AI that never opens a mine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bl>
          </a:graphicData>
        </a:graphic>
      </p:graphicFrame>
      <p:sp>
        <p:nvSpPr>
          <p:cNvPr id="5" name="Text 2"/>
          <p:cNvSpPr/>
          <p:nvPr/>
        </p:nvSpPr>
        <p:spPr>
          <a:xfrm>
            <a:off x="812788" y="4493679"/>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Mapped to MITRE ATT&amp;CK T1083 · T1039 · T1552.001 and D3FEND Decoy File · Decoy User Credential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COMPETITION</a:t>
            </a:r>
            <a:endParaRPr lang="en-US" sz="1200" dirty="0"/>
          </a:p>
        </p:txBody>
      </p:sp>
      <p:sp>
        <p:nvSpPr>
          <p:cNvPr id="3" name="Text 1"/>
          <p:cNvSpPr/>
          <p:nvPr>
            <p:ph type="title"/>
          </p:nvPr>
        </p:nvSpPr>
        <p:spPr>
          <a:xfrm>
            <a:off x="812788" y="1280170"/>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Deception detects intruders. MIRAGE protects the data.</a:t>
            </a:r>
            <a:endParaRPr lang="en-US" sz="3600" dirty="0"/>
          </a:p>
        </p:txBody>
      </p:sp>
      <p:sp>
        <p:nvSpPr>
          <p:cNvPr id="4" name="Shape 2"/>
          <p:cNvSpPr/>
          <p:nvPr/>
        </p:nvSpPr>
        <p:spPr>
          <a:xfrm>
            <a:off x="815963" y="2543175"/>
            <a:ext cx="5200650" cy="1195127"/>
          </a:xfrm>
          <a:prstGeom prst="roundRect">
            <a:avLst>
              <a:gd name="adj" fmla="val 8236"/>
            </a:avLst>
          </a:prstGeom>
          <a:solidFill>
            <a:srgbClr val="FFFFFF"/>
          </a:solidFill>
          <a:ln w="6350">
            <a:solidFill>
              <a:srgbClr val="D6DED8"/>
            </a:solidFill>
            <a:prstDash val="solid"/>
          </a:ln>
        </p:spPr>
      </p:sp>
      <p:sp>
        <p:nvSpPr>
          <p:cNvPr id="5" name="Text 3"/>
          <p:cNvSpPr/>
          <p:nvPr/>
        </p:nvSpPr>
        <p:spPr>
          <a:xfrm>
            <a:off x="1019907" y="2747119"/>
            <a:ext cx="493654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JetBrains Mono" pitchFamily="49" charset="0"/>
                <a:ea typeface="JetBrains Mono" pitchFamily="49" charset="-122"/>
                <a:cs typeface="JetBrains Mono" pitchFamily="49" charset="-120"/>
              </a:rPr>
              <a:t>Large enterprise · detects</a:t>
            </a:r>
            <a:endParaRPr lang="en-US" sz="1200" dirty="0"/>
          </a:p>
        </p:txBody>
      </p:sp>
      <p:sp>
        <p:nvSpPr>
          <p:cNvPr id="6" name="Text 4"/>
          <p:cNvSpPr/>
          <p:nvPr/>
        </p:nvSpPr>
        <p:spPr>
          <a:xfrm>
            <a:off x="1019907" y="3036652"/>
            <a:ext cx="4936545"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SentinelOne (Attivo, ~USD 617 M), Proofpoint (Illusive), Zscaler (Smokescreen), Fortinet, Acalvio, CounterCraft</a:t>
            </a:r>
            <a:endParaRPr lang="en-US" sz="1400" dirty="0"/>
          </a:p>
        </p:txBody>
      </p:sp>
      <p:sp>
        <p:nvSpPr>
          <p:cNvPr id="7" name="Shape 5"/>
          <p:cNvSpPr/>
          <p:nvPr/>
        </p:nvSpPr>
        <p:spPr>
          <a:xfrm>
            <a:off x="6175325" y="2543175"/>
            <a:ext cx="5200712" cy="1195127"/>
          </a:xfrm>
          <a:prstGeom prst="roundRect">
            <a:avLst>
              <a:gd name="adj" fmla="val 8236"/>
            </a:avLst>
          </a:prstGeom>
          <a:solidFill>
            <a:srgbClr val="FFFFFF"/>
          </a:solidFill>
          <a:ln w="6350">
            <a:solidFill>
              <a:srgbClr val="D6DED8"/>
            </a:solidFill>
            <a:prstDash val="solid"/>
          </a:ln>
        </p:spPr>
      </p:sp>
      <p:sp>
        <p:nvSpPr>
          <p:cNvPr id="8" name="Text 6"/>
          <p:cNvSpPr/>
          <p:nvPr/>
        </p:nvSpPr>
        <p:spPr>
          <a:xfrm>
            <a:off x="6379270" y="2747119"/>
            <a:ext cx="493660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JetBrains Mono" pitchFamily="49" charset="0"/>
                <a:ea typeface="JetBrains Mono" pitchFamily="49" charset="-122"/>
                <a:cs typeface="JetBrains Mono" pitchFamily="49" charset="-120"/>
              </a:rPr>
              <a:t>Large enterprise · protects data</a:t>
            </a:r>
            <a:endParaRPr lang="en-US" sz="1200" dirty="0"/>
          </a:p>
        </p:txBody>
      </p:sp>
      <p:sp>
        <p:nvSpPr>
          <p:cNvPr id="9" name="Text 7"/>
          <p:cNvSpPr/>
          <p:nvPr/>
        </p:nvSpPr>
        <p:spPr>
          <a:xfrm>
            <a:off x="6379270" y="3036652"/>
            <a:ext cx="4936608"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DLP and data security suites: rule-based, heavy, little help once an intruder has valid credentials</a:t>
            </a:r>
            <a:endParaRPr lang="en-US" sz="1400" dirty="0"/>
          </a:p>
        </p:txBody>
      </p:sp>
      <p:sp>
        <p:nvSpPr>
          <p:cNvPr id="10" name="Shape 8"/>
          <p:cNvSpPr/>
          <p:nvPr/>
        </p:nvSpPr>
        <p:spPr>
          <a:xfrm>
            <a:off x="815963" y="3897015"/>
            <a:ext cx="5200650" cy="1211002"/>
          </a:xfrm>
          <a:prstGeom prst="roundRect">
            <a:avLst>
              <a:gd name="adj" fmla="val 8128"/>
            </a:avLst>
          </a:prstGeom>
          <a:solidFill>
            <a:srgbClr val="FFFFFF"/>
          </a:solidFill>
          <a:ln w="6350">
            <a:solidFill>
              <a:srgbClr val="D6DED8"/>
            </a:solidFill>
            <a:prstDash val="solid"/>
          </a:ln>
        </p:spPr>
      </p:sp>
      <p:sp>
        <p:nvSpPr>
          <p:cNvPr id="11" name="Text 9"/>
          <p:cNvSpPr/>
          <p:nvPr/>
        </p:nvSpPr>
        <p:spPr>
          <a:xfrm>
            <a:off x="1019907" y="4100959"/>
            <a:ext cx="493654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JetBrains Mono" pitchFamily="49" charset="0"/>
                <a:ea typeface="JetBrains Mono" pitchFamily="49" charset="-122"/>
                <a:cs typeface="JetBrains Mono" pitchFamily="49" charset="-120"/>
              </a:rPr>
              <a:t>Lightweight · detects</a:t>
            </a:r>
            <a:endParaRPr lang="en-US" sz="1200" dirty="0"/>
          </a:p>
        </p:txBody>
      </p:sp>
      <p:sp>
        <p:nvSpPr>
          <p:cNvPr id="12" name="Text 10"/>
          <p:cNvSpPr/>
          <p:nvPr/>
        </p:nvSpPr>
        <p:spPr>
          <a:xfrm>
            <a:off x="1019907" y="4390492"/>
            <a:ext cx="4936545"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Thinkst Canary (~USD 9,900 / year), Mantis (research). Alerts only: real files stay exposed</a:t>
            </a:r>
            <a:endParaRPr lang="en-US" sz="1400" dirty="0"/>
          </a:p>
        </p:txBody>
      </p:sp>
      <p:sp>
        <p:nvSpPr>
          <p:cNvPr id="13" name="Shape 11"/>
          <p:cNvSpPr/>
          <p:nvPr/>
        </p:nvSpPr>
        <p:spPr>
          <a:xfrm>
            <a:off x="6178500" y="3900190"/>
            <a:ext cx="5194362" cy="1204652"/>
          </a:xfrm>
          <a:prstGeom prst="roundRect">
            <a:avLst>
              <a:gd name="adj" fmla="val 7907"/>
            </a:avLst>
          </a:prstGeom>
          <a:solidFill>
            <a:srgbClr val="E3F5EA"/>
          </a:solidFill>
          <a:ln w="12700">
            <a:solidFill>
              <a:srgbClr val="1E7A4F"/>
            </a:solidFill>
            <a:prstDash val="solid"/>
          </a:ln>
        </p:spPr>
      </p:sp>
      <p:sp>
        <p:nvSpPr>
          <p:cNvPr id="14" name="Text 12"/>
          <p:cNvSpPr/>
          <p:nvPr/>
        </p:nvSpPr>
        <p:spPr>
          <a:xfrm>
            <a:off x="6387207" y="4108896"/>
            <a:ext cx="4920257"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Lightweight · protects data</a:t>
            </a:r>
            <a:endParaRPr lang="en-US" sz="1200" dirty="0"/>
          </a:p>
        </p:txBody>
      </p:sp>
      <p:sp>
        <p:nvSpPr>
          <p:cNvPr id="15" name="Text 13"/>
          <p:cNvSpPr/>
          <p:nvPr/>
        </p:nvSpPr>
        <p:spPr>
          <a:xfrm>
            <a:off x="6387207" y="4398429"/>
            <a:ext cx="4920257" cy="523106"/>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MIRAGE</a:t>
            </a:r>
            <a:r>
              <a:rPr lang="en-US" sz="1400" dirty="0">
                <a:solidFill>
                  <a:srgbClr val="14201B"/>
                </a:solidFill>
                <a:latin typeface="IBM Plex Sans" pitchFamily="34" charset="0"/>
                <a:ea typeface="IBM Plex Sans" pitchFamily="34" charset="-122"/>
                <a:cs typeface="IBM Plex Sans" pitchFamily="34" charset="-120"/>
              </a:rPr>
              <a:t>: real files out of reach on first touch, reversible, built for mid-sized firms</a:t>
            </a:r>
            <a:endParaRPr lang="en-US" sz="1400" dirty="0"/>
          </a:p>
        </p:txBody>
      </p:sp>
      <p:sp>
        <p:nvSpPr>
          <p:cNvPr id="16" name="Text 14"/>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company announcements 2021–2022 · Vendr (Thinkst Canary pricing) · arXiv 2410.20911 (Mantis)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MARKET AND BUSINESS</a:t>
            </a:r>
            <a:endParaRPr lang="en-US" sz="1200" dirty="0"/>
          </a:p>
        </p:txBody>
      </p:sp>
      <p:sp>
        <p:nvSpPr>
          <p:cNvPr id="3" name="Text 1"/>
          <p:cNvSpPr/>
          <p:nvPr>
            <p:ph type="title"/>
          </p:nvPr>
        </p:nvSpPr>
        <p:spPr>
          <a:xfrm>
            <a:off x="812788" y="1280170"/>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251,000 mid-sized firms in the EU, reached through their MSSPs.</a:t>
            </a:r>
            <a:endParaRPr lang="en-US" sz="3600" dirty="0"/>
          </a:p>
        </p:txBody>
      </p:sp>
      <p:sp>
        <p:nvSpPr>
          <p:cNvPr id="4" name="Shape 2"/>
          <p:cNvSpPr/>
          <p:nvPr/>
        </p:nvSpPr>
        <p:spPr>
          <a:xfrm>
            <a:off x="815963" y="2543175"/>
            <a:ext cx="3380358" cy="1621830"/>
          </a:xfrm>
          <a:prstGeom prst="roundRect">
            <a:avLst>
              <a:gd name="adj" fmla="val 6069"/>
            </a:avLst>
          </a:prstGeom>
          <a:solidFill>
            <a:srgbClr val="FFFFFF"/>
          </a:solidFill>
          <a:ln w="6350">
            <a:solidFill>
              <a:srgbClr val="D6DED8"/>
            </a:solidFill>
            <a:prstDash val="solid"/>
          </a:ln>
        </p:spPr>
      </p:sp>
      <p:sp>
        <p:nvSpPr>
          <p:cNvPr id="5" name="Text 3"/>
          <p:cNvSpPr/>
          <p:nvPr/>
        </p:nvSpPr>
        <p:spPr>
          <a:xfrm>
            <a:off x="1019907" y="2747119"/>
            <a:ext cx="306164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USD 2.7 B</a:t>
            </a:r>
            <a:endParaRPr lang="en-US" sz="3600" dirty="0"/>
          </a:p>
        </p:txBody>
      </p:sp>
      <p:sp>
        <p:nvSpPr>
          <p:cNvPr id="6" name="Text 4"/>
          <p:cNvSpPr/>
          <p:nvPr/>
        </p:nvSpPr>
        <p:spPr>
          <a:xfrm>
            <a:off x="1019907" y="3463354"/>
            <a:ext cx="3061644"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deception technology market in 2025, growing ~11% a year</a:t>
            </a:r>
            <a:endParaRPr lang="en-US" sz="1400" dirty="0"/>
          </a:p>
        </p:txBody>
      </p:sp>
      <p:sp>
        <p:nvSpPr>
          <p:cNvPr id="7" name="Shape 5"/>
          <p:cNvSpPr/>
          <p:nvPr/>
        </p:nvSpPr>
        <p:spPr>
          <a:xfrm>
            <a:off x="4405821" y="2543175"/>
            <a:ext cx="3380358" cy="1621830"/>
          </a:xfrm>
          <a:prstGeom prst="roundRect">
            <a:avLst>
              <a:gd name="adj" fmla="val 6069"/>
            </a:avLst>
          </a:prstGeom>
          <a:solidFill>
            <a:srgbClr val="FFFFFF"/>
          </a:solidFill>
          <a:ln w="6350">
            <a:solidFill>
              <a:srgbClr val="D6DED8"/>
            </a:solidFill>
            <a:prstDash val="solid"/>
          </a:ln>
        </p:spPr>
      </p:sp>
      <p:sp>
        <p:nvSpPr>
          <p:cNvPr id="8" name="Text 6"/>
          <p:cNvSpPr/>
          <p:nvPr/>
        </p:nvSpPr>
        <p:spPr>
          <a:xfrm>
            <a:off x="4609765" y="2747119"/>
            <a:ext cx="306164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~€6,000</a:t>
            </a:r>
            <a:endParaRPr lang="en-US" sz="3600" dirty="0"/>
          </a:p>
        </p:txBody>
      </p:sp>
      <p:sp>
        <p:nvSpPr>
          <p:cNvPr id="9" name="Text 7"/>
          <p:cNvSpPr/>
          <p:nvPr/>
        </p:nvSpPr>
        <p:spPr>
          <a:xfrm>
            <a:off x="4609765" y="3463354"/>
            <a:ext cx="3061644"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per year for a mid-sized firm: our pricing hypothesis, to validate</a:t>
            </a:r>
            <a:endParaRPr lang="en-US" sz="1400" dirty="0"/>
          </a:p>
        </p:txBody>
      </p:sp>
      <p:sp>
        <p:nvSpPr>
          <p:cNvPr id="10" name="Shape 8"/>
          <p:cNvSpPr/>
          <p:nvPr/>
        </p:nvSpPr>
        <p:spPr>
          <a:xfrm>
            <a:off x="7995679" y="2543175"/>
            <a:ext cx="3380358" cy="1621830"/>
          </a:xfrm>
          <a:prstGeom prst="roundRect">
            <a:avLst>
              <a:gd name="adj" fmla="val 6069"/>
            </a:avLst>
          </a:prstGeom>
          <a:solidFill>
            <a:srgbClr val="FFFFFF"/>
          </a:solidFill>
          <a:ln w="6350">
            <a:solidFill>
              <a:srgbClr val="D6DED8"/>
            </a:solidFill>
            <a:prstDash val="solid"/>
          </a:ln>
        </p:spPr>
      </p:sp>
      <p:sp>
        <p:nvSpPr>
          <p:cNvPr id="11" name="Text 9"/>
          <p:cNvSpPr/>
          <p:nvPr/>
        </p:nvSpPr>
        <p:spPr>
          <a:xfrm>
            <a:off x="8199624" y="2747119"/>
            <a:ext cx="306164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€60–150 k</a:t>
            </a:r>
            <a:endParaRPr lang="en-US" sz="3600" dirty="0"/>
          </a:p>
        </p:txBody>
      </p:sp>
      <p:sp>
        <p:nvSpPr>
          <p:cNvPr id="12" name="Text 10"/>
          <p:cNvSpPr/>
          <p:nvPr/>
        </p:nvSpPr>
        <p:spPr>
          <a:xfrm>
            <a:off x="8199624" y="3463354"/>
            <a:ext cx="3061644"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4"/>
                </a:solidFill>
                <a:latin typeface="IBM Plex Sans" pitchFamily="34" charset="0"/>
                <a:ea typeface="IBM Plex Sans" pitchFamily="34" charset="-122"/>
                <a:cs typeface="IBM Plex Sans" pitchFamily="34" charset="-120"/>
              </a:rPr>
              <a:t>ARR target for year one: 10–25 customers (planning scenario)</a:t>
            </a:r>
            <a:endParaRPr lang="en-US" sz="1400" dirty="0"/>
          </a:p>
        </p:txBody>
      </p:sp>
      <p:sp>
        <p:nvSpPr>
          <p:cNvPr id="13" name="Text 11"/>
          <p:cNvSpPr/>
          <p:nvPr/>
        </p:nvSpPr>
        <p:spPr>
          <a:xfrm>
            <a:off x="812788" y="4422180"/>
            <a:ext cx="10883418" cy="523106"/>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First customers:</a:t>
            </a:r>
            <a:r>
              <a:rPr lang="en-US" sz="1400" dirty="0">
                <a:solidFill>
                  <a:srgbClr val="14201B"/>
                </a:solidFill>
                <a:latin typeface="IBM Plex Sans" pitchFamily="34" charset="0"/>
                <a:ea typeface="IBM Plex Sans" pitchFamily="34" charset="-122"/>
                <a:cs typeface="IBM Plex Sans" pitchFamily="34" charset="-120"/>
              </a:rPr>
              <a:t> clinics and labs under NIS2, then legal and accounting firms. </a:t>
            </a:r>
            <a:r>
              <a:rPr lang="en-US" sz="1400" b="1" dirty="0">
                <a:solidFill>
                  <a:srgbClr val="14201B"/>
                </a:solidFill>
                <a:latin typeface="IBM Plex Sans" pitchFamily="34" charset="0"/>
                <a:ea typeface="IBM Plex Sans" pitchFamily="34" charset="-122"/>
                <a:cs typeface="IBM Plex Sans" pitchFamily="34" charset="-120"/>
              </a:rPr>
              <a:t>Channel:</a:t>
            </a:r>
            <a:r>
              <a:rPr lang="en-US" sz="1400" dirty="0">
                <a:solidFill>
                  <a:srgbClr val="14201B"/>
                </a:solidFill>
                <a:latin typeface="IBM Plex Sans" pitchFamily="34" charset="0"/>
                <a:ea typeface="IBM Plex Sans" pitchFamily="34" charset="-122"/>
                <a:cs typeface="IBM Plex Sans" pitchFamily="34" charset="-120"/>
              </a:rPr>
              <a:t> MSSPs that run SOCs for many clients; one partner brings many customers.</a:t>
            </a:r>
            <a:endParaRPr lang="en-US" sz="1400" dirty="0"/>
          </a:p>
        </p:txBody>
      </p:sp>
      <p:sp>
        <p:nvSpPr>
          <p:cNvPr id="14" name="Text 12"/>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IMARC 2025 · Eurostat 2024 · pricing and ARR are team assumptions, not sales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WHAT'S NEXT</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From one lab to real clinics in six months.</a:t>
            </a:r>
            <a:endParaRPr lang="en-US" sz="3600" dirty="0"/>
          </a:p>
        </p:txBody>
      </p:sp>
      <p:sp>
        <p:nvSpPr>
          <p:cNvPr id="4" name="Shape 2"/>
          <p:cNvSpPr/>
          <p:nvPr/>
        </p:nvSpPr>
        <p:spPr>
          <a:xfrm>
            <a:off x="815963" y="2141835"/>
            <a:ext cx="3414216" cy="1657548"/>
          </a:xfrm>
          <a:prstGeom prst="roundRect">
            <a:avLst>
              <a:gd name="adj" fmla="val 5938"/>
            </a:avLst>
          </a:prstGeom>
          <a:solidFill>
            <a:srgbClr val="FFFFFF"/>
          </a:solidFill>
          <a:ln w="6350">
            <a:solidFill>
              <a:srgbClr val="D6DED8"/>
            </a:solidFill>
            <a:prstDash val="solid"/>
          </a:ln>
        </p:spPr>
      </p:sp>
      <p:sp>
        <p:nvSpPr>
          <p:cNvPr id="5" name="Text 3"/>
          <p:cNvSpPr/>
          <p:nvPr/>
        </p:nvSpPr>
        <p:spPr>
          <a:xfrm>
            <a:off x="1019907" y="2345779"/>
            <a:ext cx="309651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Months 1–2</a:t>
            </a:r>
            <a:endParaRPr lang="en-US" sz="1200" dirty="0"/>
          </a:p>
        </p:txBody>
      </p:sp>
      <p:sp>
        <p:nvSpPr>
          <p:cNvPr id="6" name="Text 4"/>
          <p:cNvSpPr/>
          <p:nvPr/>
        </p:nvSpPr>
        <p:spPr>
          <a:xfrm>
            <a:off x="1019907" y="2635312"/>
            <a:ext cx="30965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Discover</a:t>
            </a:r>
            <a:endParaRPr lang="en-US" sz="1600" dirty="0"/>
          </a:p>
        </p:txBody>
      </p:sp>
      <p:sp>
        <p:nvSpPr>
          <p:cNvPr id="7" name="Text 5"/>
          <p:cNvSpPr/>
          <p:nvPr/>
        </p:nvSpPr>
        <p:spPr>
          <a:xfrm>
            <a:off x="1019907" y="2955292"/>
            <a:ext cx="3096518"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10–15 interviews with clinic IT managers and MSSPs; test the price.</a:t>
            </a:r>
            <a:endParaRPr lang="en-US" sz="1200" dirty="0"/>
          </a:p>
        </p:txBody>
      </p:sp>
      <p:sp>
        <p:nvSpPr>
          <p:cNvPr id="8" name="Shape 6"/>
          <p:cNvSpPr/>
          <p:nvPr/>
        </p:nvSpPr>
        <p:spPr>
          <a:xfrm>
            <a:off x="4388892" y="2141835"/>
            <a:ext cx="3414216" cy="1657548"/>
          </a:xfrm>
          <a:prstGeom prst="roundRect">
            <a:avLst>
              <a:gd name="adj" fmla="val 5938"/>
            </a:avLst>
          </a:prstGeom>
          <a:solidFill>
            <a:srgbClr val="FFFFFF"/>
          </a:solidFill>
          <a:ln w="6350">
            <a:solidFill>
              <a:srgbClr val="D6DED8"/>
            </a:solidFill>
            <a:prstDash val="solid"/>
          </a:ln>
        </p:spPr>
      </p:sp>
      <p:sp>
        <p:nvSpPr>
          <p:cNvPr id="9" name="Text 7"/>
          <p:cNvSpPr/>
          <p:nvPr/>
        </p:nvSpPr>
        <p:spPr>
          <a:xfrm>
            <a:off x="4592836" y="2345779"/>
            <a:ext cx="309651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Months 3–4</a:t>
            </a:r>
            <a:endParaRPr lang="en-US" sz="1200" dirty="0"/>
          </a:p>
        </p:txBody>
      </p:sp>
      <p:sp>
        <p:nvSpPr>
          <p:cNvPr id="10" name="Text 8"/>
          <p:cNvSpPr/>
          <p:nvPr/>
        </p:nvSpPr>
        <p:spPr>
          <a:xfrm>
            <a:off x="4592836" y="2635312"/>
            <a:ext cx="30965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Pilot</a:t>
            </a:r>
            <a:endParaRPr lang="en-US" sz="1600" dirty="0"/>
          </a:p>
        </p:txBody>
      </p:sp>
      <p:sp>
        <p:nvSpPr>
          <p:cNvPr id="11" name="Text 9"/>
          <p:cNvSpPr/>
          <p:nvPr/>
        </p:nvSpPr>
        <p:spPr>
          <a:xfrm>
            <a:off x="4592836" y="2955292"/>
            <a:ext cx="3096518"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2–3 supervised pilots next to existing tools; measure false swaps and analyst time.</a:t>
            </a:r>
            <a:endParaRPr lang="en-US" sz="1200" dirty="0"/>
          </a:p>
        </p:txBody>
      </p:sp>
      <p:sp>
        <p:nvSpPr>
          <p:cNvPr id="12" name="Shape 10"/>
          <p:cNvSpPr/>
          <p:nvPr/>
        </p:nvSpPr>
        <p:spPr>
          <a:xfrm>
            <a:off x="7961821" y="2141835"/>
            <a:ext cx="3414216" cy="1657548"/>
          </a:xfrm>
          <a:prstGeom prst="roundRect">
            <a:avLst>
              <a:gd name="adj" fmla="val 5938"/>
            </a:avLst>
          </a:prstGeom>
          <a:solidFill>
            <a:srgbClr val="FFFFFF"/>
          </a:solidFill>
          <a:ln w="6350">
            <a:solidFill>
              <a:srgbClr val="D6DED8"/>
            </a:solidFill>
            <a:prstDash val="solid"/>
          </a:ln>
        </p:spPr>
      </p:sp>
      <p:sp>
        <p:nvSpPr>
          <p:cNvPr id="13" name="Text 11"/>
          <p:cNvSpPr/>
          <p:nvPr/>
        </p:nvSpPr>
        <p:spPr>
          <a:xfrm>
            <a:off x="8165765" y="2345779"/>
            <a:ext cx="309651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Months 5–6</a:t>
            </a:r>
            <a:endParaRPr lang="en-US" sz="1200" dirty="0"/>
          </a:p>
        </p:txBody>
      </p:sp>
      <p:sp>
        <p:nvSpPr>
          <p:cNvPr id="14" name="Text 12"/>
          <p:cNvSpPr/>
          <p:nvPr/>
        </p:nvSpPr>
        <p:spPr>
          <a:xfrm>
            <a:off x="8165765" y="2635312"/>
            <a:ext cx="30965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Extend</a:t>
            </a:r>
            <a:endParaRPr lang="en-US" sz="1600" dirty="0"/>
          </a:p>
        </p:txBody>
      </p:sp>
      <p:sp>
        <p:nvSpPr>
          <p:cNvPr id="15" name="Text 13"/>
          <p:cNvSpPr/>
          <p:nvPr/>
        </p:nvSpPr>
        <p:spPr>
          <a:xfrm>
            <a:off x="8165765" y="2955292"/>
            <a:ext cx="3096518"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Cloud storage (SharePoint, Google Drive, S3); multi-client console for MSSPs; separate-machine vault.</a:t>
            </a:r>
            <a:endParaRPr lang="en-US" sz="1200" dirty="0"/>
          </a:p>
        </p:txBody>
      </p:sp>
      <p:sp>
        <p:nvSpPr>
          <p:cNvPr id="16" name="Text 14"/>
          <p:cNvSpPr/>
          <p:nvPr/>
        </p:nvSpPr>
        <p:spPr>
          <a:xfrm>
            <a:off x="812788" y="4107346"/>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What we need:</a:t>
            </a:r>
            <a:r>
              <a:rPr lang="en-US" sz="1400" dirty="0">
                <a:solidFill>
                  <a:srgbClr val="14201B"/>
                </a:solidFill>
                <a:latin typeface="IBM Plex Sans" pitchFamily="34" charset="0"/>
                <a:ea typeface="IBM Plex Sans" pitchFamily="34" charset="-122"/>
                <a:cs typeface="IBM Plex Sans" pitchFamily="34" charset="-120"/>
              </a:rPr>
              <a:t> 2–3 pilot organisations, MSSP introductions, and mentoring on health-sector sales.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12"/>
        </a:solidFill>
      </p:bgPr>
    </p:bg>
    <p:spTree>
      <p:nvGrpSpPr>
        <p:cNvPr id="1" name=""/>
        <p:cNvGrpSpPr/>
        <p:nvPr/>
      </p:nvGrpSpPr>
      <p:grpSpPr>
        <a:xfrm>
          <a:off x="0" y="0"/>
          <a:ext cx="0" cy="0"/>
          <a:chOff x="0" y="0"/>
          <a:chExt cx="0" cy="0"/>
        </a:xfrm>
      </p:grpSpPr>
      <p:sp>
        <p:nvSpPr>
          <p:cNvPr id="2" name="Text 0"/>
          <p:cNvSpPr/>
          <p:nvPr>
            <p:ph type="title"/>
          </p:nvPr>
        </p:nvSpPr>
        <p:spPr>
          <a:xfrm>
            <a:off x="812788" y="2162721"/>
            <a:ext cx="10883418" cy="1076871"/>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2F5F0"/>
                </a:solidFill>
                <a:latin typeface="Space Grotesk" pitchFamily="34" charset="0"/>
                <a:ea typeface="Space Grotesk" pitchFamily="34" charset="-122"/>
                <a:cs typeface="Space Grotesk" pitchFamily="34" charset="-120"/>
              </a:rPr>
              <a:t>Whoever breaks in steals only fakes. </a:t>
            </a:r>
            <a:r>
              <a:rPr lang="en-US" sz="3600" b="1" i="0" dirty="0">
                <a:solidFill>
                  <a:srgbClr val="7BE0A0"/>
                </a:solidFill>
                <a:latin typeface="Space Grotesk" pitchFamily="34" charset="0"/>
                <a:ea typeface="Space Grotesk" pitchFamily="34" charset="-122"/>
                <a:cs typeface="Space Grotesk" pitchFamily="34" charset="-120"/>
              </a:rPr>
              <a:t>And if it's an AI, it tells us who sent it.</a:t>
            </a:r>
            <a:endParaRPr lang="en-US" sz="3600" dirty="0"/>
          </a:p>
        </p:txBody>
      </p:sp>
      <p:sp>
        <p:nvSpPr>
          <p:cNvPr id="3" name="Shape 1"/>
          <p:cNvSpPr/>
          <p:nvPr/>
        </p:nvSpPr>
        <p:spPr>
          <a:xfrm>
            <a:off x="815963" y="3572942"/>
            <a:ext cx="2520938" cy="915888"/>
          </a:xfrm>
          <a:prstGeom prst="roundRect">
            <a:avLst>
              <a:gd name="adj" fmla="val 10746"/>
            </a:avLst>
          </a:prstGeom>
          <a:solidFill>
            <a:srgbClr val="18221E"/>
          </a:solidFill>
          <a:ln w="6350">
            <a:solidFill>
              <a:srgbClr val="2C3D36"/>
            </a:solidFill>
            <a:prstDash val="solid"/>
          </a:ln>
        </p:spPr>
      </p:sp>
      <p:sp>
        <p:nvSpPr>
          <p:cNvPr id="4" name="Text 2"/>
          <p:cNvSpPr/>
          <p:nvPr/>
        </p:nvSpPr>
        <p:spPr>
          <a:xfrm>
            <a:off x="1019907" y="3776886"/>
            <a:ext cx="217644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0"/>
                </a:solidFill>
                <a:latin typeface="Space Grotesk" pitchFamily="34" charset="0"/>
                <a:ea typeface="Space Grotesk" pitchFamily="34" charset="-122"/>
                <a:cs typeface="Space Grotesk" pitchFamily="34" charset="-120"/>
              </a:rPr>
              <a:t>Leon</a:t>
            </a:r>
            <a:endParaRPr lang="en-US" sz="1600" dirty="0"/>
          </a:p>
        </p:txBody>
      </p:sp>
      <p:sp>
        <p:nvSpPr>
          <p:cNvPr id="5" name="Text 3"/>
          <p:cNvSpPr/>
          <p:nvPr/>
        </p:nvSpPr>
        <p:spPr>
          <a:xfrm>
            <a:off x="1019907" y="4071503"/>
            <a:ext cx="217644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C8"/>
                </a:solidFill>
                <a:latin typeface="IBM Plex Sans" pitchFamily="34" charset="0"/>
                <a:ea typeface="IBM Plex Sans" pitchFamily="34" charset="-122"/>
                <a:cs typeface="IBM Plex Sans" pitchFamily="34" charset="-120"/>
              </a:rPr>
              <a:t>Infrastructure and guard</a:t>
            </a:r>
            <a:endParaRPr lang="en-US" sz="1200" dirty="0"/>
          </a:p>
        </p:txBody>
      </p:sp>
      <p:sp>
        <p:nvSpPr>
          <p:cNvPr id="6" name="Shape 4"/>
          <p:cNvSpPr/>
          <p:nvPr/>
        </p:nvSpPr>
        <p:spPr>
          <a:xfrm>
            <a:off x="3495613" y="3572942"/>
            <a:ext cx="2521000" cy="915888"/>
          </a:xfrm>
          <a:prstGeom prst="roundRect">
            <a:avLst>
              <a:gd name="adj" fmla="val 10746"/>
            </a:avLst>
          </a:prstGeom>
          <a:solidFill>
            <a:srgbClr val="18221E"/>
          </a:solidFill>
          <a:ln w="6350">
            <a:solidFill>
              <a:srgbClr val="2C3D36"/>
            </a:solidFill>
            <a:prstDash val="solid"/>
          </a:ln>
        </p:spPr>
      </p:sp>
      <p:sp>
        <p:nvSpPr>
          <p:cNvPr id="7" name="Text 5"/>
          <p:cNvSpPr/>
          <p:nvPr/>
        </p:nvSpPr>
        <p:spPr>
          <a:xfrm>
            <a:off x="3699557" y="3776886"/>
            <a:ext cx="217650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0"/>
                </a:solidFill>
                <a:latin typeface="Space Grotesk" pitchFamily="34" charset="0"/>
                <a:ea typeface="Space Grotesk" pitchFamily="34" charset="-122"/>
                <a:cs typeface="Space Grotesk" pitchFamily="34" charset="-120"/>
              </a:rPr>
              <a:t>Thomas</a:t>
            </a:r>
            <a:endParaRPr lang="en-US" sz="1600" dirty="0"/>
          </a:p>
        </p:txBody>
      </p:sp>
      <p:sp>
        <p:nvSpPr>
          <p:cNvPr id="8" name="Text 6"/>
          <p:cNvSpPr/>
          <p:nvPr/>
        </p:nvSpPr>
        <p:spPr>
          <a:xfrm>
            <a:off x="3699557" y="4071503"/>
            <a:ext cx="217650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C8"/>
                </a:solidFill>
                <a:latin typeface="IBM Plex Sans" pitchFamily="34" charset="0"/>
                <a:ea typeface="IBM Plex Sans" pitchFamily="34" charset="-122"/>
                <a:cs typeface="IBM Plex Sans" pitchFamily="34" charset="-120"/>
              </a:rPr>
              <a:t>AI helpers and fake twins</a:t>
            </a:r>
            <a:endParaRPr lang="en-US" sz="1200" dirty="0"/>
          </a:p>
        </p:txBody>
      </p:sp>
      <p:sp>
        <p:nvSpPr>
          <p:cNvPr id="9" name="Shape 7"/>
          <p:cNvSpPr/>
          <p:nvPr/>
        </p:nvSpPr>
        <p:spPr>
          <a:xfrm>
            <a:off x="6175325" y="3572942"/>
            <a:ext cx="2521000" cy="915888"/>
          </a:xfrm>
          <a:prstGeom prst="roundRect">
            <a:avLst>
              <a:gd name="adj" fmla="val 10746"/>
            </a:avLst>
          </a:prstGeom>
          <a:solidFill>
            <a:srgbClr val="18221E"/>
          </a:solidFill>
          <a:ln w="6350">
            <a:solidFill>
              <a:srgbClr val="2C3D36"/>
            </a:solidFill>
            <a:prstDash val="solid"/>
          </a:ln>
        </p:spPr>
      </p:sp>
      <p:sp>
        <p:nvSpPr>
          <p:cNvPr id="10" name="Text 8"/>
          <p:cNvSpPr/>
          <p:nvPr/>
        </p:nvSpPr>
        <p:spPr>
          <a:xfrm>
            <a:off x="6379270" y="3776886"/>
            <a:ext cx="217650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0"/>
                </a:solidFill>
                <a:latin typeface="Space Grotesk" pitchFamily="34" charset="0"/>
                <a:ea typeface="Space Grotesk" pitchFamily="34" charset="-122"/>
                <a:cs typeface="Space Grotesk" pitchFamily="34" charset="-120"/>
              </a:rPr>
              <a:t>Gaia</a:t>
            </a:r>
            <a:endParaRPr lang="en-US" sz="1600" dirty="0"/>
          </a:p>
        </p:txBody>
      </p:sp>
      <p:sp>
        <p:nvSpPr>
          <p:cNvPr id="11" name="Text 9"/>
          <p:cNvSpPr/>
          <p:nvPr/>
        </p:nvSpPr>
        <p:spPr>
          <a:xfrm>
            <a:off x="6379270" y="4071503"/>
            <a:ext cx="217650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C8"/>
                </a:solidFill>
                <a:latin typeface="IBM Plex Sans" pitchFamily="34" charset="0"/>
                <a:ea typeface="IBM Plex Sans" pitchFamily="34" charset="-122"/>
                <a:cs typeface="IBM Plex Sans" pitchFamily="34" charset="-120"/>
              </a:rPr>
              <a:t>AI attacker and core</a:t>
            </a:r>
            <a:endParaRPr lang="en-US" sz="1200" dirty="0"/>
          </a:p>
        </p:txBody>
      </p:sp>
      <p:sp>
        <p:nvSpPr>
          <p:cNvPr id="12" name="Shape 10"/>
          <p:cNvSpPr/>
          <p:nvPr/>
        </p:nvSpPr>
        <p:spPr>
          <a:xfrm>
            <a:off x="8855038" y="3572942"/>
            <a:ext cx="2521000" cy="915888"/>
          </a:xfrm>
          <a:prstGeom prst="roundRect">
            <a:avLst>
              <a:gd name="adj" fmla="val 10746"/>
            </a:avLst>
          </a:prstGeom>
          <a:solidFill>
            <a:srgbClr val="18221E"/>
          </a:solidFill>
          <a:ln w="6350">
            <a:solidFill>
              <a:srgbClr val="2C3D36"/>
            </a:solidFill>
            <a:prstDash val="solid"/>
          </a:ln>
        </p:spPr>
      </p:sp>
      <p:sp>
        <p:nvSpPr>
          <p:cNvPr id="13" name="Text 11"/>
          <p:cNvSpPr/>
          <p:nvPr/>
        </p:nvSpPr>
        <p:spPr>
          <a:xfrm>
            <a:off x="9058982" y="3776886"/>
            <a:ext cx="217650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0"/>
                </a:solidFill>
                <a:latin typeface="Space Grotesk" pitchFamily="34" charset="0"/>
                <a:ea typeface="Space Grotesk" pitchFamily="34" charset="-122"/>
                <a:cs typeface="Space Grotesk" pitchFamily="34" charset="-120"/>
              </a:rPr>
              <a:t>Ana</a:t>
            </a:r>
            <a:endParaRPr lang="en-US" sz="1600" dirty="0"/>
          </a:p>
        </p:txBody>
      </p:sp>
      <p:sp>
        <p:nvSpPr>
          <p:cNvPr id="14" name="Text 12"/>
          <p:cNvSpPr/>
          <p:nvPr/>
        </p:nvSpPr>
        <p:spPr>
          <a:xfrm>
            <a:off x="9058982" y="4071503"/>
            <a:ext cx="217650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C8"/>
                </a:solidFill>
                <a:latin typeface="IBM Plex Sans" pitchFamily="34" charset="0"/>
                <a:ea typeface="IBM Plex Sans" pitchFamily="34" charset="-122"/>
                <a:cs typeface="IBM Plex Sans" pitchFamily="34" charset="-120"/>
              </a:rPr>
              <a:t>Dashboard and pitch</a:t>
            </a:r>
            <a:endParaRPr lang="en-US" sz="1200" dirty="0"/>
          </a:p>
        </p:txBody>
      </p:sp>
      <p:sp>
        <p:nvSpPr>
          <p:cNvPr id="15" name="Text 13"/>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MIRAGE · Team 7 · Thank you</a:t>
            </a:r>
            <a:endParaRPr lang="en-US" sz="1200" dirty="0"/>
          </a:p>
        </p:txBody>
      </p:sp>
    </p:spTree>
  </p:cSld>
  <p:clrMapOvr>
    <a:masterClrMapping/>
  </p:clrMapOvr>
</p:sld>
</file>

<file path=ppt/theme/theme1.xml><?xml version="1.0" encoding="utf-8"?>
<a:theme xmlns:a="http://schemas.openxmlformats.org/drawingml/2006/main" name="MIRAGE — Final pitch (8 min)">
  <a:themeElements>
    <a:clrScheme name="MIRAGE — Final pitch (8 min)">
      <a:dk1>
        <a:srgbClr val="14201B"/>
      </a:dk1>
      <a:lt1>
        <a:srgbClr val="F4F6F2"/>
      </a:lt1>
      <a:dk2>
        <a:srgbClr val="4C5651"/>
      </a:dk2>
      <a:lt2>
        <a:srgbClr val="DEE1DD"/>
      </a:lt2>
      <a:accent1>
        <a:srgbClr val="1E7A4F"/>
      </a:accent1>
      <a:accent2>
        <a:srgbClr val="7BE0A0"/>
      </a:accent2>
      <a:accent3>
        <a:srgbClr val="3E4A44"/>
      </a:accent3>
      <a:accent4>
        <a:srgbClr val="BFD3C8"/>
      </a:accent4>
      <a:accent5>
        <a:srgbClr val="9DB3A8"/>
      </a:accent5>
      <a:accent6>
        <a:srgbClr val="5F6B65"/>
      </a:accent6>
      <a:hlink>
        <a:srgbClr val="0563C1"/>
      </a:hlink>
      <a:folHlink>
        <a:srgbClr val="954F72"/>
      </a:folHlink>
    </a:clrScheme>
    <a:fontScheme name="MIRAGE — Final pitch (8 mi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MIRAGE — Final pitch (8 min)</dc:title>
  <dc:subject/>
  <dc:creator/>
  <cp:lastModifiedBy/>
  <cp:revision>1</cp:revision>
  <dcterms:created xsi:type="dcterms:W3CDTF">2026-10-10T21:32:52Z</dcterms:created>
  <dcterms:modified xsi:type="dcterms:W3CDTF">2026-10-10T21:32:52Z</dcterms:modified>
</cp:coreProperties>
</file>