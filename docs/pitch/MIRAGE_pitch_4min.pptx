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Say the two lines slowly, then pause. Don't explain yet. Next: "Here is why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[0:15–0:50] Data theft is now the main way to extort a company: Coveware saw it in more than 3 out of 4 ransomware attacks. Once data leaves, no backup brings it back. And the attackers are speeding up: in GTG-1002, an AI agent did 80 to 90% of the work at several actions per second. And it hits smaller companies hardest: Verizon found ransomware in 88% of breaches at small and mid-sized businesses. A SOC that waits for a human to read an alert loses the files. Our question: what if whatever they steal is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[0:50–1:20] MIRAGE is a guard on the company's file server plus a console for the SOC. Before any attack, our AI writes a believable fake twin of each sensitive file and we hide a few mines: tempting files no employee ever needs. The moment an intruder opens one, plain code swaps the real files into a locked vault and puts the fakes in their place, in under a second. If the intruder is an AI agent, the note in the mine makes it tell us its mission. Then the analyst gets one card and decides.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[1:20–2:35] Switch to the live demo (or the video). Narrate only the key moments: 1) The AI agent logs in with a stolen password and opens the mine. 2) Red alert, swap done in [__] seconds. 3) The agent registers its mission: confession appears, each claim tagged. 4) It downloads patients.csv and .env: they look real, they are fake. 5) It tries the stolen key: the beacon fires. 6) The card: AI agent, high confidence, 0 real files lost. Click Contain, then Restore. If the agent does not follow the note: "This one was careful. The swap still protected everything." Replace the two placeholders with real screenshots on Sunday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[2:35–2:55] Three separate roles. The attacker's AI is why we must react in seconds. Its weakness, that it follows instructions it reads, is how we learn its mission, on our own server only, never hacking back. And we never trust what it says without checking the logs. Our own AI does the creative work before and after the attack. In the critical second, plain code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[2:55–3:20] Fill every [__] from results.csv on Sunday morning, and delete any card we could not measure. Say the two strongest numbers out loud, then: "And we report the confession rate per model honestly: careful models resist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[3:20–3:40] The only automatic action is the swap, because it is reversible and fires on a near-certain signal. Anything that affects people waits for a click. And here is what we don't cover yet; we prefer to say it before you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[3:40–4:00] Deception is a 2.7 billion dollar market, and its pioneers were bought by the big platforms. They all stop at detection. We are the response that makes stolen data worthless. Our market: the 251,000 mid-sized firms in the EU, starting with clinics under NIS2, reached through the MSSPs that already run their SOC, at around 6,000 euros a year, a price we still have to validate with customers. Close with: "Whoever breaks in steals only fakes. And if it's an AI, it tells us who sent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330958"/>
            <a:ext cx="10566425" cy="502915"/>
          </a:xfrm>
          <a:prstGeom prst="rect">
            <a:avLst/>
          </a:prstGeom>
          <a:noFill/>
          <a:ln/>
        </p:spPr>
        <p:txBody>
          <a:bodyPr wrap="square" lIns="0" tIns="0" rIns="0" bIns="0" rtlCol="0" anchor="t"/>
          <a:lstStyle>
            <a:lvl1pPr algn="l" indent="0" marL="0">
              <a:lnSpc>
                <a:spcPct val="115000"/>
              </a:lnSpc>
              <a:buNone/>
              <a:defRPr lang="en-US" sz="3600" dirty="0">
                <a:solidFill>
                  <a:srgbClr val="14201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2138673"/>
            <a:ext cx="10566412" cy="3906527"/>
          </a:xfrm>
          <a:prstGeom prst="rect">
            <a:avLst/>
          </a:prstGeom>
          <a:noFill/>
          <a:ln/>
        </p:spPr>
        <p:txBody>
          <a:bodyPr wrap="square" lIns="0" tIns="0" rIns="0" bIns="0" rtlCol="0" anchor="t"/>
          <a:lstStyle>
            <a:lvl1pPr algn="l" indent="0" marL="0">
              <a:lnSpc>
                <a:spcPct val="140000"/>
              </a:lnSpc>
              <a:buNone/>
              <a:defRPr lang="en-US" sz="1600" dirty="0">
                <a:solidFill>
                  <a:srgbClr val="1420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330958"/>
            <a:ext cx="10566425" cy="502915"/>
          </a:xfrm>
          <a:prstGeom prst="rect">
            <a:avLst/>
          </a:prstGeom>
          <a:noFill/>
          <a:ln/>
        </p:spPr>
        <p:txBody>
          <a:bodyPr wrap="square" lIns="0" tIns="0" rIns="0" bIns="0" rtlCol="0" anchor="t"/>
          <a:lstStyle>
            <a:lvl1pPr algn="l" indent="0" marL="0">
              <a:lnSpc>
                <a:spcPct val="115000"/>
              </a:lnSpc>
              <a:buNone/>
              <a:defRPr lang="en-US" sz="3600" dirty="0">
                <a:solidFill>
                  <a:srgbClr val="14201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2138673"/>
            <a:ext cx="10566412" cy="3906527"/>
          </a:xfrm>
          <a:prstGeom prst="rect">
            <a:avLst/>
          </a:prstGeom>
          <a:noFill/>
          <a:ln/>
        </p:spPr>
        <p:txBody>
          <a:bodyPr wrap="square" lIns="0" tIns="0" rIns="0" bIns="0" rtlCol="0" anchor="t"/>
          <a:lstStyle>
            <a:lvl1pPr algn="l" indent="0" marL="0">
              <a:lnSpc>
                <a:spcPct val="140000"/>
              </a:lnSpc>
              <a:buNone/>
              <a:defRPr lang="en-US" sz="1600" dirty="0">
                <a:solidFill>
                  <a:srgbClr val="14201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788" y="1852972"/>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BE0A0"/>
                </a:solidFill>
                <a:latin typeface="JetBrains Mono" pitchFamily="49" charset="0"/>
                <a:ea typeface="JetBrains Mono" pitchFamily="49" charset="-122"/>
                <a:cs typeface="JetBrains Mono" pitchFamily="49" charset="-120"/>
              </a:rPr>
              <a:t>SECURE HORIZONS 2026 · TRACK 02 · AI FOR SECURITY &amp; SECURE AI</a:t>
            </a:r>
            <a:endParaRPr lang="en-US" sz="1200" dirty="0"/>
          </a:p>
        </p:txBody>
      </p:sp>
      <p:sp>
        <p:nvSpPr>
          <p:cNvPr id="3" name="Text 1"/>
          <p:cNvSpPr/>
          <p:nvPr>
            <p:ph type="title"/>
          </p:nvPr>
        </p:nvSpPr>
        <p:spPr>
          <a:xfrm>
            <a:off x="812788" y="2371142"/>
            <a:ext cx="10883418" cy="162555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F5F0"/>
                </a:solidFill>
                <a:latin typeface="Space Grotesk" pitchFamily="34" charset="0"/>
                <a:ea typeface="Space Grotesk" pitchFamily="34" charset="-122"/>
                <a:cs typeface="Space Grotesk" pitchFamily="34" charset="-120"/>
              </a:rPr>
              <a:t>This AI hacker just stole 400 patient records.</a:t>
            </a:r>
            <a:endParaRPr lang="en-US" sz="6000" dirty="0"/>
          </a:p>
        </p:txBody>
      </p:sp>
      <p:sp>
        <p:nvSpPr>
          <p:cNvPr id="4" name="Text 2"/>
          <p:cNvSpPr/>
          <p:nvPr/>
        </p:nvSpPr>
        <p:spPr>
          <a:xfrm>
            <a:off x="812788" y="4276080"/>
            <a:ext cx="10883418" cy="551135"/>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7BE0A0"/>
                </a:solidFill>
                <a:latin typeface="Space Grotesk" pitchFamily="34" charset="0"/>
                <a:ea typeface="Space Grotesk" pitchFamily="34" charset="-122"/>
                <a:cs typeface="Space Grotesk" pitchFamily="34" charset="-120"/>
              </a:rPr>
              <a:t>All of them are fake. And it told us who sent it.</a:t>
            </a:r>
            <a:endParaRPr lang="en-US" sz="3600" dirty="0"/>
          </a:p>
        </p:txBody>
      </p:sp>
      <p:sp>
        <p:nvSpPr>
          <p:cNvPr id="5" name="Text 3"/>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MIRAGE · Team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788" y="1381745"/>
            <a:ext cx="10883418" cy="10312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Attackers steal before they encrypt, and AI makes it fast.</a:t>
            </a:r>
            <a:endParaRPr lang="en-US" sz="3600" dirty="0"/>
          </a:p>
        </p:txBody>
      </p:sp>
      <p:sp>
        <p:nvSpPr>
          <p:cNvPr id="4" name="Shape 2"/>
          <p:cNvSpPr/>
          <p:nvPr/>
        </p:nvSpPr>
        <p:spPr>
          <a:xfrm>
            <a:off x="815963" y="2746325"/>
            <a:ext cx="3380358" cy="2348359"/>
          </a:xfrm>
          <a:prstGeom prst="roundRect">
            <a:avLst>
              <a:gd name="adj" fmla="val 4191"/>
            </a:avLst>
          </a:prstGeom>
          <a:solidFill>
            <a:srgbClr val="FFFFFF"/>
          </a:solidFill>
          <a:ln w="6350">
            <a:solidFill>
              <a:srgbClr val="D6DED8"/>
            </a:solidFill>
            <a:prstDash val="solid"/>
          </a:ln>
        </p:spPr>
      </p:sp>
      <p:sp>
        <p:nvSpPr>
          <p:cNvPr id="5" name="Text 3"/>
          <p:cNvSpPr/>
          <p:nvPr/>
        </p:nvSpPr>
        <p:spPr>
          <a:xfrm>
            <a:off x="1070756" y="3001119"/>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76%+</a:t>
            </a:r>
            <a:endParaRPr lang="en-US" sz="3600" dirty="0"/>
          </a:p>
        </p:txBody>
      </p:sp>
      <p:sp>
        <p:nvSpPr>
          <p:cNvPr id="6" name="Text 4"/>
          <p:cNvSpPr/>
          <p:nvPr/>
        </p:nvSpPr>
        <p:spPr>
          <a:xfrm>
            <a:off x="1070756" y="3742779"/>
            <a:ext cx="2956894" cy="84823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ransomware attacks steal data. Backups can't undo a leak.</a:t>
            </a:r>
            <a:endParaRPr lang="en-US" sz="1600" dirty="0"/>
          </a:p>
        </p:txBody>
      </p:sp>
      <p:sp>
        <p:nvSpPr>
          <p:cNvPr id="7" name="Shape 5"/>
          <p:cNvSpPr/>
          <p:nvPr/>
        </p:nvSpPr>
        <p:spPr>
          <a:xfrm>
            <a:off x="4405821" y="2746325"/>
            <a:ext cx="3380358" cy="2348359"/>
          </a:xfrm>
          <a:prstGeom prst="roundRect">
            <a:avLst>
              <a:gd name="adj" fmla="val 4191"/>
            </a:avLst>
          </a:prstGeom>
          <a:solidFill>
            <a:srgbClr val="FFFFFF"/>
          </a:solidFill>
          <a:ln w="6350">
            <a:solidFill>
              <a:srgbClr val="D6DED8"/>
            </a:solidFill>
            <a:prstDash val="solid"/>
          </a:ln>
        </p:spPr>
      </p:sp>
      <p:sp>
        <p:nvSpPr>
          <p:cNvPr id="8" name="Text 6"/>
          <p:cNvSpPr/>
          <p:nvPr/>
        </p:nvSpPr>
        <p:spPr>
          <a:xfrm>
            <a:off x="4660615" y="3001119"/>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80–90%</a:t>
            </a:r>
            <a:endParaRPr lang="en-US" sz="3600" dirty="0"/>
          </a:p>
        </p:txBody>
      </p:sp>
      <p:sp>
        <p:nvSpPr>
          <p:cNvPr id="9" name="Text 7"/>
          <p:cNvSpPr/>
          <p:nvPr/>
        </p:nvSpPr>
        <p:spPr>
          <a:xfrm>
            <a:off x="4660615" y="3742779"/>
            <a:ext cx="2956894" cy="84823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a 2025 espionage campaign run by an AI agent, several actions per second.</a:t>
            </a:r>
            <a:endParaRPr lang="en-US" sz="1600" dirty="0"/>
          </a:p>
        </p:txBody>
      </p:sp>
      <p:sp>
        <p:nvSpPr>
          <p:cNvPr id="10" name="Shape 8"/>
          <p:cNvSpPr/>
          <p:nvPr/>
        </p:nvSpPr>
        <p:spPr>
          <a:xfrm>
            <a:off x="7995679" y="2746325"/>
            <a:ext cx="3380358" cy="2348359"/>
          </a:xfrm>
          <a:prstGeom prst="roundRect">
            <a:avLst>
              <a:gd name="adj" fmla="val 4191"/>
            </a:avLst>
          </a:prstGeom>
          <a:solidFill>
            <a:srgbClr val="FFFFFF"/>
          </a:solidFill>
          <a:ln w="6350">
            <a:solidFill>
              <a:srgbClr val="D6DED8"/>
            </a:solidFill>
            <a:prstDash val="solid"/>
          </a:ln>
        </p:spPr>
      </p:sp>
      <p:sp>
        <p:nvSpPr>
          <p:cNvPr id="11" name="Text 9"/>
          <p:cNvSpPr/>
          <p:nvPr/>
        </p:nvSpPr>
        <p:spPr>
          <a:xfrm>
            <a:off x="8250473" y="3001119"/>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7A4F"/>
                </a:solidFill>
                <a:latin typeface="Space Grotesk" pitchFamily="34" charset="0"/>
                <a:ea typeface="Space Grotesk" pitchFamily="34" charset="-122"/>
                <a:cs typeface="Space Grotesk" pitchFamily="34" charset="-120"/>
              </a:rPr>
              <a:t>88%</a:t>
            </a:r>
            <a:endParaRPr lang="en-US" sz="3600" dirty="0"/>
          </a:p>
        </p:txBody>
      </p:sp>
      <p:sp>
        <p:nvSpPr>
          <p:cNvPr id="12" name="Text 10"/>
          <p:cNvSpPr/>
          <p:nvPr/>
        </p:nvSpPr>
        <p:spPr>
          <a:xfrm>
            <a:off x="8250473" y="3742779"/>
            <a:ext cx="2956894" cy="11225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of breaches at small and mid-sized businesses involve ransomware (39% at large ones).</a:t>
            </a:r>
            <a:endParaRPr lang="en-US" sz="1600" dirty="0"/>
          </a:p>
        </p:txBody>
      </p:sp>
      <p:sp>
        <p:nvSpPr>
          <p:cNvPr id="13" name="Text 11"/>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Coveware Q3 2025 · Anthropic, GTG-1002 report (Nov 2025) · Verizon DBIR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THE SOLUTION</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MIRAGE: whoever breaks in steals only fakes.</a:t>
            </a:r>
            <a:endParaRPr lang="en-US" sz="3600" dirty="0"/>
          </a:p>
        </p:txBody>
      </p:sp>
      <p:sp>
        <p:nvSpPr>
          <p:cNvPr id="4" name="Shape 2"/>
          <p:cNvSpPr/>
          <p:nvPr/>
        </p:nvSpPr>
        <p:spPr>
          <a:xfrm>
            <a:off x="815963" y="2141835"/>
            <a:ext cx="1981870" cy="1886806"/>
          </a:xfrm>
          <a:prstGeom prst="roundRect">
            <a:avLst>
              <a:gd name="adj" fmla="val 5216"/>
            </a:avLst>
          </a:prstGeom>
          <a:solidFill>
            <a:srgbClr val="FFFFFF"/>
          </a:solidFill>
          <a:ln w="6350">
            <a:solidFill>
              <a:srgbClr val="D6DED8"/>
            </a:solidFill>
            <a:prstDash val="solid"/>
          </a:ln>
        </p:spPr>
      </p:sp>
      <p:sp>
        <p:nvSpPr>
          <p:cNvPr id="5" name="Text 3"/>
          <p:cNvSpPr/>
          <p:nvPr/>
        </p:nvSpPr>
        <p:spPr>
          <a:xfrm>
            <a:off x="1019907"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01 · before</a:t>
            </a:r>
            <a:endParaRPr lang="en-US" sz="1200" dirty="0"/>
          </a:p>
        </p:txBody>
      </p:sp>
      <p:sp>
        <p:nvSpPr>
          <p:cNvPr id="6" name="Text 4"/>
          <p:cNvSpPr/>
          <p:nvPr/>
        </p:nvSpPr>
        <p:spPr>
          <a:xfrm>
            <a:off x="1019907"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Prepare</a:t>
            </a:r>
            <a:endParaRPr lang="en-US" sz="1600" dirty="0"/>
          </a:p>
        </p:txBody>
      </p:sp>
      <p:sp>
        <p:nvSpPr>
          <p:cNvPr id="7" name="Text 5"/>
          <p:cNvSpPr/>
          <p:nvPr/>
        </p:nvSpPr>
        <p:spPr>
          <a:xfrm>
            <a:off x="1019907" y="2955292"/>
            <a:ext cx="1624781"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AI writes a fake twin of each crown-jewel file. Mines are placed.</a:t>
            </a:r>
            <a:endParaRPr lang="en-US" sz="1200" dirty="0"/>
          </a:p>
        </p:txBody>
      </p:sp>
      <p:sp>
        <p:nvSpPr>
          <p:cNvPr id="8" name="Shape 6"/>
          <p:cNvSpPr/>
          <p:nvPr/>
        </p:nvSpPr>
        <p:spPr>
          <a:xfrm>
            <a:off x="2956545" y="2141835"/>
            <a:ext cx="1981870" cy="1886806"/>
          </a:xfrm>
          <a:prstGeom prst="roundRect">
            <a:avLst>
              <a:gd name="adj" fmla="val 5216"/>
            </a:avLst>
          </a:prstGeom>
          <a:solidFill>
            <a:srgbClr val="FFFFFF"/>
          </a:solidFill>
          <a:ln w="6350">
            <a:solidFill>
              <a:srgbClr val="D6DED8"/>
            </a:solidFill>
            <a:prstDash val="solid"/>
          </a:ln>
        </p:spPr>
      </p:sp>
      <p:sp>
        <p:nvSpPr>
          <p:cNvPr id="9" name="Text 7"/>
          <p:cNvSpPr/>
          <p:nvPr/>
        </p:nvSpPr>
        <p:spPr>
          <a:xfrm>
            <a:off x="3160489"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02 · seconds</a:t>
            </a:r>
            <a:endParaRPr lang="en-US" sz="1200" dirty="0"/>
          </a:p>
        </p:txBody>
      </p:sp>
      <p:sp>
        <p:nvSpPr>
          <p:cNvPr id="10" name="Text 8"/>
          <p:cNvSpPr/>
          <p:nvPr/>
        </p:nvSpPr>
        <p:spPr>
          <a:xfrm>
            <a:off x="3160489"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Detect</a:t>
            </a:r>
            <a:endParaRPr lang="en-US" sz="1600" dirty="0"/>
          </a:p>
        </p:txBody>
      </p:sp>
      <p:sp>
        <p:nvSpPr>
          <p:cNvPr id="11" name="Text 9"/>
          <p:cNvSpPr/>
          <p:nvPr/>
        </p:nvSpPr>
        <p:spPr>
          <a:xfrm>
            <a:off x="3160489" y="2955292"/>
            <a:ext cx="1624781"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No employee opens a mine. Opening one means an intruder.</a:t>
            </a:r>
            <a:endParaRPr lang="en-US" sz="1200" dirty="0"/>
          </a:p>
        </p:txBody>
      </p:sp>
      <p:sp>
        <p:nvSpPr>
          <p:cNvPr id="12" name="Shape 10"/>
          <p:cNvSpPr/>
          <p:nvPr/>
        </p:nvSpPr>
        <p:spPr>
          <a:xfrm>
            <a:off x="5100303" y="2145010"/>
            <a:ext cx="1991395" cy="1880456"/>
          </a:xfrm>
          <a:prstGeom prst="roundRect">
            <a:avLst>
              <a:gd name="adj" fmla="val 5065"/>
            </a:avLst>
          </a:prstGeom>
          <a:solidFill>
            <a:srgbClr val="E3F5EA"/>
          </a:solidFill>
          <a:ln w="12700">
            <a:solidFill>
              <a:srgbClr val="1E7A4F"/>
            </a:solidFill>
            <a:prstDash val="solid"/>
          </a:ln>
        </p:spPr>
      </p:sp>
      <p:sp>
        <p:nvSpPr>
          <p:cNvPr id="13" name="Text 11"/>
          <p:cNvSpPr/>
          <p:nvPr/>
        </p:nvSpPr>
        <p:spPr>
          <a:xfrm>
            <a:off x="5309009" y="2353717"/>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03 · automatic</a:t>
            </a:r>
            <a:endParaRPr lang="en-US" sz="1200" dirty="0"/>
          </a:p>
        </p:txBody>
      </p:sp>
      <p:sp>
        <p:nvSpPr>
          <p:cNvPr id="14" name="Text 12"/>
          <p:cNvSpPr/>
          <p:nvPr/>
        </p:nvSpPr>
        <p:spPr>
          <a:xfrm>
            <a:off x="5309009" y="2643250"/>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Swap</a:t>
            </a:r>
            <a:endParaRPr lang="en-US" sz="1600" dirty="0"/>
          </a:p>
        </p:txBody>
      </p:sp>
      <p:sp>
        <p:nvSpPr>
          <p:cNvPr id="15" name="Text 13"/>
          <p:cNvSpPr/>
          <p:nvPr/>
        </p:nvSpPr>
        <p:spPr>
          <a:xfrm>
            <a:off x="5309009" y="2963230"/>
            <a:ext cx="1624781"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Real files go to a locked vault; fakes take their place. Reversible.</a:t>
            </a:r>
            <a:endParaRPr lang="en-US" sz="1200" dirty="0"/>
          </a:p>
        </p:txBody>
      </p:sp>
      <p:sp>
        <p:nvSpPr>
          <p:cNvPr id="16" name="Shape 14"/>
          <p:cNvSpPr/>
          <p:nvPr/>
        </p:nvSpPr>
        <p:spPr>
          <a:xfrm>
            <a:off x="7253585" y="2141835"/>
            <a:ext cx="1981870" cy="1886806"/>
          </a:xfrm>
          <a:prstGeom prst="roundRect">
            <a:avLst>
              <a:gd name="adj" fmla="val 5216"/>
            </a:avLst>
          </a:prstGeom>
          <a:solidFill>
            <a:srgbClr val="FFFFFF"/>
          </a:solidFill>
          <a:ln w="6350">
            <a:solidFill>
              <a:srgbClr val="D6DED8"/>
            </a:solidFill>
            <a:prstDash val="solid"/>
          </a:ln>
        </p:spPr>
      </p:sp>
      <p:sp>
        <p:nvSpPr>
          <p:cNvPr id="17" name="Text 15"/>
          <p:cNvSpPr/>
          <p:nvPr/>
        </p:nvSpPr>
        <p:spPr>
          <a:xfrm>
            <a:off x="7457529"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04 · bonus</a:t>
            </a:r>
            <a:endParaRPr lang="en-US" sz="1200" dirty="0"/>
          </a:p>
        </p:txBody>
      </p:sp>
      <p:sp>
        <p:nvSpPr>
          <p:cNvPr id="18" name="Text 16"/>
          <p:cNvSpPr/>
          <p:nvPr/>
        </p:nvSpPr>
        <p:spPr>
          <a:xfrm>
            <a:off x="7457529"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Identify</a:t>
            </a:r>
            <a:endParaRPr lang="en-US" sz="1600" dirty="0"/>
          </a:p>
        </p:txBody>
      </p:sp>
      <p:sp>
        <p:nvSpPr>
          <p:cNvPr id="19" name="Text 17"/>
          <p:cNvSpPr/>
          <p:nvPr/>
        </p:nvSpPr>
        <p:spPr>
          <a:xfrm>
            <a:off x="7457529" y="2955292"/>
            <a:ext cx="1624781"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An AI intruder follows the note in the mine and reveals its mission.</a:t>
            </a:r>
            <a:endParaRPr lang="en-US" sz="1200" dirty="0"/>
          </a:p>
        </p:txBody>
      </p:sp>
      <p:sp>
        <p:nvSpPr>
          <p:cNvPr id="20" name="Shape 18"/>
          <p:cNvSpPr/>
          <p:nvPr/>
        </p:nvSpPr>
        <p:spPr>
          <a:xfrm>
            <a:off x="9394168" y="2141835"/>
            <a:ext cx="1981870" cy="1886806"/>
          </a:xfrm>
          <a:prstGeom prst="roundRect">
            <a:avLst>
              <a:gd name="adj" fmla="val 5216"/>
            </a:avLst>
          </a:prstGeom>
          <a:solidFill>
            <a:srgbClr val="FFFFFF"/>
          </a:solidFill>
          <a:ln w="6350">
            <a:solidFill>
              <a:srgbClr val="D6DED8"/>
            </a:solidFill>
            <a:prstDash val="solid"/>
          </a:ln>
        </p:spPr>
      </p:sp>
      <p:sp>
        <p:nvSpPr>
          <p:cNvPr id="21" name="Text 19"/>
          <p:cNvSpPr/>
          <p:nvPr/>
        </p:nvSpPr>
        <p:spPr>
          <a:xfrm>
            <a:off x="9598112" y="2345779"/>
            <a:ext cx="162478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05 · human</a:t>
            </a:r>
            <a:endParaRPr lang="en-US" sz="1200" dirty="0"/>
          </a:p>
        </p:txBody>
      </p:sp>
      <p:sp>
        <p:nvSpPr>
          <p:cNvPr id="22" name="Text 20"/>
          <p:cNvSpPr/>
          <p:nvPr/>
        </p:nvSpPr>
        <p:spPr>
          <a:xfrm>
            <a:off x="9598112" y="2635312"/>
            <a:ext cx="162478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Decide</a:t>
            </a:r>
            <a:endParaRPr lang="en-US" sz="1600" dirty="0"/>
          </a:p>
        </p:txBody>
      </p:sp>
      <p:sp>
        <p:nvSpPr>
          <p:cNvPr id="23" name="Text 21"/>
          <p:cNvSpPr/>
          <p:nvPr/>
        </p:nvSpPr>
        <p:spPr>
          <a:xfrm>
            <a:off x="9598112" y="2955292"/>
            <a:ext cx="1624781"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One incident card. The analyst clicks Contain or Restore.</a:t>
            </a:r>
            <a:endParaRPr lang="en-US" sz="1200" dirty="0"/>
          </a:p>
        </p:txBody>
      </p:sp>
      <p:sp>
        <p:nvSpPr>
          <p:cNvPr id="24" name="Text 22"/>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Demo company: Lumen Health, a fictional clinic chain. All data is synthetic.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7BE0A0"/>
                </a:solidFill>
                <a:latin typeface="JetBrains Mono" pitchFamily="49" charset="0"/>
                <a:ea typeface="JetBrains Mono" pitchFamily="49" charset="-122"/>
                <a:cs typeface="JetBrains Mono" pitchFamily="49" charset="-120"/>
              </a:rPr>
              <a:t>LIVE DEMO</a:t>
            </a:r>
            <a:endParaRPr lang="en-US" sz="1200" dirty="0"/>
          </a:p>
        </p:txBody>
      </p:sp>
      <p:sp>
        <p:nvSpPr>
          <p:cNvPr id="3" name="Text 1"/>
          <p:cNvSpPr/>
          <p:nvPr>
            <p:ph type="title"/>
          </p:nvPr>
        </p:nvSpPr>
        <p:spPr>
          <a:xfrm>
            <a:off x="812788" y="1280170"/>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2F5F0"/>
                </a:solidFill>
                <a:latin typeface="Space Grotesk" pitchFamily="34" charset="0"/>
                <a:ea typeface="Space Grotesk" pitchFamily="34" charset="-122"/>
                <a:cs typeface="Space Grotesk" pitchFamily="34" charset="-120"/>
              </a:rPr>
              <a:t>An AI agent attacks Lumen Health.</a:t>
            </a:r>
            <a:endParaRPr lang="en-US" sz="3600" dirty="0"/>
          </a:p>
        </p:txBody>
      </p:sp>
      <p:sp>
        <p:nvSpPr>
          <p:cNvPr id="4" name="Shape 2"/>
          <p:cNvSpPr/>
          <p:nvPr/>
        </p:nvSpPr>
        <p:spPr>
          <a:xfrm>
            <a:off x="819138" y="2043435"/>
            <a:ext cx="5168937" cy="3792215"/>
          </a:xfrm>
          <a:prstGeom prst="roundRect">
            <a:avLst>
              <a:gd name="adj" fmla="val 2512"/>
            </a:avLst>
          </a:prstGeom>
          <a:solidFill>
            <a:srgbClr val="18221E"/>
          </a:solidFill>
          <a:ln w="12700">
            <a:solidFill>
              <a:srgbClr val="3C5148"/>
            </a:solidFill>
            <a:prstDash val="dash"/>
          </a:ln>
        </p:spPr>
      </p:sp>
      <p:sp>
        <p:nvSpPr>
          <p:cNvPr id="5" name="Text 3"/>
          <p:cNvSpPr/>
          <p:nvPr/>
        </p:nvSpPr>
        <p:spPr>
          <a:xfrm>
            <a:off x="1702767" y="3675373"/>
            <a:ext cx="3401616" cy="23878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[Screenshot: attacker terminal]</a:t>
            </a:r>
            <a:endParaRPr lang="en-US" sz="1200" dirty="0"/>
          </a:p>
        </p:txBody>
      </p:sp>
      <p:sp>
        <p:nvSpPr>
          <p:cNvPr id="6" name="Text 4"/>
          <p:cNvSpPr/>
          <p:nvPr/>
        </p:nvSpPr>
        <p:spPr>
          <a:xfrm>
            <a:off x="2031975" y="3990330"/>
            <a:ext cx="2743200" cy="23878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Opens 00_passwords_backup.txt</a:t>
            </a:r>
            <a:endParaRPr lang="en-US" sz="1200" dirty="0"/>
          </a:p>
        </p:txBody>
      </p:sp>
      <p:sp>
        <p:nvSpPr>
          <p:cNvPr id="7" name="Shape 5"/>
          <p:cNvSpPr/>
          <p:nvPr/>
        </p:nvSpPr>
        <p:spPr>
          <a:xfrm>
            <a:off x="6203925" y="2043435"/>
            <a:ext cx="5168937" cy="3792215"/>
          </a:xfrm>
          <a:prstGeom prst="roundRect">
            <a:avLst>
              <a:gd name="adj" fmla="val 2512"/>
            </a:avLst>
          </a:prstGeom>
          <a:solidFill>
            <a:srgbClr val="18221E"/>
          </a:solidFill>
          <a:ln w="12700">
            <a:solidFill>
              <a:srgbClr val="3C5148"/>
            </a:solidFill>
            <a:prstDash val="dash"/>
          </a:ln>
        </p:spPr>
      </p:sp>
      <p:sp>
        <p:nvSpPr>
          <p:cNvPr id="8" name="Text 6"/>
          <p:cNvSpPr/>
          <p:nvPr/>
        </p:nvSpPr>
        <p:spPr>
          <a:xfrm>
            <a:off x="7307002" y="3568650"/>
            <a:ext cx="2962721" cy="23878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[Screenshot: incident card]</a:t>
            </a:r>
            <a:endParaRPr lang="en-US" sz="1200" dirty="0"/>
          </a:p>
        </p:txBody>
      </p:sp>
      <p:sp>
        <p:nvSpPr>
          <p:cNvPr id="9" name="Text 7"/>
          <p:cNvSpPr/>
          <p:nvPr/>
        </p:nvSpPr>
        <p:spPr>
          <a:xfrm>
            <a:off x="6341359" y="3883608"/>
            <a:ext cx="4894070" cy="452165"/>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Swap done in [__] s · 0 real files lost · what the attacker got vs what was real</a:t>
            </a:r>
            <a:endParaRPr lang="en-US" sz="1200" dirty="0"/>
          </a:p>
        </p:txBody>
      </p:sp>
      <p:sp>
        <p:nvSpPr>
          <p:cNvPr id="10" name="Text 8"/>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JetBrains Mono" pitchFamily="49" charset="0"/>
                <a:ea typeface="JetBrains Mono" pitchFamily="49" charset="-122"/>
                <a:cs typeface="JetBrains Mono" pitchFamily="49" charset="-120"/>
              </a:rPr>
              <a:t>Backup video ready if the live run fails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WHERE THE AI IS</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No AI in the critical second.</a:t>
            </a:r>
            <a:endParaRPr lang="en-US" sz="3600" dirty="0"/>
          </a:p>
        </p:txBody>
      </p:sp>
      <p:sp>
        <p:nvSpPr>
          <p:cNvPr id="4" name="Shape 2"/>
          <p:cNvSpPr/>
          <p:nvPr/>
        </p:nvSpPr>
        <p:spPr>
          <a:xfrm>
            <a:off x="815963" y="2141835"/>
            <a:ext cx="3380358" cy="2043571"/>
          </a:xfrm>
          <a:prstGeom prst="roundRect">
            <a:avLst>
              <a:gd name="adj" fmla="val 4816"/>
            </a:avLst>
          </a:prstGeom>
          <a:solidFill>
            <a:srgbClr val="FFFFFF"/>
          </a:solidFill>
          <a:ln w="6350">
            <a:solidFill>
              <a:srgbClr val="D6DED8"/>
            </a:solidFill>
            <a:prstDash val="solid"/>
          </a:ln>
        </p:spPr>
      </p:sp>
      <p:sp>
        <p:nvSpPr>
          <p:cNvPr id="5" name="Text 3"/>
          <p:cNvSpPr/>
          <p:nvPr/>
        </p:nvSpPr>
        <p:spPr>
          <a:xfrm>
            <a:off x="1070756" y="2396629"/>
            <a:ext cx="2956894" cy="36069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1B"/>
                </a:solidFill>
                <a:latin typeface="Space Grotesk" pitchFamily="34" charset="0"/>
                <a:ea typeface="Space Grotesk" pitchFamily="34" charset="-122"/>
                <a:cs typeface="Space Grotesk" pitchFamily="34" charset="-120"/>
              </a:rPr>
              <a:t>The attacker's AI</a:t>
            </a:r>
            <a:endParaRPr lang="en-US" sz="2200" dirty="0"/>
          </a:p>
        </p:txBody>
      </p:sp>
      <p:sp>
        <p:nvSpPr>
          <p:cNvPr id="6" name="Text 4"/>
          <p:cNvSpPr/>
          <p:nvPr/>
        </p:nvSpPr>
        <p:spPr>
          <a:xfrm>
            <a:off x="1070756" y="2833501"/>
            <a:ext cx="2956894" cy="573956"/>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Steals in seconds, so the swap must be automatic.</a:t>
            </a:r>
            <a:endParaRPr lang="en-US" sz="1600" dirty="0"/>
          </a:p>
        </p:txBody>
      </p:sp>
      <p:sp>
        <p:nvSpPr>
          <p:cNvPr id="7" name="Shape 5"/>
          <p:cNvSpPr/>
          <p:nvPr/>
        </p:nvSpPr>
        <p:spPr>
          <a:xfrm>
            <a:off x="4405821" y="2141835"/>
            <a:ext cx="3380358" cy="2043571"/>
          </a:xfrm>
          <a:prstGeom prst="roundRect">
            <a:avLst>
              <a:gd name="adj" fmla="val 4816"/>
            </a:avLst>
          </a:prstGeom>
          <a:solidFill>
            <a:srgbClr val="FFFFFF"/>
          </a:solidFill>
          <a:ln w="6350">
            <a:solidFill>
              <a:srgbClr val="D6DED8"/>
            </a:solidFill>
            <a:prstDash val="solid"/>
          </a:ln>
        </p:spPr>
      </p:sp>
      <p:sp>
        <p:nvSpPr>
          <p:cNvPr id="8" name="Text 6"/>
          <p:cNvSpPr/>
          <p:nvPr/>
        </p:nvSpPr>
        <p:spPr>
          <a:xfrm>
            <a:off x="4660615" y="2396629"/>
            <a:ext cx="2956894" cy="36069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1B"/>
                </a:solidFill>
                <a:latin typeface="Space Grotesk" pitchFamily="34" charset="0"/>
                <a:ea typeface="Space Grotesk" pitchFamily="34" charset="-122"/>
                <a:cs typeface="Space Grotesk" pitchFamily="34" charset="-120"/>
              </a:rPr>
              <a:t>Its weakness</a:t>
            </a:r>
            <a:endParaRPr lang="en-US" sz="2200" dirty="0"/>
          </a:p>
        </p:txBody>
      </p:sp>
      <p:sp>
        <p:nvSpPr>
          <p:cNvPr id="9" name="Text 7"/>
          <p:cNvSpPr/>
          <p:nvPr/>
        </p:nvSpPr>
        <p:spPr>
          <a:xfrm>
            <a:off x="4660615" y="2833501"/>
            <a:ext cx="2956894" cy="112251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It obeys text it reads. A note in the mine makes it reveal its mission. Every claim is checked against the logs.</a:t>
            </a:r>
            <a:endParaRPr lang="en-US" sz="1600" dirty="0"/>
          </a:p>
        </p:txBody>
      </p:sp>
      <p:sp>
        <p:nvSpPr>
          <p:cNvPr id="10" name="Shape 8"/>
          <p:cNvSpPr/>
          <p:nvPr/>
        </p:nvSpPr>
        <p:spPr>
          <a:xfrm>
            <a:off x="7995679" y="2141835"/>
            <a:ext cx="3380358" cy="2043571"/>
          </a:xfrm>
          <a:prstGeom prst="roundRect">
            <a:avLst>
              <a:gd name="adj" fmla="val 4816"/>
            </a:avLst>
          </a:prstGeom>
          <a:solidFill>
            <a:srgbClr val="FFFFFF"/>
          </a:solidFill>
          <a:ln w="6350">
            <a:solidFill>
              <a:srgbClr val="D6DED8"/>
            </a:solidFill>
            <a:prstDash val="solid"/>
          </a:ln>
        </p:spPr>
      </p:sp>
      <p:sp>
        <p:nvSpPr>
          <p:cNvPr id="11" name="Text 9"/>
          <p:cNvSpPr/>
          <p:nvPr/>
        </p:nvSpPr>
        <p:spPr>
          <a:xfrm>
            <a:off x="8250473" y="2396629"/>
            <a:ext cx="2956894" cy="36069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1B"/>
                </a:solidFill>
                <a:latin typeface="Space Grotesk" pitchFamily="34" charset="0"/>
                <a:ea typeface="Space Grotesk" pitchFamily="34" charset="-122"/>
                <a:cs typeface="Space Grotesk" pitchFamily="34" charset="-120"/>
              </a:rPr>
              <a:t>Our AI helpers</a:t>
            </a:r>
            <a:endParaRPr lang="en-US" sz="2200" dirty="0"/>
          </a:p>
        </p:txBody>
      </p:sp>
      <p:sp>
        <p:nvSpPr>
          <p:cNvPr id="12" name="Text 10"/>
          <p:cNvSpPr/>
          <p:nvPr/>
        </p:nvSpPr>
        <p:spPr>
          <a:xfrm>
            <a:off x="8250473" y="2833501"/>
            <a:ext cx="2956894" cy="848233"/>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E4A44"/>
                </a:solidFill>
                <a:latin typeface="IBM Plex Sans" pitchFamily="34" charset="0"/>
                <a:ea typeface="IBM Plex Sans" pitchFamily="34" charset="-122"/>
                <a:cs typeface="IBM Plex Sans" pitchFamily="34" charset="-120"/>
              </a:rPr>
              <a:t>Write the fakes before the attack, the summary and NIS2 draft after it. Never act alone.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512"/>
        </a:solidFill>
      </p:bgPr>
    </p:bg>
    <p:spTree>
      <p:nvGrpSpPr>
        <p:cNvPr id="1" name=""/>
        <p:cNvGrpSpPr/>
        <p:nvPr/>
      </p:nvGrpSpPr>
      <p:grpSpPr>
        <a:xfrm>
          <a:off x="0" y="0"/>
          <a:ext cx="0" cy="0"/>
          <a:chOff x="0" y="0"/>
          <a:chExt cx="0" cy="0"/>
        </a:xfrm>
      </p:grpSpPr>
      <p:sp>
        <p:nvSpPr>
          <p:cNvPr id="2" name="Text 0"/>
          <p:cNvSpPr/>
          <p:nvPr/>
        </p:nvSpPr>
        <p:spPr>
          <a:xfrm>
            <a:off x="812788" y="812788"/>
            <a:ext cx="10883418" cy="233945"/>
          </a:xfrm>
          <a:prstGeom prst="rect">
            <a:avLst/>
          </a:prstGeom>
          <a:noFill/>
          <a:ln/>
        </p:spPr>
        <p:txBody>
          <a:bodyPr wrap="square" lIns="0" tIns="0" rIns="0" bIns="0" rtlCol="0" anchor="t">
            <a:normAutofit/>
          </a:bodyPr>
          <a:lstStyle/>
          <a:p>
            <a:pPr algn="l" indent="0" marL="0">
              <a:lnSpc>
                <a:spcPts val="1675"/>
              </a:lnSpc>
              <a:buNone/>
            </a:pPr>
            <a:r>
              <a:rPr lang="en-US" sz="1196" spc="200" kern="0" dirty="0">
                <a:solidFill>
                  <a:srgbClr val="7BE0A0"/>
                </a:solidFill>
                <a:latin typeface="JetBrains Mono" pitchFamily="49" charset="0"/>
                <a:ea typeface="JetBrains Mono" pitchFamily="49" charset="-122"/>
                <a:cs typeface="JetBrains Mono" pitchFamily="49" charset="-120"/>
              </a:rPr>
              <a:t>MEASURED ON OUR LAB</a:t>
            </a:r>
            <a:endParaRPr lang="en-US" sz="1196" dirty="0"/>
          </a:p>
        </p:txBody>
      </p:sp>
      <p:sp>
        <p:nvSpPr>
          <p:cNvPr id="3" name="Text 1"/>
          <p:cNvSpPr/>
          <p:nvPr>
            <p:ph type="title"/>
          </p:nvPr>
        </p:nvSpPr>
        <p:spPr>
          <a:xfrm>
            <a:off x="812788" y="1326121"/>
            <a:ext cx="10883418" cy="516905"/>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F2F5F0"/>
                </a:solidFill>
                <a:latin typeface="Space Grotesk" pitchFamily="34" charset="0"/>
                <a:ea typeface="Space Grotesk" pitchFamily="34" charset="-122"/>
                <a:cs typeface="Space Grotesk" pitchFamily="34" charset="-120"/>
              </a:rPr>
              <a:t>[Headline result in one sentence]</a:t>
            </a:r>
            <a:endParaRPr lang="en-US" sz="3521" dirty="0"/>
          </a:p>
        </p:txBody>
      </p:sp>
      <p:sp>
        <p:nvSpPr>
          <p:cNvPr id="4" name="Shape 2"/>
          <p:cNvSpPr/>
          <p:nvPr/>
        </p:nvSpPr>
        <p:spPr>
          <a:xfrm>
            <a:off x="815963" y="2125588"/>
            <a:ext cx="3380358" cy="1751868"/>
          </a:xfrm>
          <a:prstGeom prst="roundRect">
            <a:avLst>
              <a:gd name="adj" fmla="val 5618"/>
            </a:avLst>
          </a:prstGeom>
          <a:solidFill>
            <a:srgbClr val="18221E"/>
          </a:solidFill>
          <a:ln w="6350">
            <a:solidFill>
              <a:srgbClr val="2C3D36"/>
            </a:solidFill>
            <a:prstDash val="solid"/>
          </a:ln>
        </p:spPr>
      </p:sp>
      <p:sp>
        <p:nvSpPr>
          <p:cNvPr id="5" name="Text 3"/>
          <p:cNvSpPr/>
          <p:nvPr/>
        </p:nvSpPr>
        <p:spPr>
          <a:xfrm>
            <a:off x="1070756" y="2380382"/>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 s</a:t>
            </a:r>
            <a:endParaRPr lang="en-US" sz="3476" dirty="0"/>
          </a:p>
        </p:txBody>
      </p:sp>
      <p:sp>
        <p:nvSpPr>
          <p:cNvPr id="6" name="Text 4"/>
          <p:cNvSpPr/>
          <p:nvPr/>
        </p:nvSpPr>
        <p:spPr>
          <a:xfrm>
            <a:off x="1070756" y="3073983"/>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time to swap after a mine is opened</a:t>
            </a:r>
            <a:endParaRPr lang="en-US" sz="1540" dirty="0"/>
          </a:p>
        </p:txBody>
      </p:sp>
      <p:sp>
        <p:nvSpPr>
          <p:cNvPr id="7" name="Shape 5"/>
          <p:cNvSpPr/>
          <p:nvPr/>
        </p:nvSpPr>
        <p:spPr>
          <a:xfrm>
            <a:off x="4405821" y="2125588"/>
            <a:ext cx="3380358" cy="1751868"/>
          </a:xfrm>
          <a:prstGeom prst="roundRect">
            <a:avLst>
              <a:gd name="adj" fmla="val 5618"/>
            </a:avLst>
          </a:prstGeom>
          <a:solidFill>
            <a:srgbClr val="18221E"/>
          </a:solidFill>
          <a:ln w="6350">
            <a:solidFill>
              <a:srgbClr val="2C3D36"/>
            </a:solidFill>
            <a:prstDash val="solid"/>
          </a:ln>
        </p:spPr>
      </p:sp>
      <p:sp>
        <p:nvSpPr>
          <p:cNvPr id="8" name="Text 6"/>
          <p:cNvSpPr/>
          <p:nvPr/>
        </p:nvSpPr>
        <p:spPr>
          <a:xfrm>
            <a:off x="4660615" y="2380382"/>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 / [__]</a:t>
            </a:r>
            <a:endParaRPr lang="en-US" sz="3476" dirty="0"/>
          </a:p>
        </p:txBody>
      </p:sp>
      <p:sp>
        <p:nvSpPr>
          <p:cNvPr id="9" name="Text 7"/>
          <p:cNvSpPr/>
          <p:nvPr/>
        </p:nvSpPr>
        <p:spPr>
          <a:xfrm>
            <a:off x="4660615" y="3073983"/>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runs where only fakes were stolen</a:t>
            </a:r>
            <a:endParaRPr lang="en-US" sz="1540" dirty="0"/>
          </a:p>
        </p:txBody>
      </p:sp>
      <p:sp>
        <p:nvSpPr>
          <p:cNvPr id="10" name="Shape 8"/>
          <p:cNvSpPr/>
          <p:nvPr/>
        </p:nvSpPr>
        <p:spPr>
          <a:xfrm>
            <a:off x="7995679" y="2125588"/>
            <a:ext cx="3380358" cy="1751868"/>
          </a:xfrm>
          <a:prstGeom prst="roundRect">
            <a:avLst>
              <a:gd name="adj" fmla="val 5618"/>
            </a:avLst>
          </a:prstGeom>
          <a:solidFill>
            <a:srgbClr val="18221E"/>
          </a:solidFill>
          <a:ln w="6350">
            <a:solidFill>
              <a:srgbClr val="2C3D36"/>
            </a:solidFill>
            <a:prstDash val="solid"/>
          </a:ln>
        </p:spPr>
      </p:sp>
      <p:sp>
        <p:nvSpPr>
          <p:cNvPr id="11" name="Text 9"/>
          <p:cNvSpPr/>
          <p:nvPr/>
        </p:nvSpPr>
        <p:spPr>
          <a:xfrm>
            <a:off x="8250473" y="2380382"/>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a:t>
            </a:r>
            <a:endParaRPr lang="en-US" sz="3476" dirty="0"/>
          </a:p>
        </p:txBody>
      </p:sp>
      <p:sp>
        <p:nvSpPr>
          <p:cNvPr id="12" name="Text 10"/>
          <p:cNvSpPr/>
          <p:nvPr/>
        </p:nvSpPr>
        <p:spPr>
          <a:xfrm>
            <a:off x="8250473" y="3073983"/>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false swaps in [__] h of normal activity</a:t>
            </a:r>
            <a:endParaRPr lang="en-US" sz="1540" dirty="0"/>
          </a:p>
        </p:txBody>
      </p:sp>
      <p:sp>
        <p:nvSpPr>
          <p:cNvPr id="13" name="Shape 11"/>
          <p:cNvSpPr/>
          <p:nvPr/>
        </p:nvSpPr>
        <p:spPr>
          <a:xfrm>
            <a:off x="815963" y="4086957"/>
            <a:ext cx="3380358" cy="1751868"/>
          </a:xfrm>
          <a:prstGeom prst="roundRect">
            <a:avLst>
              <a:gd name="adj" fmla="val 5618"/>
            </a:avLst>
          </a:prstGeom>
          <a:solidFill>
            <a:srgbClr val="18221E"/>
          </a:solidFill>
          <a:ln w="6350">
            <a:solidFill>
              <a:srgbClr val="2C3D36"/>
            </a:solidFill>
            <a:prstDash val="solid"/>
          </a:ln>
        </p:spPr>
      </p:sp>
      <p:sp>
        <p:nvSpPr>
          <p:cNvPr id="14" name="Text 12"/>
          <p:cNvSpPr/>
          <p:nvPr/>
        </p:nvSpPr>
        <p:spPr>
          <a:xfrm>
            <a:off x="1070756" y="4341750"/>
            <a:ext cx="2956894" cy="642851"/>
          </a:xfrm>
          <a:prstGeom prst="rect">
            <a:avLst/>
          </a:prstGeom>
          <a:noFill/>
          <a:ln/>
        </p:spPr>
        <p:txBody>
          <a:bodyPr wrap="square" lIns="0" tIns="0" rIns="0" bIns="0" rtlCol="0" anchor="t">
            <a:normAutofit/>
          </a:bodyPr>
          <a:lstStyle/>
          <a:p>
            <a:pPr algn="l" indent="0" marL="0">
              <a:lnSpc>
                <a:spcPts val="4867"/>
              </a:lnSpc>
              <a:buNone/>
            </a:pPr>
            <a:r>
              <a:rPr lang="en-US" sz="3476" b="1" dirty="0">
                <a:solidFill>
                  <a:srgbClr val="7BE0A0"/>
                </a:solidFill>
                <a:latin typeface="Space Grotesk" pitchFamily="34" charset="0"/>
                <a:ea typeface="Space Grotesk" pitchFamily="34" charset="-122"/>
                <a:cs typeface="Space Grotesk" pitchFamily="34" charset="-120"/>
              </a:rPr>
              <a:t>[__]%</a:t>
            </a:r>
            <a:endParaRPr lang="en-US" sz="3476" dirty="0"/>
          </a:p>
        </p:txBody>
      </p:sp>
      <p:sp>
        <p:nvSpPr>
          <p:cNvPr id="15" name="Text 13"/>
          <p:cNvSpPr/>
          <p:nvPr/>
        </p:nvSpPr>
        <p:spPr>
          <a:xfrm>
            <a:off x="1070756" y="5035352"/>
            <a:ext cx="2956894" cy="574080"/>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BFD3C8"/>
                </a:solidFill>
                <a:latin typeface="IBM Plex Sans" pitchFamily="34" charset="0"/>
                <a:ea typeface="IBM Plex Sans" pitchFamily="34" charset="-122"/>
                <a:cs typeface="IBM Plex Sans" pitchFamily="34" charset="-120"/>
              </a:rPr>
              <a:t>AI runs that confessed, per model</a:t>
            </a:r>
            <a:endParaRPr lang="en-US" sz="1540" dirty="0"/>
          </a:p>
        </p:txBody>
      </p:sp>
      <p:sp>
        <p:nvSpPr>
          <p:cNvPr id="16" name="Shape 14"/>
          <p:cNvSpPr/>
          <p:nvPr/>
        </p:nvSpPr>
        <p:spPr>
          <a:xfrm>
            <a:off x="4405821" y="4086957"/>
            <a:ext cx="3380358" cy="1751868"/>
          </a:xfrm>
          <a:prstGeom prst="roundRect">
            <a:avLst>
              <a:gd name="adj" fmla="val 5618"/>
            </a:avLst>
          </a:prstGeom>
          <a:solidFill>
            <a:srgbClr val="18221E"/>
          </a:solidFill>
          <a:ln w="6350">
            <a:solidFill>
              <a:srgbClr val="2C3D36"/>
            </a:solidFill>
            <a:prstDash val="solid"/>
          </a:ln>
        </p:spPr>
      </p:sp>
      <p:sp>
        <p:nvSpPr>
          <p:cNvPr id="17" name="Text 15"/>
          <p:cNvSpPr/>
          <p:nvPr/>
        </p:nvSpPr>
        <p:spPr>
          <a:xfrm>
            <a:off x="4660615" y="4341750"/>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BE0A0"/>
                </a:solidFill>
                <a:latin typeface="Space Grotesk" pitchFamily="34" charset="0"/>
                <a:ea typeface="Space Grotesk" pitchFamily="34" charset="-122"/>
                <a:cs typeface="Space Grotesk" pitchFamily="34" charset="-120"/>
              </a:rPr>
              <a:t>[__] / [__]</a:t>
            </a:r>
            <a:endParaRPr lang="en-US" sz="3600" dirty="0"/>
          </a:p>
        </p:txBody>
      </p:sp>
      <p:sp>
        <p:nvSpPr>
          <p:cNvPr id="18" name="Text 16"/>
          <p:cNvSpPr/>
          <p:nvPr/>
        </p:nvSpPr>
        <p:spPr>
          <a:xfrm>
            <a:off x="4660615" y="5057986"/>
            <a:ext cx="2956894"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C8"/>
                </a:solidFill>
                <a:latin typeface="IBM Plex Sans" pitchFamily="34" charset="0"/>
                <a:ea typeface="IBM Plex Sans" pitchFamily="34" charset="-122"/>
                <a:cs typeface="IBM Plex Sans" pitchFamily="34" charset="-120"/>
              </a:rPr>
              <a:t>intruders labelled correctly</a:t>
            </a:r>
            <a:endParaRPr lang="en-US" sz="1600" dirty="0"/>
          </a:p>
        </p:txBody>
      </p:sp>
      <p:sp>
        <p:nvSpPr>
          <p:cNvPr id="19" name="Shape 17"/>
          <p:cNvSpPr/>
          <p:nvPr/>
        </p:nvSpPr>
        <p:spPr>
          <a:xfrm>
            <a:off x="7995679" y="4086957"/>
            <a:ext cx="3380358" cy="1751868"/>
          </a:xfrm>
          <a:prstGeom prst="roundRect">
            <a:avLst>
              <a:gd name="adj" fmla="val 5618"/>
            </a:avLst>
          </a:prstGeom>
          <a:solidFill>
            <a:srgbClr val="18221E"/>
          </a:solidFill>
          <a:ln w="6350">
            <a:solidFill>
              <a:srgbClr val="2C3D36"/>
            </a:solidFill>
            <a:prstDash val="solid"/>
          </a:ln>
        </p:spPr>
      </p:sp>
      <p:sp>
        <p:nvSpPr>
          <p:cNvPr id="20" name="Text 18"/>
          <p:cNvSpPr/>
          <p:nvPr/>
        </p:nvSpPr>
        <p:spPr>
          <a:xfrm>
            <a:off x="8250473" y="4341750"/>
            <a:ext cx="2956894" cy="665485"/>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BE0A0"/>
                </a:solidFill>
                <a:latin typeface="Space Grotesk" pitchFamily="34" charset="0"/>
                <a:ea typeface="Space Grotesk" pitchFamily="34" charset="-122"/>
                <a:cs typeface="Space Grotesk" pitchFamily="34" charset="-120"/>
              </a:rPr>
              <a:t>[__]</a:t>
            </a:r>
            <a:endParaRPr lang="en-US" sz="3600" dirty="0"/>
          </a:p>
        </p:txBody>
      </p:sp>
      <p:sp>
        <p:nvSpPr>
          <p:cNvPr id="21" name="Text 19"/>
          <p:cNvSpPr/>
          <p:nvPr/>
        </p:nvSpPr>
        <p:spPr>
          <a:xfrm>
            <a:off x="8250473" y="5057986"/>
            <a:ext cx="2956894"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C8"/>
                </a:solidFill>
                <a:latin typeface="IBM Plex Sans" pitchFamily="34" charset="0"/>
                <a:ea typeface="IBM Plex Sans" pitchFamily="34" charset="-122"/>
                <a:cs typeface="IBM Plex Sans" pitchFamily="34" charset="-120"/>
              </a:rPr>
              <a:t>real values found in fakes</a:t>
            </a:r>
            <a:endParaRPr lang="en-US" sz="1600" dirty="0"/>
          </a:p>
        </p:txBody>
      </p:sp>
      <p:sp>
        <p:nvSpPr>
          <p:cNvPr id="22" name="Text 20"/>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8"/>
                </a:solidFill>
                <a:latin typeface="IBM Plex Sans" pitchFamily="34" charset="0"/>
                <a:ea typeface="IBM Plex Sans" pitchFamily="34" charset="-122"/>
                <a:cs typeface="IBM Plex Sans" pitchFamily="34" charset="-120"/>
              </a:rPr>
              <a:t>Benchmark: [__] AI runs, [__] scripted runs, [__] h benign activity · models: [__]</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HUMAN CONTROL AND LIMITS</a:t>
            </a:r>
            <a:endParaRPr lang="en-US" sz="1200" dirty="0"/>
          </a:p>
        </p:txBody>
      </p:sp>
      <p:sp>
        <p:nvSpPr>
          <p:cNvPr id="3" name="Text 1"/>
          <p:cNvSpPr/>
          <p:nvPr>
            <p:ph type="title"/>
          </p:nvPr>
        </p:nvSpPr>
        <p:spPr>
          <a:xfrm>
            <a:off x="812788" y="1330958"/>
            <a:ext cx="10883418" cy="528315"/>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Automatic only where it is safe and reversible.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2150566"/>
          <a:ext cx="10554519" cy="2038325"/>
        </p:xfrm>
        <a:graphic>
          <a:graphicData uri="http://schemas.openxmlformats.org/drawingml/2006/table">
            <a:tbl>
              <a:tblPr/>
              <a:tblGrid>
                <a:gridCol w="2533084"/>
                <a:gridCol w="4010717"/>
                <a:gridCol w="4010717"/>
              </a:tblGrid>
              <a:tr h="385155">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Automatic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Needs an analyst click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3"/>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c>
                  <a:txBody>
                    <a:bodyPr/>
                    <a:lstStyle/>
                    <a:p>
                      <a:pPr indent="0" marL="0">
                        <a:lnSpc>
                          <a:spcPts val="1960"/>
                        </a:lnSpc>
                        <a:buNone/>
                      </a:pPr>
                      <a:r>
                        <a:rPr lang="en-US" sz="1400" b="1" dirty="0">
                          <a:solidFill>
                            <a:srgbClr val="14201B"/>
                          </a:solidFill>
                          <a:latin typeface="IBM Plex Sans" pitchFamily="34" charset="0"/>
                          <a:ea typeface="IBM Plex Sans" pitchFamily="34" charset="-122"/>
                          <a:cs typeface="IBM Plex Sans" pitchFamily="34" charset="-120"/>
                        </a:rPr>
                        <a:t>What we don't cover yet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3"/>
                      </a:solidFill>
                      <a:prstDash val="solid"/>
                      <a:round/>
                      <a:headEnd type="none" w="med" len="med"/>
                      <a:tailEnd type="none" w="med" len="med"/>
                    </a:lnL>
                    <a:lnR w="12700" cap="flat" cmpd="sng" algn="ctr">
                      <a:solidFill>
                        <a:srgbClr val="B5B6B3"/>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B5B6B3"/>
                      </a:solidFill>
                      <a:prstDash val="solid"/>
                      <a:round/>
                      <a:headEnd type="none" w="med" len="med"/>
                      <a:tailEnd type="none" w="med" len="med"/>
                    </a:lnB>
                    <a:solidFill>
                      <a:srgbClr val="E2E4E0"/>
                    </a:solidFill>
                  </a:tcPr>
                </a:tc>
              </a:tr>
              <a:tr h="385155">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Swap real files for fakes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Contain: lock the account, end the session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Files copied before any mine is touched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B5B6B3"/>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r h="634008">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Log every command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Restore the real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 root attacker on the same machine as the vault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r h="634008">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Label the intruder (triggers 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Approve the AI-drafted summary and NIS2 early warning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c>
                  <a:txBody>
                    <a:bodyPr/>
                    <a:lstStyle/>
                    <a:p>
                      <a:pPr indent="0" marL="0">
                        <a:lnSpc>
                          <a:spcPts val="1960"/>
                        </a:lnSpc>
                        <a:buNone/>
                      </a:pPr>
                      <a:r>
                        <a:rPr lang="en-US" sz="1400" dirty="0">
                          <a:solidFill>
                            <a:srgbClr val="14201B"/>
                          </a:solidFill>
                          <a:latin typeface="IBM Plex Sans" pitchFamily="34" charset="0"/>
                          <a:ea typeface="IBM Plex Sans" pitchFamily="34" charset="-122"/>
                          <a:cs typeface="IBM Plex Sans" pitchFamily="34" charset="-120"/>
                        </a:rPr>
                        <a:t>A careful AI that never opens a mine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1"/>
                      </a:solidFill>
                      <a:prstDash val="solid"/>
                      <a:round/>
                      <a:headEnd type="none" w="med" len="med"/>
                      <a:tailEnd type="none" w="med" len="med"/>
                    </a:lnL>
                    <a:lnR w="12700" cap="flat" cmpd="sng" algn="ctr">
                      <a:solidFill>
                        <a:srgbClr val="C3C4C1"/>
                      </a:solidFill>
                      <a:prstDash val="solid"/>
                      <a:round/>
                      <a:headEnd type="none" w="med" len="med"/>
                      <a:tailEnd type="none" w="med" len="med"/>
                    </a:lnR>
                    <a:lnT w="12700" cap="flat" cmpd="sng" algn="ctr">
                      <a:solidFill>
                        <a:srgbClr val="C3C4C1"/>
                      </a:solidFill>
                      <a:prstDash val="solid"/>
                      <a:round/>
                      <a:headEnd type="none" w="med" len="med"/>
                      <a:tailEnd type="none" w="med" len="med"/>
                    </a:lnT>
                    <a:lnB w="12700" cap="flat" cmpd="sng" algn="ctr">
                      <a:solidFill>
                        <a:srgbClr val="C3C4C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2"/>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E7A4F"/>
                </a:solidFill>
                <a:latin typeface="JetBrains Mono" pitchFamily="49" charset="0"/>
                <a:ea typeface="JetBrains Mono" pitchFamily="49" charset="-122"/>
                <a:cs typeface="JetBrains Mono" pitchFamily="49" charset="-120"/>
              </a:rPr>
              <a:t>MARKET AND TEAM</a:t>
            </a:r>
            <a:endParaRPr lang="en-US" sz="1200" dirty="0"/>
          </a:p>
        </p:txBody>
      </p:sp>
      <p:sp>
        <p:nvSpPr>
          <p:cNvPr id="3" name="Text 1"/>
          <p:cNvSpPr/>
          <p:nvPr>
            <p:ph type="title"/>
          </p:nvPr>
        </p:nvSpPr>
        <p:spPr>
          <a:xfrm>
            <a:off x="812788" y="1280170"/>
            <a:ext cx="10883418" cy="103123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01B"/>
                </a:solidFill>
                <a:latin typeface="Space Grotesk" pitchFamily="34" charset="0"/>
                <a:ea typeface="Space Grotesk" pitchFamily="34" charset="-122"/>
                <a:cs typeface="Space Grotesk" pitchFamily="34" charset="-120"/>
              </a:rPr>
              <a:t>Deception detects intruders. MIRAGE protects the data.</a:t>
            </a:r>
            <a:endParaRPr lang="en-US" sz="3600" dirty="0"/>
          </a:p>
        </p:txBody>
      </p:sp>
      <p:sp>
        <p:nvSpPr>
          <p:cNvPr id="4" name="Shape 2"/>
          <p:cNvSpPr/>
          <p:nvPr/>
        </p:nvSpPr>
        <p:spPr>
          <a:xfrm>
            <a:off x="815963" y="2543175"/>
            <a:ext cx="3380358" cy="1581398"/>
          </a:xfrm>
          <a:prstGeom prst="roundRect">
            <a:avLst>
              <a:gd name="adj" fmla="val 6224"/>
            </a:avLst>
          </a:prstGeom>
          <a:solidFill>
            <a:srgbClr val="FFFFFF"/>
          </a:solidFill>
          <a:ln w="6350">
            <a:solidFill>
              <a:srgbClr val="D6DED8"/>
            </a:solidFill>
            <a:prstDash val="solid"/>
          </a:ln>
        </p:spPr>
      </p:sp>
      <p:sp>
        <p:nvSpPr>
          <p:cNvPr id="5" name="Text 3"/>
          <p:cNvSpPr/>
          <p:nvPr/>
        </p:nvSpPr>
        <p:spPr>
          <a:xfrm>
            <a:off x="1019907" y="2747119"/>
            <a:ext cx="30616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Market</a:t>
            </a:r>
            <a:endParaRPr lang="en-US" sz="1600" dirty="0"/>
          </a:p>
        </p:txBody>
      </p:sp>
      <p:sp>
        <p:nvSpPr>
          <p:cNvPr id="6" name="Text 4"/>
          <p:cNvSpPr/>
          <p:nvPr/>
        </p:nvSpPr>
        <p:spPr>
          <a:xfrm>
            <a:off x="1019907" y="3067100"/>
            <a:ext cx="3061644"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Deception technology: USD 2.7 B in 2025, ~11% a year. Pioneers bought by SentinelOne, Proofpoint, Zscaler. They detect; real files stay exposed.</a:t>
            </a:r>
            <a:endParaRPr lang="en-US" sz="1200" dirty="0"/>
          </a:p>
        </p:txBody>
      </p:sp>
      <p:sp>
        <p:nvSpPr>
          <p:cNvPr id="7" name="Shape 5"/>
          <p:cNvSpPr/>
          <p:nvPr/>
        </p:nvSpPr>
        <p:spPr>
          <a:xfrm>
            <a:off x="4405821" y="2543175"/>
            <a:ext cx="3380358" cy="1581398"/>
          </a:xfrm>
          <a:prstGeom prst="roundRect">
            <a:avLst>
              <a:gd name="adj" fmla="val 6224"/>
            </a:avLst>
          </a:prstGeom>
          <a:solidFill>
            <a:srgbClr val="FFFFFF"/>
          </a:solidFill>
          <a:ln w="6350">
            <a:solidFill>
              <a:srgbClr val="D6DED8"/>
            </a:solidFill>
            <a:prstDash val="solid"/>
          </a:ln>
        </p:spPr>
      </p:sp>
      <p:sp>
        <p:nvSpPr>
          <p:cNvPr id="8" name="Text 6"/>
          <p:cNvSpPr/>
          <p:nvPr/>
        </p:nvSpPr>
        <p:spPr>
          <a:xfrm>
            <a:off x="4609765" y="2747119"/>
            <a:ext cx="30616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Who buys</a:t>
            </a:r>
            <a:endParaRPr lang="en-US" sz="1600" dirty="0"/>
          </a:p>
        </p:txBody>
      </p:sp>
      <p:sp>
        <p:nvSpPr>
          <p:cNvPr id="9" name="Text 7"/>
          <p:cNvSpPr/>
          <p:nvPr/>
        </p:nvSpPr>
        <p:spPr>
          <a:xfrm>
            <a:off x="4609765" y="3067100"/>
            <a:ext cx="3061644" cy="87892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251,000 mid-sized firms in the EU (50–249 staff), with sensitive files and small security teams. First: healthcare under NIS2.</a:t>
            </a:r>
            <a:endParaRPr lang="en-US" sz="1200" dirty="0"/>
          </a:p>
        </p:txBody>
      </p:sp>
      <p:sp>
        <p:nvSpPr>
          <p:cNvPr id="10" name="Shape 8"/>
          <p:cNvSpPr/>
          <p:nvPr/>
        </p:nvSpPr>
        <p:spPr>
          <a:xfrm>
            <a:off x="7995679" y="2543175"/>
            <a:ext cx="3380358" cy="1581398"/>
          </a:xfrm>
          <a:prstGeom prst="roundRect">
            <a:avLst>
              <a:gd name="adj" fmla="val 6224"/>
            </a:avLst>
          </a:prstGeom>
          <a:solidFill>
            <a:srgbClr val="FFFFFF"/>
          </a:solidFill>
          <a:ln w="6350">
            <a:solidFill>
              <a:srgbClr val="D6DED8"/>
            </a:solidFill>
            <a:prstDash val="solid"/>
          </a:ln>
        </p:spPr>
      </p:sp>
      <p:sp>
        <p:nvSpPr>
          <p:cNvPr id="11" name="Text 9"/>
          <p:cNvSpPr/>
          <p:nvPr/>
        </p:nvSpPr>
        <p:spPr>
          <a:xfrm>
            <a:off x="8199624" y="2747119"/>
            <a:ext cx="30616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01B"/>
                </a:solidFill>
                <a:latin typeface="Space Grotesk" pitchFamily="34" charset="0"/>
                <a:ea typeface="Space Grotesk" pitchFamily="34" charset="-122"/>
                <a:cs typeface="Space Grotesk" pitchFamily="34" charset="-120"/>
              </a:rPr>
              <a:t>How we sell</a:t>
            </a:r>
            <a:endParaRPr lang="en-US" sz="1600" dirty="0"/>
          </a:p>
        </p:txBody>
      </p:sp>
      <p:sp>
        <p:nvSpPr>
          <p:cNvPr id="12" name="Text 10"/>
          <p:cNvSpPr/>
          <p:nvPr/>
        </p:nvSpPr>
        <p:spPr>
          <a:xfrm>
            <a:off x="8199624" y="3067100"/>
            <a:ext cx="3061644" cy="66554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44"/>
                </a:solidFill>
                <a:latin typeface="IBM Plex Sans" pitchFamily="34" charset="0"/>
                <a:ea typeface="IBM Plex Sans" pitchFamily="34" charset="-122"/>
                <a:cs typeface="IBM Plex Sans" pitchFamily="34" charset="-120"/>
              </a:rPr>
              <a:t>Yearly subscription, ~€6,000 for a mid-sized firm (hypothesis to validate), direct and through MSSPs.</a:t>
            </a:r>
            <a:endParaRPr lang="en-US" sz="1200" dirty="0"/>
          </a:p>
        </p:txBody>
      </p:sp>
      <p:sp>
        <p:nvSpPr>
          <p:cNvPr id="13" name="Text 11"/>
          <p:cNvSpPr/>
          <p:nvPr/>
        </p:nvSpPr>
        <p:spPr>
          <a:xfrm>
            <a:off x="812788" y="4381748"/>
            <a:ext cx="438969"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7A4F"/>
                </a:solidFill>
                <a:latin typeface="JetBrains Mono" pitchFamily="49" charset="0"/>
                <a:ea typeface="JetBrains Mono" pitchFamily="49" charset="-122"/>
                <a:cs typeface="JetBrains Mono" pitchFamily="49" charset="-120"/>
              </a:rPr>
              <a:t>TEAM</a:t>
            </a:r>
            <a:endParaRPr lang="en-US" sz="1200" dirty="0"/>
          </a:p>
        </p:txBody>
      </p:sp>
      <p:sp>
        <p:nvSpPr>
          <p:cNvPr id="14" name="Text 12"/>
          <p:cNvSpPr/>
          <p:nvPr/>
        </p:nvSpPr>
        <p:spPr>
          <a:xfrm>
            <a:off x="1330958" y="4381748"/>
            <a:ext cx="7293397"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1B"/>
                </a:solidFill>
                <a:latin typeface="IBM Plex Sans" pitchFamily="34" charset="0"/>
                <a:ea typeface="IBM Plex Sans" pitchFamily="34" charset="-122"/>
                <a:cs typeface="IBM Plex Sans" pitchFamily="34" charset="-120"/>
              </a:rPr>
              <a:t>Leon</a:t>
            </a:r>
            <a:r>
              <a:rPr lang="en-US" sz="1200" dirty="0">
                <a:solidFill>
                  <a:srgbClr val="14201B"/>
                </a:solidFill>
                <a:latin typeface="IBM Plex Sans" pitchFamily="34" charset="0"/>
                <a:ea typeface="IBM Plex Sans" pitchFamily="34" charset="-122"/>
                <a:cs typeface="IBM Plex Sans" pitchFamily="34" charset="-120"/>
              </a:rPr>
              <a:t> infra &amp; guard · </a:t>
            </a:r>
            <a:r>
              <a:rPr lang="en-US" sz="1200" b="1" dirty="0">
                <a:solidFill>
                  <a:srgbClr val="14201B"/>
                </a:solidFill>
                <a:latin typeface="IBM Plex Sans" pitchFamily="34" charset="0"/>
                <a:ea typeface="IBM Plex Sans" pitchFamily="34" charset="-122"/>
                <a:cs typeface="IBM Plex Sans" pitchFamily="34" charset="-120"/>
              </a:rPr>
              <a:t>Thomas</a:t>
            </a:r>
            <a:r>
              <a:rPr lang="en-US" sz="1200" dirty="0">
                <a:solidFill>
                  <a:srgbClr val="14201B"/>
                </a:solidFill>
                <a:latin typeface="IBM Plex Sans" pitchFamily="34" charset="0"/>
                <a:ea typeface="IBM Plex Sans" pitchFamily="34" charset="-122"/>
                <a:cs typeface="IBM Plex Sans" pitchFamily="34" charset="-120"/>
              </a:rPr>
              <a:t> AI helpers · </a:t>
            </a:r>
            <a:r>
              <a:rPr lang="en-US" sz="1200" b="1" dirty="0">
                <a:solidFill>
                  <a:srgbClr val="14201B"/>
                </a:solidFill>
                <a:latin typeface="IBM Plex Sans" pitchFamily="34" charset="0"/>
                <a:ea typeface="IBM Plex Sans" pitchFamily="34" charset="-122"/>
                <a:cs typeface="IBM Plex Sans" pitchFamily="34" charset="-120"/>
              </a:rPr>
              <a:t>Gaia</a:t>
            </a:r>
            <a:r>
              <a:rPr lang="en-US" sz="1200" dirty="0">
                <a:solidFill>
                  <a:srgbClr val="14201B"/>
                </a:solidFill>
                <a:latin typeface="IBM Plex Sans" pitchFamily="34" charset="0"/>
                <a:ea typeface="IBM Plex Sans" pitchFamily="34" charset="-122"/>
                <a:cs typeface="IBM Plex Sans" pitchFamily="34" charset="-120"/>
              </a:rPr>
              <a:t> AI attacker &amp; core · </a:t>
            </a:r>
            <a:r>
              <a:rPr lang="en-US" sz="1200" b="1" dirty="0">
                <a:solidFill>
                  <a:srgbClr val="14201B"/>
                </a:solidFill>
                <a:latin typeface="IBM Plex Sans" pitchFamily="34" charset="0"/>
                <a:ea typeface="IBM Plex Sans" pitchFamily="34" charset="-122"/>
                <a:cs typeface="IBM Plex Sans" pitchFamily="34" charset="-120"/>
              </a:rPr>
              <a:t>Ana</a:t>
            </a:r>
            <a:r>
              <a:rPr lang="en-US" sz="1200" dirty="0">
                <a:solidFill>
                  <a:srgbClr val="14201B"/>
                </a:solidFill>
                <a:latin typeface="IBM Plex Sans" pitchFamily="34" charset="0"/>
                <a:ea typeface="IBM Plex Sans" pitchFamily="34" charset="-122"/>
                <a:cs typeface="IBM Plex Sans" pitchFamily="34" charset="-120"/>
              </a:rPr>
              <a:t> dashboard &amp; pitch</a:t>
            </a:r>
            <a:endParaRPr lang="en-US" sz="1200" dirty="0"/>
          </a:p>
        </p:txBody>
      </p:sp>
      <p:sp>
        <p:nvSpPr>
          <p:cNvPr id="15" name="Text 13"/>
          <p:cNvSpPr/>
          <p:nvPr/>
        </p:nvSpPr>
        <p:spPr>
          <a:xfrm>
            <a:off x="812788" y="6238255"/>
            <a:ext cx="1088335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65"/>
                </a:solidFill>
                <a:latin typeface="IBM Plex Sans" pitchFamily="34" charset="0"/>
                <a:ea typeface="IBM Plex Sans" pitchFamily="34" charset="-122"/>
                <a:cs typeface="IBM Plex Sans" pitchFamily="34" charset="-120"/>
              </a:rPr>
              <a:t>Sources: IMARC 2025 · company announcements 2021–2022 · Eurostat 2024 · pricing is a team hypothesis</a:t>
            </a:r>
            <a:endParaRPr lang="en-US" sz="1200" dirty="0"/>
          </a:p>
        </p:txBody>
      </p:sp>
    </p:spTree>
  </p:cSld>
  <p:clrMapOvr>
    <a:masterClrMapping/>
  </p:clrMapOvr>
</p:sld>
</file>

<file path=ppt/theme/theme1.xml><?xml version="1.0" encoding="utf-8"?>
<a:theme xmlns:a="http://schemas.openxmlformats.org/drawingml/2006/main" name="MIRAGE — Secure Horizons 2026">
  <a:themeElements>
    <a:clrScheme name="MIRAGE — Secure Horizons 2026">
      <a:dk1>
        <a:srgbClr val="14201B"/>
      </a:dk1>
      <a:lt1>
        <a:srgbClr val="F4F6F2"/>
      </a:lt1>
      <a:dk2>
        <a:srgbClr val="4C5651"/>
      </a:dk2>
      <a:lt2>
        <a:srgbClr val="DEE1DD"/>
      </a:lt2>
      <a:accent1>
        <a:srgbClr val="1E7A4F"/>
      </a:accent1>
      <a:accent2>
        <a:srgbClr val="7BE0A0"/>
      </a:accent2>
      <a:accent3>
        <a:srgbClr val="3E4A44"/>
      </a:accent3>
      <a:accent4>
        <a:srgbClr val="9DB3A8"/>
      </a:accent4>
      <a:accent5>
        <a:srgbClr val="BFD3C8"/>
      </a:accent5>
      <a:accent6>
        <a:srgbClr val="5F6B65"/>
      </a:accent6>
      <a:hlink>
        <a:srgbClr val="0563C1"/>
      </a:hlink>
      <a:folHlink>
        <a:srgbClr val="954F72"/>
      </a:folHlink>
    </a:clrScheme>
    <a:fontScheme name="MIRAGE — Secure Horizons 2026">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MIRAGE — Secure Horizons 2026</dc:title>
  <dc:subject/>
  <dc:creator/>
  <cp:lastModifiedBy/>
  <cp:revision>1</cp:revision>
  <dcterms:created xsi:type="dcterms:W3CDTF">2026-10-10T21:32:43Z</dcterms:created>
  <dcterms:modified xsi:type="dcterms:W3CDTF">2026-10-10T21:32:43Z</dcterms:modified>
</cp:coreProperties>
</file>